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01｜AI駆動開発ガイド</a:t>
            </a:r>
          </a:p>
          <a:p/>
          <a:p>
            <a:r>
              <a:t>対象は、生成AIを開発業務に取り入れたいエンジニア、テックリード、開発マネージャー。30〜40分程度の勉強会、または作業時に参照するガイドを想定。製品の機能比較ではなく、小さな仕事を定義し、実行結果を確認する共通の進め方を扱う。サンプルの仕様、チェックリスト、4週間の導入案は本資料の提案例。</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02｜このガイドで、最初の1件を完了できる</a:t>
            </a:r>
          </a:p>
          <a:p/>
          <a:p>
            <a:r>
              <a:t>最初からすべてを自動化しない。まずは自分で正誤を判断できる小さなタスクを選ぶ。p.08は依頼時、p.13はレビュー時、p.19は作業の前後に参照できる。</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03｜人が目的を決め、AIと検証のループを回す</a:t>
            </a:r>
          </a:p>
          <a:p/>
          <a:p>
            <a:r>
              <a:t>AIが出力した説明やコードは、そのまま正しいという証拠にはならない。人が期待する挙動と制約を定め、AIは調査や作成を補助する。テストや実行結果を確認し、採用とリリースの責任はチームが持つ。役割は提案であり、案件のリスクに合わせて調整する。</a:t>
            </a:r>
          </a:p>
          <a:p/>
          <a:p>
            <a:r>
              <a:t>参考資料（2026年9月8日参照）</a:t>
            </a:r>
          </a:p>
          <a:p>
            <a:r>
              <a:t>[2] GitHub｜Application card: GitHub Copilot Agents</a:t>
            </a:r>
          </a:p>
          <a:p>
            <a:r>
              <a:t>https://docs.github.com/en/copilot/responsible-use/agents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04｜最初は、正誤を確かめやすい仕事を選ぶ</a:t>
            </a:r>
          </a:p>
          <a:p/>
          <a:p>
            <a:r>
              <a:t>分類は本資料の導入提案。ドキュメントも正解の出典が必要で、無条件に低リスクではない。認証やDB移行もAIを使えるが、最初の試行対象にはしない。調査やテスト観点の整理に限定し、設計や実行計画を担当者が確認する。</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05｜1つの変更を、5つの工程で進める</a:t>
            </a:r>
          </a:p>
          <a:p/>
          <a:p>
            <a:r>
              <a:t>本資料の標準フロー案。仕様、計画、差分、実行記録、レビュー結果を残す。仕様が曖昧なら仕様へ、検証で問題が出たら計画や実装へ戻る。明確で軽微な修正では計画を一文で済ませるなど、手順の重さを調整する。</a:t>
            </a:r>
          </a:p>
          <a:p/>
          <a:p>
            <a:r>
              <a:t>参考資料（2026年9月8日参照）</a:t>
            </a:r>
          </a:p>
          <a:p>
            <a:r>
              <a:t>[1] Anthropic｜Best practices for Claude Code</a:t>
            </a:r>
          </a:p>
          <a:p>
            <a:r>
              <a:t>https://code.claude.com/docs/en/best-practices</a:t>
            </a:r>
          </a:p>
          <a:p>
            <a:r>
              <a:t>[2] GitHub｜Application card: GitHub Copilot Agents</a:t>
            </a:r>
          </a:p>
          <a:p>
            <a:r>
              <a:t>https://docs.github.com/en/copilot/responsible-use/agents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06｜使い方に合わせて、実行できる範囲を決める</a:t>
            </a:r>
          </a:p>
          <a:p/>
          <a:p>
            <a:r>
              <a:t>分類は概念上のもの。実際の製品は複数の使い方を併せ持ち、機能や契約で権限が異なる。最初に入力データの扱い、認証、利用可能なモデル、アクセス範囲、利用料とログを確認する。環境構築と基準となるテストを済ませておけば、AIの変更による不具合を切り分けやすい。</a:t>
            </a:r>
          </a:p>
          <a:p/>
          <a:p>
            <a:r>
              <a:t>参考資料（2026年9月8日参照）</a:t>
            </a:r>
          </a:p>
          <a:p>
            <a:r>
              <a:t>[2] GitHub｜Application card: GitHub Copilot Agents</a:t>
            </a:r>
          </a:p>
          <a:p>
            <a:r>
              <a:t>https://docs.github.com/en/copilot/responsible-use/agents</a:t>
            </a:r>
          </a:p>
          <a:p>
            <a:r>
              <a:t>[4] OWASP｜LLM06:2025 Excessive Agency</a:t>
            </a:r>
          </a:p>
          <a:p>
            <a:r>
              <a:t>https://genai.owasp.org/llmrisk/llm062025-excessive-agency/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07｜必要な情報を、参照先と優先順位で渡す</a:t>
            </a:r>
          </a:p>
          <a:p/>
          <a:p>
            <a:r>
              <a:t>コンテキストとはAIが判断に使える情報。仕様、関連コード、コマンド、直近のエラーなどが含まれる。すべてのファイルや会話を詰め込むと必要情報が埋もれるため、関連範囲と参照先を示す。継続作業では、決定事項、変更済みファイル、検証結果、未解決点を短い引き継ぎメモに残す。</a:t>
            </a:r>
          </a:p>
          <a:p/>
          <a:p>
            <a:r>
              <a:t>参考資料（2026年9月8日参照）</a:t>
            </a:r>
          </a:p>
          <a:p>
            <a:r>
              <a:t>[1] Anthropic｜Best practices for Claude Code</a:t>
            </a:r>
          </a:p>
          <a:p>
            <a:r>
              <a:t>https://code.claude.com/docs/en/best-practices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08｜依頼文は、目的・範囲・完了条件まで書く</a:t>
            </a:r>
          </a:p>
          <a:p/>
          <a:p>
            <a:r>
              <a:t>以下はそのまま依頼文として使える例。</a:t>
            </a:r>
          </a:p>
          <a:p>
            <a:r>
              <a:t>目的：申請メモのタイトルを保存前に整える。</a:t>
            </a:r>
          </a:p>
          <a:p>
            <a:r>
              <a:t>対象：src/title.py と tests/test_title.py。</a:t>
            </a:r>
          </a:p>
          <a:p>
            <a:r>
              <a:t>仕様：p.09の受け入れ条件に従う。</a:t>
            </a:r>
          </a:p>
          <a:p>
            <a:r>
              <a:t>参照：既存の入力チェックとテストの書き方。</a:t>
            </a:r>
          </a:p>
          <a:p>
            <a:r>
              <a:t>制約：公開APIの変更と依存追加は行わない。</a:t>
            </a:r>
          </a:p>
          <a:p>
            <a:r>
              <a:t>進め方：関連箇所を確認し、短い計画を示して実装する。仕様上の不明点は実装前に確認する。</a:t>
            </a:r>
          </a:p>
          <a:p>
            <a:r>
              <a:t>完了条件：対象テストと既存テストを実行。差分の要点、コマンドと結果、未検証事項を報告する。</a:t>
            </a:r>
          </a:p>
          <a:p>
            <a:r>
              <a:t>ファイルパスやコマンドはサンプルであり、実際のリポジトリに合わせて変更する。</a:t>
            </a:r>
          </a:p>
          <a:p/>
          <a:p>
            <a:r>
              <a:t>参考資料（2026年9月8日参照）</a:t>
            </a:r>
          </a:p>
          <a:p>
            <a:r>
              <a:t>[1] Anthropic｜Best practices for Claude Code</a:t>
            </a:r>
          </a:p>
          <a:p>
            <a:r>
              <a:t>https://code.claude.com/docs/en/best-practices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09｜受け入れ条件は、入力と期待結果で決める</a:t>
            </a:r>
          </a:p>
          <a:p/>
          <a:p>
            <a:r>
              <a:t>本資料のオリジナル仕様例。文字数はPythonのlenで数えるUnicodeコードポイント数とする。画面上の見た目の文字数とは異なる場合がある。前後の空白はstr.strip()で除去し、内部の空白は維持する。処理順は型確認、前後の空白除去、空文字確認、長さ確認、戻り値の順。DB保存や画面表示、Unicode正規化はこのタスクの範囲に含めない。仕様判断は実装に先立って確定させる。</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10｜変更は、レビューできる小ささに保つ</a:t>
            </a:r>
          </a:p>
          <a:p/>
          <a:p>
            <a:r>
              <a:t>サンプルはPythonを想定した実装の順序。型ヒントだけで実行時の型チェックは行われないため、文字列以外を拒否する条件を明示する。タイトルの正規化と保存処理を混ぜない。既存コードを読むことで、例外の種類や配置に関するプロジェクトの方針と整合させる。変更後はdiffを確認し、不要な整形や依存追加、無関係な修正が入っていないかを見る。</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11｜テストの期待値は、受け入れ条件から決める</a:t>
            </a:r>
          </a:p>
          <a:p/>
          <a:p>
            <a:r>
              <a:t>テスト数を増やすだけでなく、仕様に根拠のある期待値を確認する。境界値の前後、空文字、空白、型違いを用意する。不具合修正では修正前のコードで再現テストが失敗し、修正後に成功することを確認する。新規関数ではまずテストを実行し、未実装状態で成功していないことを確認する。実行コマンドと結果を添え、実行できないテストは未検証として記録する。</a:t>
            </a:r>
          </a:p>
          <a:p/>
          <a:p>
            <a:r>
              <a:t>参考資料（2026年9月8日参照）</a:t>
            </a:r>
          </a:p>
          <a:p>
            <a:r>
              <a:t>[2] GitHub｜Application card: GitHub Copilot Agents</a:t>
            </a:r>
          </a:p>
          <a:p>
            <a:r>
              <a:t>https://docs.github.com/en/copilot/responsible-use/agents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12｜行き詰まったら、再現条件に戻る</a:t>
            </a:r>
          </a:p>
          <a:p/>
          <a:p>
            <a:r>
              <a:t>たとえば『50文字のはずなのにエラーになる』場合、計数方法、空白除去のタイミング、画面とサーバーの差などを仮説として挙げる。ログは必要範囲に限定し、機密情報は除く。AIには各仮説の確認方法を求め、1つずつ検証する。根拠のない試行が続く場合は最後に確認できた状態へ戻り、再現手順、関連ファイル、試したことを整理する。</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13｜レビューでは、差分と証拠を一緒に読む</a:t>
            </a:r>
          </a:p>
          <a:p/>
          <a:p>
            <a:r>
              <a:t>AIレビューには見落としや誤検出がある。指摘箇所と再現可能性を確認してから変更する。PRには目的、主要な差分、検証、未検証事項、影響と戻し方を記載する。CI（継続的インテグレーション）は変更時にテストや解析を自動実行する仕組み。画面操作や業務上の妥当性など、自動テストで十分確認できない項目は担当者が確認する。</a:t>
            </a:r>
          </a:p>
          <a:p/>
          <a:p>
            <a:r>
              <a:t>参考資料（2026年9月8日参照）</a:t>
            </a:r>
          </a:p>
          <a:p>
            <a:r>
              <a:t>[2] GitHub｜Application card: GitHub Copilot Agents</a:t>
            </a:r>
          </a:p>
          <a:p>
            <a:r>
              <a:t>https://docs.github.com/en/copilot/responsible-use/agents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14｜データと実行権限を、必要な範囲に絞る</a:t>
            </a:r>
          </a:p>
          <a:p/>
          <a:p>
            <a:r>
              <a:t>OWASPは外部コンテンツ経由のプロンプトインジェクションや過剰な権限によるリスクを整理している。コードコメントやWeb文書に混入した指示を、ユーザーや組織の指示として扱わない。プロンプトへの注意書きだけでは防御を保証できないため、アクセス権、サンドボックス、接続先制限、ログを組み合わせる。機密情報や個人情報の入力可否、保存・学習利用の設定は組織の契約とルールに従って確認する。本番への変更、データ削除、外部送信は、具体的な対象と影響を示して権限を持つ担当者が判断する。</a:t>
            </a:r>
          </a:p>
          <a:p/>
          <a:p>
            <a:r>
              <a:t>参考資料（2026年9月8日参照）</a:t>
            </a:r>
          </a:p>
          <a:p>
            <a:r>
              <a:t>[3] OWASP｜LLM01:2025 Prompt Injection</a:t>
            </a:r>
          </a:p>
          <a:p>
            <a:r>
              <a:t>https://genai.owasp.org/llmrisk/llm01-prompt-injection/</a:t>
            </a:r>
          </a:p>
          <a:p>
            <a:r>
              <a:t>[4] OWASP｜LLM06:2025 Excessive Agency</a:t>
            </a:r>
          </a:p>
          <a:p>
            <a:r>
              <a:t>https://genai.owasp.org/llmrisk/llm062025-excessive-agency/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15｜チームで共有するルールは、短く保つ</a:t>
            </a:r>
          </a:p>
          <a:p/>
          <a:p>
            <a:r>
              <a:t>本資料のチーム標準案。共通ルールには利用可能なデータ、実行範囲、開発と検証のコマンド、レビューの基準を記載する。AI用指示ファイルの名前や読込仕様は使用するツールの公式文書で確認する。プロンプト上の禁止事項だけでは権限制御にならないため、設定やCIでも強制する。環境や規約を変更した担当者がルールを更新し、導入初期は週1回の振り返りで失敗例を反映する。</a:t>
            </a:r>
          </a:p>
          <a:p/>
          <a:p>
            <a:r>
              <a:t>参考資料（2026年9月8日参照）</a:t>
            </a:r>
          </a:p>
          <a:p>
            <a:r>
              <a:t>[1] Anthropic｜Best practices for Claude Code</a:t>
            </a:r>
          </a:p>
          <a:p>
            <a:r>
              <a:t>https://code.claude.com/docs/en/best-practices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16｜よくある失敗は、作業の進め方から直す</a:t>
            </a:r>
          </a:p>
          <a:p/>
          <a:p>
            <a:r>
              <a:t>本資料で整理した典型例。仕様の曖昧さに対して出力の再生成だけを繰り返すと、毎回違う仮定が入る。CIを通すためだけにテストの期待値を書き換えると、本来の不具合が隠れる。AIの採用量を増やすこと自体を目的にせず、レビュー可能性と利用者の期待する挙動を優先する。</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17｜効果は、速さ・品質・負担を一緒に測る</a:t>
            </a:r>
          </a:p>
          <a:p/>
          <a:p>
            <a:r>
              <a:t>DORAはソフトウェア変更の流れと不安定性を測る指標を提供する。本スライドは、その視点を参考にした小規模導入向けの測定案であり、DORAの指標セットをそのまま列挙したものではない。変更リードタイムはコミットから本番反映までとし、別に着手からレビュー完了までを測るなら名称と起終点を分ける。同じチーム、同程度の難易度、同じ集計期間で比較する。小標本や自己申告だけで因果や倍率を断定しない。AI利用料に加えてレビュー、修正、環境整備の工数も記録する。個人のランキングには使わない。</a:t>
            </a:r>
          </a:p>
          <a:p/>
          <a:p>
            <a:r>
              <a:t>参考資料（2026年9月8日参照）</a:t>
            </a:r>
          </a:p>
          <a:p>
            <a:r>
              <a:t>[5] DORA｜Software delivery performance metrics</a:t>
            </a:r>
          </a:p>
          <a:p>
            <a:r>
              <a:t>https://dora.dev/guides/dora-metrics/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18｜4週間で、小さく試して継続を判断する</a:t>
            </a:r>
          </a:p>
          <a:p/>
          <a:p>
            <a:r>
              <a:t>本資料の導入提案であり、4週間で効果を保証するものではない。1週目に過去の同種タスクから比較用データを取り、タスク、担当者、利用範囲、受け入れ条件を決める。2週目は少数のタスクで実践し、3週目は成功例と失敗例を共通ルールに反映する。4週目に速さ、品質、負担を比較する。件数が足りない場合は結論を急がず試行期間を延ばす。改善がなくても、対象を変える、検証を整える、利用を見直すという判断につなげる。</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19｜明日の1件は、このチェックから始める</a:t>
            </a:r>
          </a:p>
          <a:p/>
          <a:p>
            <a:r>
              <a:t>最初の対象として、再現できる小さな不具合や既存関数のテスト追加を選ぶ。開始前に目的、範囲、受け入れ条件、参照情報、環境を確認し、完了時には差分、実行結果、未検証事項、担当者の確認をそろえる。チェックが埋まらない項目を、次の改善対象にする。すべてを自動化する必要はなく、自分たちで扱える範囲から学習を積み重ねる。</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20｜参考資料・出典</a:t>
            </a:r>
          </a:p>
          <a:p/>
          <a:p>
            <a:r>
              <a:t>各URLはスライド上でクリック可能。各ページの参考番号と対応する。製品の操作方法や契約条件は随時変わるため、導入時に組織の設定と公式文書を確認する。デザインはDADSの基本トークンをPowerPointに写像したもので、公式の作成・監修資料ではない。PPTXは編集可能なテキストと図形で構成する。フォントはNoto Sans JPを指定。</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hyperlink" Target="https://code.claude.com/docs/en/best-practices" TargetMode="External"/><Relationship Id="rId4" Type="http://schemas.openxmlformats.org/officeDocument/2006/relationships/hyperlink" Target="https://docs.github.com/en/copilot/responsible-use/agents" TargetMode="External"/><Relationship Id="rId5" Type="http://schemas.openxmlformats.org/officeDocument/2006/relationships/hyperlink" Target="https://genai.owasp.org/llmrisk/llm01-prompt-injection/" TargetMode="External"/><Relationship Id="rId6" Type="http://schemas.openxmlformats.org/officeDocument/2006/relationships/hyperlink" Target="https://genai.owasp.org/llmrisk/llm062025-excessive-agency/" TargetMode="External"/><Relationship Id="rId7" Type="http://schemas.openxmlformats.org/officeDocument/2006/relationships/hyperlink" Target="https://dora.dev/guides/dora-metrics/"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011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76200" cy="6858000"/>
          </a:xfrm>
          <a:prstGeom prst="rect">
            <a:avLst/>
          </a:prstGeom>
          <a:solidFill>
            <a:srgbClr val="4979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62000" y="723900"/>
            <a:ext cx="6858000" cy="285750"/>
          </a:xfrm>
          <a:prstGeom prst="rect">
            <a:avLst/>
          </a:prstGeom>
          <a:noFill/>
        </p:spPr>
        <p:txBody>
          <a:bodyPr wrap="square" lIns="0" rIns="0" tIns="0" bIns="0" anchor="t">
            <a:spAutoFit/>
          </a:bodyPr>
          <a:lstStyle/>
          <a:p>
            <a:pPr algn="l">
              <a:lnSpc>
                <a:spcPct val="100000"/>
              </a:lnSpc>
            </a:pPr>
            <a:r>
              <a:rPr sz="1200" b="1">
                <a:solidFill>
                  <a:srgbClr val="FFFFFF"/>
                </a:solidFill>
                <a:latin typeface="Noto Sans JP"/>
                <a:ea typeface="Noto Sans JP"/>
                <a:cs typeface="Noto Sans JP"/>
              </a:rPr>
              <a:t>AI-DRIVEN DEVELOPMENT / PRACTICAL GUIDE</a:t>
            </a:r>
          </a:p>
        </p:txBody>
      </p:sp>
      <p:sp>
        <p:nvSpPr>
          <p:cNvPr id="5" name="TextBox 4"/>
          <p:cNvSpPr txBox="1"/>
          <p:nvPr/>
        </p:nvSpPr>
        <p:spPr>
          <a:xfrm>
            <a:off x="762000" y="1905000"/>
            <a:ext cx="7239000" cy="952500"/>
          </a:xfrm>
          <a:prstGeom prst="rect">
            <a:avLst/>
          </a:prstGeom>
          <a:noFill/>
        </p:spPr>
        <p:txBody>
          <a:bodyPr wrap="square" lIns="0" rIns="0" tIns="0" bIns="0" anchor="t">
            <a:spAutoFit/>
          </a:bodyPr>
          <a:lstStyle/>
          <a:p>
            <a:pPr algn="l">
              <a:lnSpc>
                <a:spcPct val="140000"/>
              </a:lnSpc>
            </a:pPr>
            <a:r>
              <a:rPr sz="4800" b="1">
                <a:solidFill>
                  <a:srgbClr val="FFFFFF"/>
                </a:solidFill>
                <a:latin typeface="Noto Sans JP"/>
                <a:ea typeface="Noto Sans JP"/>
                <a:cs typeface="Noto Sans JP"/>
              </a:rPr>
              <a:t>AI駆動開発ガイド</a:t>
            </a:r>
          </a:p>
        </p:txBody>
      </p:sp>
      <p:sp>
        <p:nvSpPr>
          <p:cNvPr id="6" name="Rectangle 5"/>
          <p:cNvSpPr/>
          <p:nvPr/>
        </p:nvSpPr>
        <p:spPr>
          <a:xfrm>
            <a:off x="762000" y="3200400"/>
            <a:ext cx="1143000" cy="381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762000" y="3581400"/>
            <a:ext cx="6858000" cy="952500"/>
          </a:xfrm>
          <a:prstGeom prst="rect">
            <a:avLst/>
          </a:prstGeom>
          <a:noFill/>
        </p:spPr>
        <p:txBody>
          <a:bodyPr wrap="square" lIns="0" rIns="0" tIns="0" bIns="0" anchor="t">
            <a:spAutoFit/>
          </a:bodyPr>
          <a:lstStyle/>
          <a:p>
            <a:pPr algn="l">
              <a:lnSpc>
                <a:spcPct val="150000"/>
              </a:lnSpc>
            </a:pPr>
            <a:r>
              <a:rPr sz="2100" b="1">
                <a:solidFill>
                  <a:srgbClr val="FFFFFF"/>
                </a:solidFill>
                <a:latin typeface="Noto Sans JP"/>
                <a:ea typeface="Noto Sans JP"/>
                <a:cs typeface="Noto Sans JP"/>
              </a:rPr>
              <a:t>小さく任せ、実行して確かめる。</a:t>
            </a:r>
          </a:p>
          <a:p>
            <a:pPr algn="l">
              <a:lnSpc>
                <a:spcPct val="150000"/>
              </a:lnSpc>
            </a:pPr>
            <a:r>
              <a:rPr sz="2100" b="1">
                <a:solidFill>
                  <a:srgbClr val="FFFFFF"/>
                </a:solidFill>
                <a:latin typeface="Noto Sans JP"/>
                <a:ea typeface="Noto Sans JP"/>
                <a:cs typeface="Noto Sans JP"/>
              </a:rPr>
              <a:t>仕様からレビューまでの実践ガイド</a:t>
            </a:r>
          </a:p>
        </p:txBody>
      </p:sp>
      <p:sp>
        <p:nvSpPr>
          <p:cNvPr id="8" name="Rectangle 7"/>
          <p:cNvSpPr/>
          <p:nvPr/>
        </p:nvSpPr>
        <p:spPr>
          <a:xfrm>
            <a:off x="8534400" y="1752600"/>
            <a:ext cx="3048000" cy="990600"/>
          </a:xfrm>
          <a:prstGeom prst="rect">
            <a:avLst/>
          </a:prstGeom>
          <a:solidFill>
            <a:srgbClr val="00118F"/>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763000" y="1905000"/>
            <a:ext cx="2590800" cy="342900"/>
          </a:xfrm>
          <a:prstGeom prst="rect">
            <a:avLst/>
          </a:prstGeom>
          <a:noFill/>
        </p:spPr>
        <p:txBody>
          <a:bodyPr wrap="square" lIns="0" rIns="0" tIns="0" bIns="0" anchor="t">
            <a:spAutoFit/>
          </a:bodyPr>
          <a:lstStyle/>
          <a:p>
            <a:pPr algn="l">
              <a:lnSpc>
                <a:spcPct val="150000"/>
              </a:lnSpc>
            </a:pPr>
            <a:r>
              <a:rPr sz="1800" b="1">
                <a:solidFill>
                  <a:srgbClr val="FFFFFF"/>
                </a:solidFill>
                <a:latin typeface="Noto Sans JP"/>
                <a:ea typeface="Noto Sans JP"/>
                <a:cs typeface="Noto Sans JP"/>
              </a:rPr>
              <a:t>01  定義する</a:t>
            </a:r>
          </a:p>
        </p:txBody>
      </p:sp>
      <p:sp>
        <p:nvSpPr>
          <p:cNvPr id="10" name="TextBox 9"/>
          <p:cNvSpPr txBox="1"/>
          <p:nvPr/>
        </p:nvSpPr>
        <p:spPr>
          <a:xfrm>
            <a:off x="8763000" y="2305050"/>
            <a:ext cx="2590800" cy="285750"/>
          </a:xfrm>
          <a:prstGeom prst="rect">
            <a:avLst/>
          </a:prstGeom>
          <a:noFill/>
        </p:spPr>
        <p:txBody>
          <a:bodyPr wrap="square" lIns="0" rIns="0" tIns="0" bIns="0" anchor="t">
            <a:spAutoFit/>
          </a:bodyPr>
          <a:lstStyle/>
          <a:p>
            <a:pPr algn="l">
              <a:lnSpc>
                <a:spcPct val="160000"/>
              </a:lnSpc>
            </a:pPr>
            <a:r>
              <a:rPr sz="1350" b="0">
                <a:solidFill>
                  <a:srgbClr val="FFFFFF"/>
                </a:solidFill>
                <a:latin typeface="Noto Sans JP"/>
                <a:ea typeface="Noto Sans JP"/>
                <a:cs typeface="Noto Sans JP"/>
              </a:rPr>
              <a:t>目的・制約・受け入れ条件</a:t>
            </a:r>
          </a:p>
        </p:txBody>
      </p:sp>
      <p:sp>
        <p:nvSpPr>
          <p:cNvPr id="11" name="Rectangle 10"/>
          <p:cNvSpPr/>
          <p:nvPr/>
        </p:nvSpPr>
        <p:spPr>
          <a:xfrm>
            <a:off x="8534400" y="2971800"/>
            <a:ext cx="3048000" cy="990600"/>
          </a:xfrm>
          <a:prstGeom prst="rect">
            <a:avLst/>
          </a:prstGeom>
          <a:solidFill>
            <a:srgbClr val="00118F"/>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63000" y="3124200"/>
            <a:ext cx="2590800" cy="342900"/>
          </a:xfrm>
          <a:prstGeom prst="rect">
            <a:avLst/>
          </a:prstGeom>
          <a:noFill/>
        </p:spPr>
        <p:txBody>
          <a:bodyPr wrap="square" lIns="0" rIns="0" tIns="0" bIns="0" anchor="t">
            <a:spAutoFit/>
          </a:bodyPr>
          <a:lstStyle/>
          <a:p>
            <a:pPr algn="l">
              <a:lnSpc>
                <a:spcPct val="150000"/>
              </a:lnSpc>
            </a:pPr>
            <a:r>
              <a:rPr sz="1800" b="1">
                <a:solidFill>
                  <a:srgbClr val="FFFFFF"/>
                </a:solidFill>
                <a:latin typeface="Noto Sans JP"/>
                <a:ea typeface="Noto Sans JP"/>
                <a:cs typeface="Noto Sans JP"/>
              </a:rPr>
              <a:t>02  つくる</a:t>
            </a:r>
          </a:p>
        </p:txBody>
      </p:sp>
      <p:sp>
        <p:nvSpPr>
          <p:cNvPr id="13" name="TextBox 12"/>
          <p:cNvSpPr txBox="1"/>
          <p:nvPr/>
        </p:nvSpPr>
        <p:spPr>
          <a:xfrm>
            <a:off x="8763000" y="3524250"/>
            <a:ext cx="2590800" cy="285750"/>
          </a:xfrm>
          <a:prstGeom prst="rect">
            <a:avLst/>
          </a:prstGeom>
          <a:noFill/>
        </p:spPr>
        <p:txBody>
          <a:bodyPr wrap="square" lIns="0" rIns="0" tIns="0" bIns="0" anchor="t">
            <a:spAutoFit/>
          </a:bodyPr>
          <a:lstStyle/>
          <a:p>
            <a:pPr algn="l">
              <a:lnSpc>
                <a:spcPct val="160000"/>
              </a:lnSpc>
            </a:pPr>
            <a:r>
              <a:rPr sz="1350" b="0">
                <a:solidFill>
                  <a:srgbClr val="FFFFFF"/>
                </a:solidFill>
                <a:latin typeface="Noto Sans JP"/>
                <a:ea typeface="Noto Sans JP"/>
                <a:cs typeface="Noto Sans JP"/>
              </a:rPr>
              <a:t>調査・実装・テスト</a:t>
            </a:r>
          </a:p>
        </p:txBody>
      </p:sp>
      <p:sp>
        <p:nvSpPr>
          <p:cNvPr id="14" name="Rectangle 13"/>
          <p:cNvSpPr/>
          <p:nvPr/>
        </p:nvSpPr>
        <p:spPr>
          <a:xfrm>
            <a:off x="8534400" y="4191000"/>
            <a:ext cx="3048000" cy="990600"/>
          </a:xfrm>
          <a:prstGeom prst="rect">
            <a:avLst/>
          </a:prstGeom>
          <a:solidFill>
            <a:srgbClr val="00118F"/>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763000" y="4343400"/>
            <a:ext cx="2590800" cy="342900"/>
          </a:xfrm>
          <a:prstGeom prst="rect">
            <a:avLst/>
          </a:prstGeom>
          <a:noFill/>
        </p:spPr>
        <p:txBody>
          <a:bodyPr wrap="square" lIns="0" rIns="0" tIns="0" bIns="0" anchor="t">
            <a:spAutoFit/>
          </a:bodyPr>
          <a:lstStyle/>
          <a:p>
            <a:pPr algn="l">
              <a:lnSpc>
                <a:spcPct val="150000"/>
              </a:lnSpc>
            </a:pPr>
            <a:r>
              <a:rPr sz="1800" b="1">
                <a:solidFill>
                  <a:srgbClr val="FFFFFF"/>
                </a:solidFill>
                <a:latin typeface="Noto Sans JP"/>
                <a:ea typeface="Noto Sans JP"/>
                <a:cs typeface="Noto Sans JP"/>
              </a:rPr>
              <a:t>03  確かめる</a:t>
            </a:r>
          </a:p>
        </p:txBody>
      </p:sp>
      <p:sp>
        <p:nvSpPr>
          <p:cNvPr id="16" name="TextBox 15"/>
          <p:cNvSpPr txBox="1"/>
          <p:nvPr/>
        </p:nvSpPr>
        <p:spPr>
          <a:xfrm>
            <a:off x="8763000" y="4743450"/>
            <a:ext cx="2590800" cy="285750"/>
          </a:xfrm>
          <a:prstGeom prst="rect">
            <a:avLst/>
          </a:prstGeom>
          <a:noFill/>
        </p:spPr>
        <p:txBody>
          <a:bodyPr wrap="square" lIns="0" rIns="0" tIns="0" bIns="0" anchor="t">
            <a:spAutoFit/>
          </a:bodyPr>
          <a:lstStyle/>
          <a:p>
            <a:pPr algn="l">
              <a:lnSpc>
                <a:spcPct val="160000"/>
              </a:lnSpc>
            </a:pPr>
            <a:r>
              <a:rPr sz="1350" b="0">
                <a:solidFill>
                  <a:srgbClr val="FFFFFF"/>
                </a:solidFill>
                <a:latin typeface="Noto Sans JP"/>
                <a:ea typeface="Noto Sans JP"/>
                <a:cs typeface="Noto Sans JP"/>
              </a:rPr>
              <a:t>証拠・レビュー・改善</a:t>
            </a:r>
          </a:p>
        </p:txBody>
      </p:sp>
      <p:sp>
        <p:nvSpPr>
          <p:cNvPr id="17" name="Rectangle 16"/>
          <p:cNvSpPr/>
          <p:nvPr/>
        </p:nvSpPr>
        <p:spPr>
          <a:xfrm>
            <a:off x="762000" y="5905500"/>
            <a:ext cx="10820400" cy="952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762000" y="6134100"/>
            <a:ext cx="8096250" cy="266700"/>
          </a:xfrm>
          <a:prstGeom prst="rect">
            <a:avLst/>
          </a:prstGeom>
          <a:noFill/>
        </p:spPr>
        <p:txBody>
          <a:bodyPr wrap="square" lIns="0" rIns="0" tIns="0" bIns="0" anchor="t">
            <a:spAutoFit/>
          </a:bodyPr>
          <a:lstStyle/>
          <a:p>
            <a:pPr algn="l">
              <a:lnSpc>
                <a:spcPct val="160000"/>
              </a:lnSpc>
            </a:pPr>
            <a:r>
              <a:rPr sz="1350" b="0">
                <a:solidFill>
                  <a:srgbClr val="FFFFFF"/>
                </a:solidFill>
                <a:latin typeface="Noto Sans JP"/>
                <a:ea typeface="Noto Sans JP"/>
                <a:cs typeface="Noto Sans JP"/>
              </a:rPr>
              <a:t>開発チーム向け  /  入門からチーム運用まで</a:t>
            </a:r>
          </a:p>
        </p:txBody>
      </p:sp>
      <p:sp>
        <p:nvSpPr>
          <p:cNvPr id="19" name="TextBox 18"/>
          <p:cNvSpPr txBox="1"/>
          <p:nvPr/>
        </p:nvSpPr>
        <p:spPr>
          <a:xfrm>
            <a:off x="9067800" y="6134100"/>
            <a:ext cx="2514600" cy="266700"/>
          </a:xfrm>
          <a:prstGeom prst="rect">
            <a:avLst/>
          </a:prstGeom>
          <a:noFill/>
        </p:spPr>
        <p:txBody>
          <a:bodyPr wrap="square" lIns="0" rIns="0" tIns="0" bIns="0" anchor="t">
            <a:spAutoFit/>
          </a:bodyPr>
          <a:lstStyle/>
          <a:p>
            <a:pPr algn="r">
              <a:lnSpc>
                <a:spcPct val="160000"/>
              </a:lnSpc>
            </a:pPr>
            <a:r>
              <a:rPr sz="1350" b="0">
                <a:solidFill>
                  <a:srgbClr val="FFFFFF"/>
                </a:solidFill>
                <a:latin typeface="Noto Sans JP"/>
                <a:ea typeface="Noto Sans JP"/>
                <a:cs typeface="Noto Sans JP"/>
              </a:rPr>
              <a:t>2026年9月8日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609600" y="495300"/>
            <a:ext cx="57150" cy="228600"/>
          </a:xfrm>
          <a:prstGeom prst="rect">
            <a:avLst/>
          </a:prstGeom>
          <a:solidFill>
            <a:srgbClr val="0017C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62000" y="495300"/>
            <a:ext cx="9334500" cy="228600"/>
          </a:xfrm>
          <a:prstGeom prst="rect">
            <a:avLst/>
          </a:prstGeom>
          <a:noFill/>
        </p:spPr>
        <p:txBody>
          <a:bodyPr wrap="square" lIns="0" rIns="0" tIns="0" bIns="0" anchor="ctr">
            <a:spAutoFit/>
          </a:bodyPr>
          <a:lstStyle/>
          <a:p>
            <a:pPr algn="l">
              <a:lnSpc>
                <a:spcPct val="100000"/>
              </a:lnSpc>
            </a:pPr>
            <a:r>
              <a:rPr sz="1050" b="1">
                <a:solidFill>
                  <a:srgbClr val="0017C1"/>
                </a:solidFill>
                <a:latin typeface="Noto Sans JP"/>
                <a:ea typeface="Noto Sans JP"/>
                <a:cs typeface="Noto Sans JP"/>
              </a:rPr>
              <a:t>GUIDE MAP</a:t>
            </a:r>
          </a:p>
        </p:txBody>
      </p:sp>
      <p:sp>
        <p:nvSpPr>
          <p:cNvPr id="5" name="TextBox 4"/>
          <p:cNvSpPr txBox="1"/>
          <p:nvPr/>
        </p:nvSpPr>
        <p:spPr>
          <a:xfrm>
            <a:off x="609600" y="800100"/>
            <a:ext cx="10972800" cy="457200"/>
          </a:xfrm>
          <a:prstGeom prst="rect">
            <a:avLst/>
          </a:prstGeom>
          <a:noFill/>
        </p:spPr>
        <p:txBody>
          <a:bodyPr wrap="square" lIns="0" rIns="0" tIns="0" bIns="0" anchor="t">
            <a:spAutoFit/>
          </a:bodyPr>
          <a:lstStyle/>
          <a:p>
            <a:pPr algn="l">
              <a:lnSpc>
                <a:spcPct val="150000"/>
              </a:lnSpc>
            </a:pPr>
            <a:r>
              <a:rPr sz="2400" b="1">
                <a:solidFill>
                  <a:srgbClr val="1A1A1A"/>
                </a:solidFill>
                <a:latin typeface="Noto Sans JP"/>
                <a:ea typeface="Noto Sans JP"/>
                <a:cs typeface="Noto Sans JP"/>
              </a:rPr>
              <a:t>このガイドで、最初の1件を完了できる</a:t>
            </a:r>
          </a:p>
        </p:txBody>
      </p:sp>
      <p:sp>
        <p:nvSpPr>
          <p:cNvPr id="6" name="Rectangle 5"/>
          <p:cNvSpPr/>
          <p:nvPr/>
        </p:nvSpPr>
        <p:spPr>
          <a:xfrm>
            <a:off x="609600" y="1333500"/>
            <a:ext cx="10972800" cy="19050"/>
          </a:xfrm>
          <a:prstGeom prst="rect">
            <a:avLst/>
          </a:prstGeom>
          <a:solidFill>
            <a:srgbClr val="9494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09600" y="1447800"/>
            <a:ext cx="10972800" cy="304800"/>
          </a:xfrm>
          <a:prstGeom prst="rect">
            <a:avLst/>
          </a:prstGeom>
          <a:noFill/>
        </p:spPr>
        <p:txBody>
          <a:bodyPr wrap="square" lIns="0" rIns="0" tIns="0" bIns="0" anchor="t">
            <a:spAutoFit/>
          </a:bodyPr>
          <a:lstStyle/>
          <a:p>
            <a:pPr algn="l">
              <a:lnSpc>
                <a:spcPct val="160000"/>
              </a:lnSpc>
            </a:pPr>
            <a:r>
              <a:rPr sz="1350" b="0">
                <a:solidFill>
                  <a:srgbClr val="4D4D4D"/>
                </a:solidFill>
                <a:latin typeface="Noto Sans JP"/>
                <a:ea typeface="Noto Sans JP"/>
                <a:cs typeface="Noto Sans JP"/>
              </a:rPr>
              <a:t>全体像をつかみ、テンプレートを使い、確認項目に沿って実践する。</a:t>
            </a:r>
          </a:p>
        </p:txBody>
      </p:sp>
      <p:sp>
        <p:nvSpPr>
          <p:cNvPr id="8" name="Rectangle 7"/>
          <p:cNvSpPr/>
          <p:nvPr/>
        </p:nvSpPr>
        <p:spPr>
          <a:xfrm>
            <a:off x="609600" y="6286500"/>
            <a:ext cx="10972800" cy="9525"/>
          </a:xfrm>
          <a:prstGeom prst="rect">
            <a:avLst/>
          </a:prstGeom>
          <a:solidFill>
            <a:srgbClr val="B3B3B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09600" y="6419850"/>
            <a:ext cx="4191000" cy="190500"/>
          </a:xfrm>
          <a:prstGeom prst="rect">
            <a:avLst/>
          </a:prstGeom>
          <a:noFill/>
        </p:spPr>
        <p:txBody>
          <a:bodyPr wrap="square" lIns="0" rIns="0" tIns="0" bIns="0" anchor="t">
            <a:spAutoFit/>
          </a:bodyPr>
          <a:lstStyle/>
          <a:p>
            <a:pPr algn="l">
              <a:lnSpc>
                <a:spcPct val="130000"/>
              </a:lnSpc>
            </a:pPr>
            <a:r>
              <a:rPr sz="1050" b="0">
                <a:solidFill>
                  <a:srgbClr val="767676"/>
                </a:solidFill>
                <a:latin typeface="Noto Sans JP"/>
                <a:ea typeface="Noto Sans JP"/>
                <a:cs typeface="Noto Sans JP"/>
              </a:rPr>
              <a:t>AI駆動開発ガイド</a:t>
            </a:r>
          </a:p>
        </p:txBody>
      </p:sp>
      <p:sp>
        <p:nvSpPr>
          <p:cNvPr id="10" name="TextBox 9"/>
          <p:cNvSpPr txBox="1"/>
          <p:nvPr/>
        </p:nvSpPr>
        <p:spPr>
          <a:xfrm>
            <a:off x="10668000" y="6419850"/>
            <a:ext cx="914400" cy="190500"/>
          </a:xfrm>
          <a:prstGeom prst="rect">
            <a:avLst/>
          </a:prstGeom>
          <a:noFill/>
        </p:spPr>
        <p:txBody>
          <a:bodyPr wrap="square" lIns="0" rIns="0" tIns="0" bIns="0" anchor="t">
            <a:spAutoFit/>
          </a:bodyPr>
          <a:lstStyle/>
          <a:p>
            <a:pPr algn="r">
              <a:lnSpc>
                <a:spcPct val="130000"/>
              </a:lnSpc>
            </a:pPr>
            <a:r>
              <a:rPr sz="1050" b="1">
                <a:solidFill>
                  <a:srgbClr val="767676"/>
                </a:solidFill>
                <a:latin typeface="Noto Sans JP"/>
                <a:ea typeface="Noto Sans JP"/>
                <a:cs typeface="Noto Sans JP"/>
              </a:rPr>
              <a:t>02 / 20</a:t>
            </a:r>
          </a:p>
        </p:txBody>
      </p:sp>
      <p:sp>
        <p:nvSpPr>
          <p:cNvPr id="11" name="Oval 10"/>
          <p:cNvSpPr/>
          <p:nvPr/>
        </p:nvSpPr>
        <p:spPr>
          <a:xfrm>
            <a:off x="609600" y="2114550"/>
            <a:ext cx="457200" cy="457200"/>
          </a:xfrm>
          <a:prstGeom prst="ellipse">
            <a:avLst/>
          </a:prstGeom>
          <a:solidFill>
            <a:srgbClr val="0017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9600" y="2114550"/>
            <a:ext cx="457200" cy="457200"/>
          </a:xfrm>
          <a:prstGeom prst="rect">
            <a:avLst/>
          </a:prstGeom>
          <a:noFill/>
        </p:spPr>
        <p:txBody>
          <a:bodyPr wrap="square" lIns="0" rIns="0" tIns="0" bIns="0" anchor="ctr">
            <a:spAutoFit/>
          </a:bodyPr>
          <a:lstStyle/>
          <a:p>
            <a:pPr algn="ctr">
              <a:lnSpc>
                <a:spcPct val="150000"/>
              </a:lnSpc>
            </a:pPr>
            <a:r>
              <a:rPr sz="1500" b="1">
                <a:solidFill>
                  <a:srgbClr val="FFFFFF"/>
                </a:solidFill>
                <a:latin typeface="Noto Sans JP"/>
                <a:ea typeface="Noto Sans JP"/>
                <a:cs typeface="Noto Sans JP"/>
              </a:rPr>
              <a:t>01</a:t>
            </a:r>
          </a:p>
        </p:txBody>
      </p:sp>
      <p:sp>
        <p:nvSpPr>
          <p:cNvPr id="13" name="TextBox 12"/>
          <p:cNvSpPr txBox="1"/>
          <p:nvPr/>
        </p:nvSpPr>
        <p:spPr>
          <a:xfrm>
            <a:off x="1295400" y="2057400"/>
            <a:ext cx="2667000" cy="381000"/>
          </a:xfrm>
          <a:prstGeom prst="rect">
            <a:avLst/>
          </a:prstGeom>
          <a:noFill/>
        </p:spPr>
        <p:txBody>
          <a:bodyPr wrap="square" lIns="0" rIns="0" tIns="0" bIns="0" anchor="t">
            <a:spAutoFit/>
          </a:bodyPr>
          <a:lstStyle/>
          <a:p>
            <a:pPr algn="l">
              <a:lnSpc>
                <a:spcPct val="150000"/>
              </a:lnSpc>
            </a:pPr>
            <a:r>
              <a:rPr sz="1800" b="1">
                <a:solidFill>
                  <a:srgbClr val="1A1A1A"/>
                </a:solidFill>
                <a:latin typeface="Noto Sans JP"/>
                <a:ea typeface="Noto Sans JP"/>
                <a:cs typeface="Noto Sans JP"/>
              </a:rPr>
              <a:t>理解する</a:t>
            </a:r>
          </a:p>
        </p:txBody>
      </p:sp>
      <p:sp>
        <p:nvSpPr>
          <p:cNvPr id="14" name="TextBox 13"/>
          <p:cNvSpPr txBox="1"/>
          <p:nvPr/>
        </p:nvSpPr>
        <p:spPr>
          <a:xfrm>
            <a:off x="4191000" y="2114550"/>
            <a:ext cx="5943600" cy="381000"/>
          </a:xfrm>
          <a:prstGeom prst="rect">
            <a:avLst/>
          </a:prstGeom>
          <a:noFill/>
        </p:spPr>
        <p:txBody>
          <a:bodyPr wrap="square" lIns="0" rIns="0" tIns="0" bIns="0" anchor="t">
            <a:spAutoFit/>
          </a:bodyPr>
          <a:lstStyle/>
          <a:p>
            <a:pPr algn="l">
              <a:lnSpc>
                <a:spcPct val="150000"/>
              </a:lnSpc>
            </a:pPr>
            <a:r>
              <a:rPr sz="1500" b="0">
                <a:solidFill>
                  <a:srgbClr val="4D4D4D"/>
                </a:solidFill>
                <a:latin typeface="Noto Sans JP"/>
                <a:ea typeface="Noto Sans JP"/>
                <a:cs typeface="Noto Sans JP"/>
              </a:rPr>
              <a:t>人とAIの役割、任せる仕事、基本の流れ</a:t>
            </a:r>
          </a:p>
        </p:txBody>
      </p:sp>
      <p:sp>
        <p:nvSpPr>
          <p:cNvPr id="15" name="TextBox 14"/>
          <p:cNvSpPr txBox="1"/>
          <p:nvPr/>
        </p:nvSpPr>
        <p:spPr>
          <a:xfrm>
            <a:off x="10287000" y="2095500"/>
            <a:ext cx="1295400" cy="381000"/>
          </a:xfrm>
          <a:prstGeom prst="rect">
            <a:avLst/>
          </a:prstGeom>
          <a:noFill/>
        </p:spPr>
        <p:txBody>
          <a:bodyPr wrap="square" lIns="0" rIns="0" tIns="0" bIns="0" anchor="t">
            <a:spAutoFit/>
          </a:bodyPr>
          <a:lstStyle/>
          <a:p>
            <a:pPr algn="r">
              <a:lnSpc>
                <a:spcPct val="150000"/>
              </a:lnSpc>
            </a:pPr>
            <a:r>
              <a:rPr sz="1800" b="1">
                <a:solidFill>
                  <a:srgbClr val="0017C1"/>
                </a:solidFill>
                <a:latin typeface="Noto Sans JP"/>
                <a:ea typeface="Noto Sans JP"/>
                <a:cs typeface="Noto Sans JP"/>
              </a:rPr>
              <a:t>03—05</a:t>
            </a:r>
          </a:p>
        </p:txBody>
      </p:sp>
      <p:sp>
        <p:nvSpPr>
          <p:cNvPr id="16" name="Rectangle 15"/>
          <p:cNvSpPr/>
          <p:nvPr/>
        </p:nvSpPr>
        <p:spPr>
          <a:xfrm>
            <a:off x="1295400" y="2762250"/>
            <a:ext cx="10287000" cy="9525"/>
          </a:xfrm>
          <a:prstGeom prst="rect">
            <a:avLst/>
          </a:prstGeom>
          <a:solidFill>
            <a:srgbClr val="9494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Oval 16"/>
          <p:cNvSpPr/>
          <p:nvPr/>
        </p:nvSpPr>
        <p:spPr>
          <a:xfrm>
            <a:off x="609600" y="3067050"/>
            <a:ext cx="457200" cy="457200"/>
          </a:xfrm>
          <a:prstGeom prst="ellipse">
            <a:avLst/>
          </a:prstGeom>
          <a:solidFill>
            <a:srgbClr val="0017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09600" y="3067050"/>
            <a:ext cx="457200" cy="457200"/>
          </a:xfrm>
          <a:prstGeom prst="rect">
            <a:avLst/>
          </a:prstGeom>
          <a:noFill/>
        </p:spPr>
        <p:txBody>
          <a:bodyPr wrap="square" lIns="0" rIns="0" tIns="0" bIns="0" anchor="ctr">
            <a:spAutoFit/>
          </a:bodyPr>
          <a:lstStyle/>
          <a:p>
            <a:pPr algn="ctr">
              <a:lnSpc>
                <a:spcPct val="150000"/>
              </a:lnSpc>
            </a:pPr>
            <a:r>
              <a:rPr sz="1500" b="1">
                <a:solidFill>
                  <a:srgbClr val="FFFFFF"/>
                </a:solidFill>
                <a:latin typeface="Noto Sans JP"/>
                <a:ea typeface="Noto Sans JP"/>
                <a:cs typeface="Noto Sans JP"/>
              </a:rPr>
              <a:t>02</a:t>
            </a:r>
          </a:p>
        </p:txBody>
      </p:sp>
      <p:sp>
        <p:nvSpPr>
          <p:cNvPr id="19" name="TextBox 18"/>
          <p:cNvSpPr txBox="1"/>
          <p:nvPr/>
        </p:nvSpPr>
        <p:spPr>
          <a:xfrm>
            <a:off x="1295400" y="3009900"/>
            <a:ext cx="2667000" cy="381000"/>
          </a:xfrm>
          <a:prstGeom prst="rect">
            <a:avLst/>
          </a:prstGeom>
          <a:noFill/>
        </p:spPr>
        <p:txBody>
          <a:bodyPr wrap="square" lIns="0" rIns="0" tIns="0" bIns="0" anchor="t">
            <a:spAutoFit/>
          </a:bodyPr>
          <a:lstStyle/>
          <a:p>
            <a:pPr algn="l">
              <a:lnSpc>
                <a:spcPct val="150000"/>
              </a:lnSpc>
            </a:pPr>
            <a:r>
              <a:rPr sz="1800" b="1">
                <a:solidFill>
                  <a:srgbClr val="1A1A1A"/>
                </a:solidFill>
                <a:latin typeface="Noto Sans JP"/>
                <a:ea typeface="Noto Sans JP"/>
                <a:cs typeface="Noto Sans JP"/>
              </a:rPr>
              <a:t>依頼する</a:t>
            </a:r>
          </a:p>
        </p:txBody>
      </p:sp>
      <p:sp>
        <p:nvSpPr>
          <p:cNvPr id="20" name="TextBox 19"/>
          <p:cNvSpPr txBox="1"/>
          <p:nvPr/>
        </p:nvSpPr>
        <p:spPr>
          <a:xfrm>
            <a:off x="4191000" y="3067050"/>
            <a:ext cx="5943600" cy="381000"/>
          </a:xfrm>
          <a:prstGeom prst="rect">
            <a:avLst/>
          </a:prstGeom>
          <a:noFill/>
        </p:spPr>
        <p:txBody>
          <a:bodyPr wrap="square" lIns="0" rIns="0" tIns="0" bIns="0" anchor="t">
            <a:spAutoFit/>
          </a:bodyPr>
          <a:lstStyle/>
          <a:p>
            <a:pPr algn="l">
              <a:lnSpc>
                <a:spcPct val="150000"/>
              </a:lnSpc>
            </a:pPr>
            <a:r>
              <a:rPr sz="1500" b="0">
                <a:solidFill>
                  <a:srgbClr val="4D4D4D"/>
                </a:solidFill>
                <a:latin typeface="Noto Sans JP"/>
                <a:ea typeface="Noto Sans JP"/>
                <a:cs typeface="Noto Sans JP"/>
              </a:rPr>
              <a:t>実行環境、渡す情報、依頼文の型</a:t>
            </a:r>
          </a:p>
        </p:txBody>
      </p:sp>
      <p:sp>
        <p:nvSpPr>
          <p:cNvPr id="21" name="TextBox 20"/>
          <p:cNvSpPr txBox="1"/>
          <p:nvPr/>
        </p:nvSpPr>
        <p:spPr>
          <a:xfrm>
            <a:off x="10287000" y="3048000"/>
            <a:ext cx="1295400" cy="381000"/>
          </a:xfrm>
          <a:prstGeom prst="rect">
            <a:avLst/>
          </a:prstGeom>
          <a:noFill/>
        </p:spPr>
        <p:txBody>
          <a:bodyPr wrap="square" lIns="0" rIns="0" tIns="0" bIns="0" anchor="t">
            <a:spAutoFit/>
          </a:bodyPr>
          <a:lstStyle/>
          <a:p>
            <a:pPr algn="r">
              <a:lnSpc>
                <a:spcPct val="150000"/>
              </a:lnSpc>
            </a:pPr>
            <a:r>
              <a:rPr sz="1800" b="1">
                <a:solidFill>
                  <a:srgbClr val="0017C1"/>
                </a:solidFill>
                <a:latin typeface="Noto Sans JP"/>
                <a:ea typeface="Noto Sans JP"/>
                <a:cs typeface="Noto Sans JP"/>
              </a:rPr>
              <a:t>06—08</a:t>
            </a:r>
          </a:p>
        </p:txBody>
      </p:sp>
      <p:sp>
        <p:nvSpPr>
          <p:cNvPr id="22" name="Rectangle 21"/>
          <p:cNvSpPr/>
          <p:nvPr/>
        </p:nvSpPr>
        <p:spPr>
          <a:xfrm>
            <a:off x="1295400" y="3714750"/>
            <a:ext cx="10287000" cy="9525"/>
          </a:xfrm>
          <a:prstGeom prst="rect">
            <a:avLst/>
          </a:prstGeom>
          <a:solidFill>
            <a:srgbClr val="9494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Oval 22"/>
          <p:cNvSpPr/>
          <p:nvPr/>
        </p:nvSpPr>
        <p:spPr>
          <a:xfrm>
            <a:off x="609600" y="4019550"/>
            <a:ext cx="457200" cy="457200"/>
          </a:xfrm>
          <a:prstGeom prst="ellipse">
            <a:avLst/>
          </a:prstGeom>
          <a:solidFill>
            <a:srgbClr val="0017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09600" y="4019550"/>
            <a:ext cx="457200" cy="457200"/>
          </a:xfrm>
          <a:prstGeom prst="rect">
            <a:avLst/>
          </a:prstGeom>
          <a:noFill/>
        </p:spPr>
        <p:txBody>
          <a:bodyPr wrap="square" lIns="0" rIns="0" tIns="0" bIns="0" anchor="ctr">
            <a:spAutoFit/>
          </a:bodyPr>
          <a:lstStyle/>
          <a:p>
            <a:pPr algn="ctr">
              <a:lnSpc>
                <a:spcPct val="150000"/>
              </a:lnSpc>
            </a:pPr>
            <a:r>
              <a:rPr sz="1500" b="1">
                <a:solidFill>
                  <a:srgbClr val="FFFFFF"/>
                </a:solidFill>
                <a:latin typeface="Noto Sans JP"/>
                <a:ea typeface="Noto Sans JP"/>
                <a:cs typeface="Noto Sans JP"/>
              </a:rPr>
              <a:t>03</a:t>
            </a:r>
          </a:p>
        </p:txBody>
      </p:sp>
      <p:sp>
        <p:nvSpPr>
          <p:cNvPr id="25" name="TextBox 24"/>
          <p:cNvSpPr txBox="1"/>
          <p:nvPr/>
        </p:nvSpPr>
        <p:spPr>
          <a:xfrm>
            <a:off x="1295400" y="3962400"/>
            <a:ext cx="2667000" cy="381000"/>
          </a:xfrm>
          <a:prstGeom prst="rect">
            <a:avLst/>
          </a:prstGeom>
          <a:noFill/>
        </p:spPr>
        <p:txBody>
          <a:bodyPr wrap="square" lIns="0" rIns="0" tIns="0" bIns="0" anchor="t">
            <a:spAutoFit/>
          </a:bodyPr>
          <a:lstStyle/>
          <a:p>
            <a:pPr algn="l">
              <a:lnSpc>
                <a:spcPct val="150000"/>
              </a:lnSpc>
            </a:pPr>
            <a:r>
              <a:rPr sz="1800" b="1">
                <a:solidFill>
                  <a:srgbClr val="1A1A1A"/>
                </a:solidFill>
                <a:latin typeface="Noto Sans JP"/>
                <a:ea typeface="Noto Sans JP"/>
                <a:cs typeface="Noto Sans JP"/>
              </a:rPr>
              <a:t>つくって確かめる</a:t>
            </a:r>
          </a:p>
        </p:txBody>
      </p:sp>
      <p:sp>
        <p:nvSpPr>
          <p:cNvPr id="26" name="TextBox 25"/>
          <p:cNvSpPr txBox="1"/>
          <p:nvPr/>
        </p:nvSpPr>
        <p:spPr>
          <a:xfrm>
            <a:off x="4191000" y="4019550"/>
            <a:ext cx="5943600" cy="381000"/>
          </a:xfrm>
          <a:prstGeom prst="rect">
            <a:avLst/>
          </a:prstGeom>
          <a:noFill/>
        </p:spPr>
        <p:txBody>
          <a:bodyPr wrap="square" lIns="0" rIns="0" tIns="0" bIns="0" anchor="t">
            <a:spAutoFit/>
          </a:bodyPr>
          <a:lstStyle/>
          <a:p>
            <a:pPr algn="l">
              <a:lnSpc>
                <a:spcPct val="150000"/>
              </a:lnSpc>
            </a:pPr>
            <a:r>
              <a:rPr sz="1500" b="0">
                <a:solidFill>
                  <a:srgbClr val="4D4D4D"/>
                </a:solidFill>
                <a:latin typeface="Noto Sans JP"/>
                <a:ea typeface="Noto Sans JP"/>
                <a:cs typeface="Noto Sans JP"/>
              </a:rPr>
              <a:t>仕様例、実装、テスト、調査、レビュー</a:t>
            </a:r>
          </a:p>
        </p:txBody>
      </p:sp>
      <p:sp>
        <p:nvSpPr>
          <p:cNvPr id="27" name="TextBox 26"/>
          <p:cNvSpPr txBox="1"/>
          <p:nvPr/>
        </p:nvSpPr>
        <p:spPr>
          <a:xfrm>
            <a:off x="10287000" y="4000500"/>
            <a:ext cx="1295400" cy="381000"/>
          </a:xfrm>
          <a:prstGeom prst="rect">
            <a:avLst/>
          </a:prstGeom>
          <a:noFill/>
        </p:spPr>
        <p:txBody>
          <a:bodyPr wrap="square" lIns="0" rIns="0" tIns="0" bIns="0" anchor="t">
            <a:spAutoFit/>
          </a:bodyPr>
          <a:lstStyle/>
          <a:p>
            <a:pPr algn="r">
              <a:lnSpc>
                <a:spcPct val="150000"/>
              </a:lnSpc>
            </a:pPr>
            <a:r>
              <a:rPr sz="1800" b="1">
                <a:solidFill>
                  <a:srgbClr val="0017C1"/>
                </a:solidFill>
                <a:latin typeface="Noto Sans JP"/>
                <a:ea typeface="Noto Sans JP"/>
                <a:cs typeface="Noto Sans JP"/>
              </a:rPr>
              <a:t>09—14</a:t>
            </a:r>
          </a:p>
        </p:txBody>
      </p:sp>
      <p:sp>
        <p:nvSpPr>
          <p:cNvPr id="28" name="Rectangle 27"/>
          <p:cNvSpPr/>
          <p:nvPr/>
        </p:nvSpPr>
        <p:spPr>
          <a:xfrm>
            <a:off x="1295400" y="4667250"/>
            <a:ext cx="10287000" cy="9525"/>
          </a:xfrm>
          <a:prstGeom prst="rect">
            <a:avLst/>
          </a:prstGeom>
          <a:solidFill>
            <a:srgbClr val="9494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Oval 28"/>
          <p:cNvSpPr/>
          <p:nvPr/>
        </p:nvSpPr>
        <p:spPr>
          <a:xfrm>
            <a:off x="609600" y="4972050"/>
            <a:ext cx="457200" cy="457200"/>
          </a:xfrm>
          <a:prstGeom prst="ellipse">
            <a:avLst/>
          </a:prstGeom>
          <a:solidFill>
            <a:srgbClr val="0017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09600" y="4972050"/>
            <a:ext cx="457200" cy="457200"/>
          </a:xfrm>
          <a:prstGeom prst="rect">
            <a:avLst/>
          </a:prstGeom>
          <a:noFill/>
        </p:spPr>
        <p:txBody>
          <a:bodyPr wrap="square" lIns="0" rIns="0" tIns="0" bIns="0" anchor="ctr">
            <a:spAutoFit/>
          </a:bodyPr>
          <a:lstStyle/>
          <a:p>
            <a:pPr algn="ctr">
              <a:lnSpc>
                <a:spcPct val="150000"/>
              </a:lnSpc>
            </a:pPr>
            <a:r>
              <a:rPr sz="1500" b="1">
                <a:solidFill>
                  <a:srgbClr val="FFFFFF"/>
                </a:solidFill>
                <a:latin typeface="Noto Sans JP"/>
                <a:ea typeface="Noto Sans JP"/>
                <a:cs typeface="Noto Sans JP"/>
              </a:rPr>
              <a:t>04</a:t>
            </a:r>
          </a:p>
        </p:txBody>
      </p:sp>
      <p:sp>
        <p:nvSpPr>
          <p:cNvPr id="31" name="TextBox 30"/>
          <p:cNvSpPr txBox="1"/>
          <p:nvPr/>
        </p:nvSpPr>
        <p:spPr>
          <a:xfrm>
            <a:off x="1295400" y="4914900"/>
            <a:ext cx="2667000" cy="381000"/>
          </a:xfrm>
          <a:prstGeom prst="rect">
            <a:avLst/>
          </a:prstGeom>
          <a:noFill/>
        </p:spPr>
        <p:txBody>
          <a:bodyPr wrap="square" lIns="0" rIns="0" tIns="0" bIns="0" anchor="t">
            <a:spAutoFit/>
          </a:bodyPr>
          <a:lstStyle/>
          <a:p>
            <a:pPr algn="l">
              <a:lnSpc>
                <a:spcPct val="150000"/>
              </a:lnSpc>
            </a:pPr>
            <a:r>
              <a:rPr sz="1800" b="1">
                <a:solidFill>
                  <a:srgbClr val="1A1A1A"/>
                </a:solidFill>
                <a:latin typeface="Noto Sans JP"/>
                <a:ea typeface="Noto Sans JP"/>
                <a:cs typeface="Noto Sans JP"/>
              </a:rPr>
              <a:t>チームに定着させる</a:t>
            </a:r>
          </a:p>
        </p:txBody>
      </p:sp>
      <p:sp>
        <p:nvSpPr>
          <p:cNvPr id="32" name="TextBox 31"/>
          <p:cNvSpPr txBox="1"/>
          <p:nvPr/>
        </p:nvSpPr>
        <p:spPr>
          <a:xfrm>
            <a:off x="4191000" y="4972050"/>
            <a:ext cx="5943600" cy="381000"/>
          </a:xfrm>
          <a:prstGeom prst="rect">
            <a:avLst/>
          </a:prstGeom>
          <a:noFill/>
        </p:spPr>
        <p:txBody>
          <a:bodyPr wrap="square" lIns="0" rIns="0" tIns="0" bIns="0" anchor="t">
            <a:spAutoFit/>
          </a:bodyPr>
          <a:lstStyle/>
          <a:p>
            <a:pPr algn="l">
              <a:lnSpc>
                <a:spcPct val="150000"/>
              </a:lnSpc>
            </a:pPr>
            <a:r>
              <a:rPr sz="1500" b="0">
                <a:solidFill>
                  <a:srgbClr val="4D4D4D"/>
                </a:solidFill>
                <a:latin typeface="Noto Sans JP"/>
                <a:ea typeface="Noto Sans JP"/>
                <a:cs typeface="Noto Sans JP"/>
              </a:rPr>
              <a:t>運用ルール、効果測定、導入計画</a:t>
            </a:r>
          </a:p>
        </p:txBody>
      </p:sp>
      <p:sp>
        <p:nvSpPr>
          <p:cNvPr id="33" name="TextBox 32"/>
          <p:cNvSpPr txBox="1"/>
          <p:nvPr/>
        </p:nvSpPr>
        <p:spPr>
          <a:xfrm>
            <a:off x="10287000" y="4953000"/>
            <a:ext cx="1295400" cy="381000"/>
          </a:xfrm>
          <a:prstGeom prst="rect">
            <a:avLst/>
          </a:prstGeom>
          <a:noFill/>
        </p:spPr>
        <p:txBody>
          <a:bodyPr wrap="square" lIns="0" rIns="0" tIns="0" bIns="0" anchor="t">
            <a:spAutoFit/>
          </a:bodyPr>
          <a:lstStyle/>
          <a:p>
            <a:pPr algn="r">
              <a:lnSpc>
                <a:spcPct val="150000"/>
              </a:lnSpc>
            </a:pPr>
            <a:r>
              <a:rPr sz="1800" b="1">
                <a:solidFill>
                  <a:srgbClr val="0017C1"/>
                </a:solidFill>
                <a:latin typeface="Noto Sans JP"/>
                <a:ea typeface="Noto Sans JP"/>
                <a:cs typeface="Noto Sans JP"/>
              </a:rPr>
              <a:t>15—19</a:t>
            </a:r>
          </a:p>
        </p:txBody>
      </p:sp>
      <p:sp>
        <p:nvSpPr>
          <p:cNvPr id="34" name="Rectangle 33"/>
          <p:cNvSpPr/>
          <p:nvPr/>
        </p:nvSpPr>
        <p:spPr>
          <a:xfrm>
            <a:off x="1295400" y="5619750"/>
            <a:ext cx="10287000" cy="9525"/>
          </a:xfrm>
          <a:prstGeom prst="rect">
            <a:avLst/>
          </a:prstGeom>
          <a:solidFill>
            <a:srgbClr val="9494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609600" y="495300"/>
            <a:ext cx="57150" cy="228600"/>
          </a:xfrm>
          <a:prstGeom prst="rect">
            <a:avLst/>
          </a:prstGeom>
          <a:solidFill>
            <a:srgbClr val="0017C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62000" y="495300"/>
            <a:ext cx="9334500" cy="228600"/>
          </a:xfrm>
          <a:prstGeom prst="rect">
            <a:avLst/>
          </a:prstGeom>
          <a:noFill/>
        </p:spPr>
        <p:txBody>
          <a:bodyPr wrap="square" lIns="0" rIns="0" tIns="0" bIns="0" anchor="ctr">
            <a:spAutoFit/>
          </a:bodyPr>
          <a:lstStyle/>
          <a:p>
            <a:pPr algn="l">
              <a:lnSpc>
                <a:spcPct val="100000"/>
              </a:lnSpc>
            </a:pPr>
            <a:r>
              <a:rPr sz="1050" b="1">
                <a:solidFill>
                  <a:srgbClr val="0017C1"/>
                </a:solidFill>
                <a:latin typeface="Noto Sans JP"/>
                <a:ea typeface="Noto Sans JP"/>
                <a:cs typeface="Noto Sans JP"/>
              </a:rPr>
              <a:t>01 / 理解する</a:t>
            </a:r>
          </a:p>
        </p:txBody>
      </p:sp>
      <p:sp>
        <p:nvSpPr>
          <p:cNvPr id="5" name="TextBox 4"/>
          <p:cNvSpPr txBox="1"/>
          <p:nvPr/>
        </p:nvSpPr>
        <p:spPr>
          <a:xfrm>
            <a:off x="609600" y="800100"/>
            <a:ext cx="10972800" cy="457200"/>
          </a:xfrm>
          <a:prstGeom prst="rect">
            <a:avLst/>
          </a:prstGeom>
          <a:noFill/>
        </p:spPr>
        <p:txBody>
          <a:bodyPr wrap="square" lIns="0" rIns="0" tIns="0" bIns="0" anchor="t">
            <a:spAutoFit/>
          </a:bodyPr>
          <a:lstStyle/>
          <a:p>
            <a:pPr algn="l">
              <a:lnSpc>
                <a:spcPct val="150000"/>
              </a:lnSpc>
            </a:pPr>
            <a:r>
              <a:rPr sz="2400" b="1">
                <a:solidFill>
                  <a:srgbClr val="1A1A1A"/>
                </a:solidFill>
                <a:latin typeface="Noto Sans JP"/>
                <a:ea typeface="Noto Sans JP"/>
                <a:cs typeface="Noto Sans JP"/>
              </a:rPr>
              <a:t>人が目的を決め、AIと検証のループを回す</a:t>
            </a:r>
          </a:p>
        </p:txBody>
      </p:sp>
      <p:sp>
        <p:nvSpPr>
          <p:cNvPr id="6" name="Rectangle 5"/>
          <p:cNvSpPr/>
          <p:nvPr/>
        </p:nvSpPr>
        <p:spPr>
          <a:xfrm>
            <a:off x="609600" y="1333500"/>
            <a:ext cx="10972800" cy="19050"/>
          </a:xfrm>
          <a:prstGeom prst="rect">
            <a:avLst/>
          </a:prstGeom>
          <a:solidFill>
            <a:srgbClr val="9494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09600" y="1447800"/>
            <a:ext cx="10972800" cy="304800"/>
          </a:xfrm>
          <a:prstGeom prst="rect">
            <a:avLst/>
          </a:prstGeom>
          <a:noFill/>
        </p:spPr>
        <p:txBody>
          <a:bodyPr wrap="square" lIns="0" rIns="0" tIns="0" bIns="0" anchor="t">
            <a:spAutoFit/>
          </a:bodyPr>
          <a:lstStyle/>
          <a:p>
            <a:pPr algn="l">
              <a:lnSpc>
                <a:spcPct val="160000"/>
              </a:lnSpc>
            </a:pPr>
            <a:r>
              <a:rPr sz="1350" b="0">
                <a:solidFill>
                  <a:srgbClr val="4D4D4D"/>
                </a:solidFill>
                <a:latin typeface="Noto Sans JP"/>
                <a:ea typeface="Noto Sans JP"/>
                <a:cs typeface="Noto Sans JP"/>
              </a:rPr>
              <a:t>本資料では、AIを要件整理・設計・実装・検証に組み込む開発の進め方を「AI駆動開発」と呼ぶ。</a:t>
            </a:r>
          </a:p>
        </p:txBody>
      </p:sp>
      <p:sp>
        <p:nvSpPr>
          <p:cNvPr id="8" name="Rectangle 7"/>
          <p:cNvSpPr/>
          <p:nvPr/>
        </p:nvSpPr>
        <p:spPr>
          <a:xfrm>
            <a:off x="609600" y="6286500"/>
            <a:ext cx="10972800" cy="9525"/>
          </a:xfrm>
          <a:prstGeom prst="rect">
            <a:avLst/>
          </a:prstGeom>
          <a:solidFill>
            <a:srgbClr val="B3B3B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09600" y="6419850"/>
            <a:ext cx="4191000" cy="190500"/>
          </a:xfrm>
          <a:prstGeom prst="rect">
            <a:avLst/>
          </a:prstGeom>
          <a:noFill/>
        </p:spPr>
        <p:txBody>
          <a:bodyPr wrap="square" lIns="0" rIns="0" tIns="0" bIns="0" anchor="t">
            <a:spAutoFit/>
          </a:bodyPr>
          <a:lstStyle/>
          <a:p>
            <a:pPr algn="l">
              <a:lnSpc>
                <a:spcPct val="130000"/>
              </a:lnSpc>
            </a:pPr>
            <a:r>
              <a:rPr sz="1050" b="0">
                <a:solidFill>
                  <a:srgbClr val="767676"/>
                </a:solidFill>
                <a:latin typeface="Noto Sans JP"/>
                <a:ea typeface="Noto Sans JP"/>
                <a:cs typeface="Noto Sans JP"/>
              </a:rPr>
              <a:t>AI駆動開発ガイド</a:t>
            </a:r>
          </a:p>
        </p:txBody>
      </p:sp>
      <p:sp>
        <p:nvSpPr>
          <p:cNvPr id="10" name="TextBox 9"/>
          <p:cNvSpPr txBox="1"/>
          <p:nvPr/>
        </p:nvSpPr>
        <p:spPr>
          <a:xfrm>
            <a:off x="4953000" y="6419850"/>
            <a:ext cx="5334000" cy="190500"/>
          </a:xfrm>
          <a:prstGeom prst="rect">
            <a:avLst/>
          </a:prstGeom>
          <a:noFill/>
        </p:spPr>
        <p:txBody>
          <a:bodyPr wrap="square" lIns="0" rIns="0" tIns="0" bIns="0" anchor="t">
            <a:spAutoFit/>
          </a:bodyPr>
          <a:lstStyle/>
          <a:p>
            <a:pPr algn="r">
              <a:lnSpc>
                <a:spcPct val="130000"/>
              </a:lnSpc>
            </a:pPr>
            <a:r>
              <a:rPr sz="1050" b="0">
                <a:solidFill>
                  <a:srgbClr val="767676"/>
                </a:solidFill>
                <a:latin typeface="Noto Sans JP"/>
                <a:ea typeface="Noto Sans JP"/>
                <a:cs typeface="Noto Sans JP"/>
              </a:rPr>
              <a:t>参考 [2] ｜出典は p.20</a:t>
            </a:r>
          </a:p>
        </p:txBody>
      </p:sp>
      <p:sp>
        <p:nvSpPr>
          <p:cNvPr id="11" name="TextBox 10"/>
          <p:cNvSpPr txBox="1"/>
          <p:nvPr/>
        </p:nvSpPr>
        <p:spPr>
          <a:xfrm>
            <a:off x="10668000" y="6419850"/>
            <a:ext cx="914400" cy="190500"/>
          </a:xfrm>
          <a:prstGeom prst="rect">
            <a:avLst/>
          </a:prstGeom>
          <a:noFill/>
        </p:spPr>
        <p:txBody>
          <a:bodyPr wrap="square" lIns="0" rIns="0" tIns="0" bIns="0" anchor="t">
            <a:spAutoFit/>
          </a:bodyPr>
          <a:lstStyle/>
          <a:p>
            <a:pPr algn="r">
              <a:lnSpc>
                <a:spcPct val="130000"/>
              </a:lnSpc>
            </a:pPr>
            <a:r>
              <a:rPr sz="1050" b="1">
                <a:solidFill>
                  <a:srgbClr val="767676"/>
                </a:solidFill>
                <a:latin typeface="Noto Sans JP"/>
                <a:ea typeface="Noto Sans JP"/>
                <a:cs typeface="Noto Sans JP"/>
              </a:rPr>
              <a:t>03 / 20</a:t>
            </a:r>
          </a:p>
        </p:txBody>
      </p:sp>
      <p:sp>
        <p:nvSpPr>
          <p:cNvPr id="12" name="Rectangle 11"/>
          <p:cNvSpPr/>
          <p:nvPr/>
        </p:nvSpPr>
        <p:spPr>
          <a:xfrm>
            <a:off x="609600" y="2057400"/>
            <a:ext cx="3505200" cy="3124200"/>
          </a:xfrm>
          <a:prstGeom prst="rect">
            <a:avLst/>
          </a:prstGeom>
          <a:solidFill>
            <a:srgbClr val="FFFFFF"/>
          </a:solidFill>
          <a:ln w="9525">
            <a:solidFill>
              <a:srgbClr val="94949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609600" y="2057400"/>
            <a:ext cx="3505200" cy="533400"/>
          </a:xfrm>
          <a:prstGeom prst="rect">
            <a:avLst/>
          </a:prstGeom>
          <a:solidFill>
            <a:srgbClr val="0017C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38200" y="2057400"/>
            <a:ext cx="3048000" cy="533400"/>
          </a:xfrm>
          <a:prstGeom prst="rect">
            <a:avLst/>
          </a:prstGeom>
          <a:noFill/>
        </p:spPr>
        <p:txBody>
          <a:bodyPr wrap="square" lIns="0" rIns="0" tIns="0" bIns="0" anchor="ctr">
            <a:spAutoFit/>
          </a:bodyPr>
          <a:lstStyle/>
          <a:p>
            <a:pPr algn="l">
              <a:lnSpc>
                <a:spcPct val="150000"/>
              </a:lnSpc>
            </a:pPr>
            <a:r>
              <a:rPr sz="1650" b="1">
                <a:solidFill>
                  <a:srgbClr val="FFFFFF"/>
                </a:solidFill>
                <a:latin typeface="Noto Sans JP"/>
                <a:ea typeface="Noto Sans JP"/>
                <a:cs typeface="Noto Sans JP"/>
              </a:rPr>
              <a:t>人</a:t>
            </a:r>
          </a:p>
        </p:txBody>
      </p:sp>
      <p:sp>
        <p:nvSpPr>
          <p:cNvPr id="15" name="TextBox 14"/>
          <p:cNvSpPr txBox="1"/>
          <p:nvPr/>
        </p:nvSpPr>
        <p:spPr>
          <a:xfrm>
            <a:off x="838200" y="2819400"/>
            <a:ext cx="3048000" cy="400050"/>
          </a:xfrm>
          <a:prstGeom prst="rect">
            <a:avLst/>
          </a:prstGeom>
          <a:noFill/>
        </p:spPr>
        <p:txBody>
          <a:bodyPr wrap="square" lIns="0" rIns="0" tIns="0" bIns="0" anchor="t">
            <a:spAutoFit/>
          </a:bodyPr>
          <a:lstStyle/>
          <a:p>
            <a:pPr algn="l">
              <a:lnSpc>
                <a:spcPct val="150000"/>
              </a:lnSpc>
            </a:pPr>
            <a:r>
              <a:rPr sz="1800" b="1">
                <a:solidFill>
                  <a:srgbClr val="1A1A1A"/>
                </a:solidFill>
                <a:latin typeface="Noto Sans JP"/>
                <a:ea typeface="Noto Sans JP"/>
                <a:cs typeface="Noto Sans JP"/>
              </a:rPr>
              <a:t>目的と判断を持つ</a:t>
            </a:r>
          </a:p>
        </p:txBody>
      </p:sp>
      <p:sp>
        <p:nvSpPr>
          <p:cNvPr id="16" name="TextBox 15"/>
          <p:cNvSpPr txBox="1"/>
          <p:nvPr/>
        </p:nvSpPr>
        <p:spPr>
          <a:xfrm>
            <a:off x="838200" y="3429000"/>
            <a:ext cx="3048000" cy="381000"/>
          </a:xfrm>
          <a:prstGeom prst="rect">
            <a:avLst/>
          </a:prstGeom>
          <a:noFill/>
        </p:spPr>
        <p:txBody>
          <a:bodyPr wrap="square" lIns="0" rIns="0" tIns="0" bIns="0" anchor="t">
            <a:spAutoFit/>
          </a:bodyPr>
          <a:lstStyle/>
          <a:p>
            <a:pPr algn="l">
              <a:lnSpc>
                <a:spcPct val="150000"/>
              </a:lnSpc>
            </a:pPr>
            <a:r>
              <a:rPr sz="1500" b="0">
                <a:solidFill>
                  <a:srgbClr val="4D4D4D"/>
                </a:solidFill>
                <a:latin typeface="Noto Sans JP"/>
                <a:ea typeface="Noto Sans JP"/>
                <a:cs typeface="Noto Sans JP"/>
              </a:rPr>
              <a:t>何を解決するか決める</a:t>
            </a:r>
          </a:p>
        </p:txBody>
      </p:sp>
      <p:sp>
        <p:nvSpPr>
          <p:cNvPr id="17" name="TextBox 16"/>
          <p:cNvSpPr txBox="1"/>
          <p:nvPr/>
        </p:nvSpPr>
        <p:spPr>
          <a:xfrm>
            <a:off x="838200" y="3886200"/>
            <a:ext cx="3048000" cy="381000"/>
          </a:xfrm>
          <a:prstGeom prst="rect">
            <a:avLst/>
          </a:prstGeom>
          <a:noFill/>
        </p:spPr>
        <p:txBody>
          <a:bodyPr wrap="square" lIns="0" rIns="0" tIns="0" bIns="0" anchor="t">
            <a:spAutoFit/>
          </a:bodyPr>
          <a:lstStyle/>
          <a:p>
            <a:pPr algn="l">
              <a:lnSpc>
                <a:spcPct val="150000"/>
              </a:lnSpc>
            </a:pPr>
            <a:r>
              <a:rPr sz="1500" b="0">
                <a:solidFill>
                  <a:srgbClr val="4D4D4D"/>
                </a:solidFill>
                <a:latin typeface="Noto Sans JP"/>
                <a:ea typeface="Noto Sans JP"/>
                <a:cs typeface="Noto Sans JP"/>
              </a:rPr>
              <a:t>受け入れ条件を定める</a:t>
            </a:r>
          </a:p>
        </p:txBody>
      </p:sp>
      <p:sp>
        <p:nvSpPr>
          <p:cNvPr id="18" name="TextBox 17"/>
          <p:cNvSpPr txBox="1"/>
          <p:nvPr/>
        </p:nvSpPr>
        <p:spPr>
          <a:xfrm>
            <a:off x="838200" y="4343400"/>
            <a:ext cx="3048000" cy="381000"/>
          </a:xfrm>
          <a:prstGeom prst="rect">
            <a:avLst/>
          </a:prstGeom>
          <a:noFill/>
        </p:spPr>
        <p:txBody>
          <a:bodyPr wrap="square" lIns="0" rIns="0" tIns="0" bIns="0" anchor="t">
            <a:spAutoFit/>
          </a:bodyPr>
          <a:lstStyle/>
          <a:p>
            <a:pPr algn="l">
              <a:lnSpc>
                <a:spcPct val="150000"/>
              </a:lnSpc>
            </a:pPr>
            <a:r>
              <a:rPr sz="1500" b="0">
                <a:solidFill>
                  <a:srgbClr val="4D4D4D"/>
                </a:solidFill>
                <a:latin typeface="Noto Sans JP"/>
                <a:ea typeface="Noto Sans JP"/>
                <a:cs typeface="Noto Sans JP"/>
              </a:rPr>
              <a:t>差分を理解し採用する</a:t>
            </a:r>
          </a:p>
        </p:txBody>
      </p:sp>
      <p:sp>
        <p:nvSpPr>
          <p:cNvPr id="19" name="Rectangle 18"/>
          <p:cNvSpPr/>
          <p:nvPr/>
        </p:nvSpPr>
        <p:spPr>
          <a:xfrm>
            <a:off x="4343400" y="2057400"/>
            <a:ext cx="3505200" cy="3124200"/>
          </a:xfrm>
          <a:prstGeom prst="rect">
            <a:avLst/>
          </a:prstGeom>
          <a:solidFill>
            <a:srgbClr val="FFFFFF"/>
          </a:solidFill>
          <a:ln w="9525">
            <a:solidFill>
              <a:srgbClr val="94949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4343400" y="2057400"/>
            <a:ext cx="3505200" cy="533400"/>
          </a:xfrm>
          <a:prstGeom prst="rect">
            <a:avLst/>
          </a:prstGeom>
          <a:solidFill>
            <a:srgbClr val="0017C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4572000" y="2057400"/>
            <a:ext cx="3048000" cy="533400"/>
          </a:xfrm>
          <a:prstGeom prst="rect">
            <a:avLst/>
          </a:prstGeom>
          <a:noFill/>
        </p:spPr>
        <p:txBody>
          <a:bodyPr wrap="square" lIns="0" rIns="0" tIns="0" bIns="0" anchor="ctr">
            <a:spAutoFit/>
          </a:bodyPr>
          <a:lstStyle/>
          <a:p>
            <a:pPr algn="l">
              <a:lnSpc>
                <a:spcPct val="150000"/>
              </a:lnSpc>
            </a:pPr>
            <a:r>
              <a:rPr sz="1650" b="1">
                <a:solidFill>
                  <a:srgbClr val="FFFFFF"/>
                </a:solidFill>
                <a:latin typeface="Noto Sans JP"/>
                <a:ea typeface="Noto Sans JP"/>
                <a:cs typeface="Noto Sans JP"/>
              </a:rPr>
              <a:t>AI</a:t>
            </a:r>
          </a:p>
        </p:txBody>
      </p:sp>
      <p:sp>
        <p:nvSpPr>
          <p:cNvPr id="22" name="TextBox 21"/>
          <p:cNvSpPr txBox="1"/>
          <p:nvPr/>
        </p:nvSpPr>
        <p:spPr>
          <a:xfrm>
            <a:off x="4572000" y="2819400"/>
            <a:ext cx="3048000" cy="400050"/>
          </a:xfrm>
          <a:prstGeom prst="rect">
            <a:avLst/>
          </a:prstGeom>
          <a:noFill/>
        </p:spPr>
        <p:txBody>
          <a:bodyPr wrap="square" lIns="0" rIns="0" tIns="0" bIns="0" anchor="t">
            <a:spAutoFit/>
          </a:bodyPr>
          <a:lstStyle/>
          <a:p>
            <a:pPr algn="l">
              <a:lnSpc>
                <a:spcPct val="150000"/>
              </a:lnSpc>
            </a:pPr>
            <a:r>
              <a:rPr sz="1800" b="1">
                <a:solidFill>
                  <a:srgbClr val="1A1A1A"/>
                </a:solidFill>
                <a:latin typeface="Noto Sans JP"/>
                <a:ea typeface="Noto Sans JP"/>
                <a:cs typeface="Noto Sans JP"/>
              </a:rPr>
              <a:t>調べて形にする</a:t>
            </a:r>
          </a:p>
        </p:txBody>
      </p:sp>
      <p:sp>
        <p:nvSpPr>
          <p:cNvPr id="23" name="TextBox 22"/>
          <p:cNvSpPr txBox="1"/>
          <p:nvPr/>
        </p:nvSpPr>
        <p:spPr>
          <a:xfrm>
            <a:off x="4572000" y="3429000"/>
            <a:ext cx="3048000" cy="381000"/>
          </a:xfrm>
          <a:prstGeom prst="rect">
            <a:avLst/>
          </a:prstGeom>
          <a:noFill/>
        </p:spPr>
        <p:txBody>
          <a:bodyPr wrap="square" lIns="0" rIns="0" tIns="0" bIns="0" anchor="t">
            <a:spAutoFit/>
          </a:bodyPr>
          <a:lstStyle/>
          <a:p>
            <a:pPr algn="l">
              <a:lnSpc>
                <a:spcPct val="150000"/>
              </a:lnSpc>
            </a:pPr>
            <a:r>
              <a:rPr sz="1500" b="0">
                <a:solidFill>
                  <a:srgbClr val="4D4D4D"/>
                </a:solidFill>
                <a:latin typeface="Noto Sans JP"/>
                <a:ea typeface="Noto Sans JP"/>
                <a:cs typeface="Noto Sans JP"/>
              </a:rPr>
              <a:t>既存コードを調査する</a:t>
            </a:r>
          </a:p>
        </p:txBody>
      </p:sp>
      <p:sp>
        <p:nvSpPr>
          <p:cNvPr id="24" name="TextBox 23"/>
          <p:cNvSpPr txBox="1"/>
          <p:nvPr/>
        </p:nvSpPr>
        <p:spPr>
          <a:xfrm>
            <a:off x="4572000" y="3886200"/>
            <a:ext cx="3048000" cy="381000"/>
          </a:xfrm>
          <a:prstGeom prst="rect">
            <a:avLst/>
          </a:prstGeom>
          <a:noFill/>
        </p:spPr>
        <p:txBody>
          <a:bodyPr wrap="square" lIns="0" rIns="0" tIns="0" bIns="0" anchor="t">
            <a:spAutoFit/>
          </a:bodyPr>
          <a:lstStyle/>
          <a:p>
            <a:pPr algn="l">
              <a:lnSpc>
                <a:spcPct val="150000"/>
              </a:lnSpc>
            </a:pPr>
            <a:r>
              <a:rPr sz="1500" b="0">
                <a:solidFill>
                  <a:srgbClr val="4D4D4D"/>
                </a:solidFill>
                <a:latin typeface="Noto Sans JP"/>
                <a:ea typeface="Noto Sans JP"/>
                <a:cs typeface="Noto Sans JP"/>
              </a:rPr>
              <a:t>設計案と変更をつくる</a:t>
            </a:r>
          </a:p>
        </p:txBody>
      </p:sp>
      <p:sp>
        <p:nvSpPr>
          <p:cNvPr id="25" name="TextBox 24"/>
          <p:cNvSpPr txBox="1"/>
          <p:nvPr/>
        </p:nvSpPr>
        <p:spPr>
          <a:xfrm>
            <a:off x="4572000" y="4343400"/>
            <a:ext cx="3048000" cy="381000"/>
          </a:xfrm>
          <a:prstGeom prst="rect">
            <a:avLst/>
          </a:prstGeom>
          <a:noFill/>
        </p:spPr>
        <p:txBody>
          <a:bodyPr wrap="square" lIns="0" rIns="0" tIns="0" bIns="0" anchor="t">
            <a:spAutoFit/>
          </a:bodyPr>
          <a:lstStyle/>
          <a:p>
            <a:pPr algn="l">
              <a:lnSpc>
                <a:spcPct val="150000"/>
              </a:lnSpc>
            </a:pPr>
            <a:r>
              <a:rPr sz="1500" b="0">
                <a:solidFill>
                  <a:srgbClr val="4D4D4D"/>
                </a:solidFill>
                <a:latin typeface="Noto Sans JP"/>
                <a:ea typeface="Noto Sans JP"/>
                <a:cs typeface="Noto Sans JP"/>
              </a:rPr>
              <a:t>テスト案・説明をつくる</a:t>
            </a:r>
          </a:p>
        </p:txBody>
      </p:sp>
      <p:sp>
        <p:nvSpPr>
          <p:cNvPr id="26" name="Rectangle 25"/>
          <p:cNvSpPr/>
          <p:nvPr/>
        </p:nvSpPr>
        <p:spPr>
          <a:xfrm>
            <a:off x="8077200" y="2057400"/>
            <a:ext cx="3505200" cy="3124200"/>
          </a:xfrm>
          <a:prstGeom prst="rect">
            <a:avLst/>
          </a:prstGeom>
          <a:solidFill>
            <a:srgbClr val="FFFFFF"/>
          </a:solidFill>
          <a:ln w="9525">
            <a:solidFill>
              <a:srgbClr val="94949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8077200" y="2057400"/>
            <a:ext cx="3505200" cy="533400"/>
          </a:xfrm>
          <a:prstGeom prst="rect">
            <a:avLst/>
          </a:prstGeom>
          <a:solidFill>
            <a:srgbClr val="0017C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8305800" y="2057400"/>
            <a:ext cx="3048000" cy="533400"/>
          </a:xfrm>
          <a:prstGeom prst="rect">
            <a:avLst/>
          </a:prstGeom>
          <a:noFill/>
        </p:spPr>
        <p:txBody>
          <a:bodyPr wrap="square" lIns="0" rIns="0" tIns="0" bIns="0" anchor="ctr">
            <a:spAutoFit/>
          </a:bodyPr>
          <a:lstStyle/>
          <a:p>
            <a:pPr algn="l">
              <a:lnSpc>
                <a:spcPct val="150000"/>
              </a:lnSpc>
            </a:pPr>
            <a:r>
              <a:rPr sz="1650" b="1">
                <a:solidFill>
                  <a:srgbClr val="FFFFFF"/>
                </a:solidFill>
                <a:latin typeface="Noto Sans JP"/>
                <a:ea typeface="Noto Sans JP"/>
                <a:cs typeface="Noto Sans JP"/>
              </a:rPr>
              <a:t>実行環境</a:t>
            </a:r>
          </a:p>
        </p:txBody>
      </p:sp>
      <p:sp>
        <p:nvSpPr>
          <p:cNvPr id="29" name="TextBox 28"/>
          <p:cNvSpPr txBox="1"/>
          <p:nvPr/>
        </p:nvSpPr>
        <p:spPr>
          <a:xfrm>
            <a:off x="8305800" y="2819400"/>
            <a:ext cx="3048000" cy="400050"/>
          </a:xfrm>
          <a:prstGeom prst="rect">
            <a:avLst/>
          </a:prstGeom>
          <a:noFill/>
        </p:spPr>
        <p:txBody>
          <a:bodyPr wrap="square" lIns="0" rIns="0" tIns="0" bIns="0" anchor="t">
            <a:spAutoFit/>
          </a:bodyPr>
          <a:lstStyle/>
          <a:p>
            <a:pPr algn="l">
              <a:lnSpc>
                <a:spcPct val="150000"/>
              </a:lnSpc>
            </a:pPr>
            <a:r>
              <a:rPr sz="1800" b="1">
                <a:solidFill>
                  <a:srgbClr val="1A1A1A"/>
                </a:solidFill>
                <a:latin typeface="Noto Sans JP"/>
                <a:ea typeface="Noto Sans JP"/>
                <a:cs typeface="Noto Sans JP"/>
              </a:rPr>
              <a:t>結果を返す</a:t>
            </a:r>
          </a:p>
        </p:txBody>
      </p:sp>
      <p:sp>
        <p:nvSpPr>
          <p:cNvPr id="30" name="TextBox 29"/>
          <p:cNvSpPr txBox="1"/>
          <p:nvPr/>
        </p:nvSpPr>
        <p:spPr>
          <a:xfrm>
            <a:off x="8305800" y="3429000"/>
            <a:ext cx="3048000" cy="381000"/>
          </a:xfrm>
          <a:prstGeom prst="rect">
            <a:avLst/>
          </a:prstGeom>
          <a:noFill/>
        </p:spPr>
        <p:txBody>
          <a:bodyPr wrap="square" lIns="0" rIns="0" tIns="0" bIns="0" anchor="t">
            <a:spAutoFit/>
          </a:bodyPr>
          <a:lstStyle/>
          <a:p>
            <a:pPr algn="l">
              <a:lnSpc>
                <a:spcPct val="150000"/>
              </a:lnSpc>
            </a:pPr>
            <a:r>
              <a:rPr sz="1500" b="0">
                <a:solidFill>
                  <a:srgbClr val="4D4D4D"/>
                </a:solidFill>
                <a:latin typeface="Noto Sans JP"/>
                <a:ea typeface="Noto Sans JP"/>
                <a:cs typeface="Noto Sans JP"/>
              </a:rPr>
              <a:t>テストとビルドを実行</a:t>
            </a:r>
          </a:p>
        </p:txBody>
      </p:sp>
      <p:sp>
        <p:nvSpPr>
          <p:cNvPr id="31" name="TextBox 30"/>
          <p:cNvSpPr txBox="1"/>
          <p:nvPr/>
        </p:nvSpPr>
        <p:spPr>
          <a:xfrm>
            <a:off x="8305800" y="3886200"/>
            <a:ext cx="3048000" cy="381000"/>
          </a:xfrm>
          <a:prstGeom prst="rect">
            <a:avLst/>
          </a:prstGeom>
          <a:noFill/>
        </p:spPr>
        <p:txBody>
          <a:bodyPr wrap="square" lIns="0" rIns="0" tIns="0" bIns="0" anchor="t">
            <a:spAutoFit/>
          </a:bodyPr>
          <a:lstStyle/>
          <a:p>
            <a:pPr algn="l">
              <a:lnSpc>
                <a:spcPct val="150000"/>
              </a:lnSpc>
            </a:pPr>
            <a:r>
              <a:rPr sz="1500" b="0">
                <a:solidFill>
                  <a:srgbClr val="4D4D4D"/>
                </a:solidFill>
                <a:latin typeface="Noto Sans JP"/>
                <a:ea typeface="Noto Sans JP"/>
                <a:cs typeface="Noto Sans JP"/>
              </a:rPr>
              <a:t>静的解析で問題を検出</a:t>
            </a:r>
          </a:p>
        </p:txBody>
      </p:sp>
      <p:sp>
        <p:nvSpPr>
          <p:cNvPr id="32" name="TextBox 31"/>
          <p:cNvSpPr txBox="1"/>
          <p:nvPr/>
        </p:nvSpPr>
        <p:spPr>
          <a:xfrm>
            <a:off x="8305800" y="4343400"/>
            <a:ext cx="3048000" cy="381000"/>
          </a:xfrm>
          <a:prstGeom prst="rect">
            <a:avLst/>
          </a:prstGeom>
          <a:noFill/>
        </p:spPr>
        <p:txBody>
          <a:bodyPr wrap="square" lIns="0" rIns="0" tIns="0" bIns="0" anchor="t">
            <a:spAutoFit/>
          </a:bodyPr>
          <a:lstStyle/>
          <a:p>
            <a:pPr algn="l">
              <a:lnSpc>
                <a:spcPct val="150000"/>
              </a:lnSpc>
            </a:pPr>
            <a:r>
              <a:rPr sz="1500" b="0">
                <a:solidFill>
                  <a:srgbClr val="4D4D4D"/>
                </a:solidFill>
                <a:latin typeface="Noto Sans JP"/>
                <a:ea typeface="Noto Sans JP"/>
                <a:cs typeface="Noto Sans JP"/>
              </a:rPr>
              <a:t>画面やログで挙動を確認</a:t>
            </a:r>
          </a:p>
        </p:txBody>
      </p:sp>
      <p:sp>
        <p:nvSpPr>
          <p:cNvPr id="33" name="Rectangle 32"/>
          <p:cNvSpPr/>
          <p:nvPr/>
        </p:nvSpPr>
        <p:spPr>
          <a:xfrm>
            <a:off x="609600" y="5486400"/>
            <a:ext cx="10972800" cy="609600"/>
          </a:xfrm>
          <a:prstGeom prst="rect">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838200" y="5486400"/>
            <a:ext cx="10515600" cy="609600"/>
          </a:xfrm>
          <a:prstGeom prst="rect">
            <a:avLst/>
          </a:prstGeom>
          <a:noFill/>
        </p:spPr>
        <p:txBody>
          <a:bodyPr wrap="square" lIns="0" rIns="0" tIns="0" bIns="0" anchor="ctr">
            <a:spAutoFit/>
          </a:bodyPr>
          <a:lstStyle/>
          <a:p>
            <a:pPr algn="l">
              <a:lnSpc>
                <a:spcPct val="150000"/>
              </a:lnSpc>
            </a:pPr>
            <a:r>
              <a:rPr sz="1500" b="1">
                <a:solidFill>
                  <a:srgbClr val="00118F"/>
                </a:solidFill>
                <a:latin typeface="Noto Sans JP"/>
                <a:ea typeface="Noto Sans JP"/>
                <a:cs typeface="Noto Sans JP"/>
              </a:rPr>
              <a:t>完了の条件は、期待した挙動を確認でき、変更の責任者が説明できること。</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609600" y="495300"/>
            <a:ext cx="57150" cy="228600"/>
          </a:xfrm>
          <a:prstGeom prst="rect">
            <a:avLst/>
          </a:prstGeom>
          <a:solidFill>
            <a:srgbClr val="0017C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62000" y="495300"/>
            <a:ext cx="9334500" cy="228600"/>
          </a:xfrm>
          <a:prstGeom prst="rect">
            <a:avLst/>
          </a:prstGeom>
          <a:noFill/>
        </p:spPr>
        <p:txBody>
          <a:bodyPr wrap="square" lIns="0" rIns="0" tIns="0" bIns="0" anchor="ctr">
            <a:spAutoFit/>
          </a:bodyPr>
          <a:lstStyle/>
          <a:p>
            <a:pPr algn="l">
              <a:lnSpc>
                <a:spcPct val="100000"/>
              </a:lnSpc>
            </a:pPr>
            <a:r>
              <a:rPr sz="1050" b="1">
                <a:solidFill>
                  <a:srgbClr val="0017C1"/>
                </a:solidFill>
                <a:latin typeface="Noto Sans JP"/>
                <a:ea typeface="Noto Sans JP"/>
                <a:cs typeface="Noto Sans JP"/>
              </a:rPr>
              <a:t>01 / 理解する</a:t>
            </a:r>
          </a:p>
        </p:txBody>
      </p:sp>
      <p:sp>
        <p:nvSpPr>
          <p:cNvPr id="5" name="TextBox 4"/>
          <p:cNvSpPr txBox="1"/>
          <p:nvPr/>
        </p:nvSpPr>
        <p:spPr>
          <a:xfrm>
            <a:off x="609600" y="800100"/>
            <a:ext cx="10972800" cy="457200"/>
          </a:xfrm>
          <a:prstGeom prst="rect">
            <a:avLst/>
          </a:prstGeom>
          <a:noFill/>
        </p:spPr>
        <p:txBody>
          <a:bodyPr wrap="square" lIns="0" rIns="0" tIns="0" bIns="0" anchor="t">
            <a:spAutoFit/>
          </a:bodyPr>
          <a:lstStyle/>
          <a:p>
            <a:pPr algn="l">
              <a:lnSpc>
                <a:spcPct val="150000"/>
              </a:lnSpc>
            </a:pPr>
            <a:r>
              <a:rPr sz="2400" b="1">
                <a:solidFill>
                  <a:srgbClr val="1A1A1A"/>
                </a:solidFill>
                <a:latin typeface="Noto Sans JP"/>
                <a:ea typeface="Noto Sans JP"/>
                <a:cs typeface="Noto Sans JP"/>
              </a:rPr>
              <a:t>最初は、正誤を確かめやすい仕事を選ぶ</a:t>
            </a:r>
          </a:p>
        </p:txBody>
      </p:sp>
      <p:sp>
        <p:nvSpPr>
          <p:cNvPr id="6" name="Rectangle 5"/>
          <p:cNvSpPr/>
          <p:nvPr/>
        </p:nvSpPr>
        <p:spPr>
          <a:xfrm>
            <a:off x="609600" y="1333500"/>
            <a:ext cx="10972800" cy="19050"/>
          </a:xfrm>
          <a:prstGeom prst="rect">
            <a:avLst/>
          </a:prstGeom>
          <a:solidFill>
            <a:srgbClr val="9494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09600" y="1447800"/>
            <a:ext cx="10972800" cy="304800"/>
          </a:xfrm>
          <a:prstGeom prst="rect">
            <a:avLst/>
          </a:prstGeom>
          <a:noFill/>
        </p:spPr>
        <p:txBody>
          <a:bodyPr wrap="square" lIns="0" rIns="0" tIns="0" bIns="0" anchor="t">
            <a:spAutoFit/>
          </a:bodyPr>
          <a:lstStyle/>
          <a:p>
            <a:pPr algn="l">
              <a:lnSpc>
                <a:spcPct val="160000"/>
              </a:lnSpc>
            </a:pPr>
            <a:r>
              <a:rPr sz="1350" b="0">
                <a:solidFill>
                  <a:srgbClr val="4D4D4D"/>
                </a:solidFill>
                <a:latin typeface="Noto Sans JP"/>
                <a:ea typeface="Noto Sans JP"/>
                <a:cs typeface="Noto Sans JP"/>
              </a:rPr>
              <a:t>選定の3条件：範囲が小さい・期待結果が明確・元に戻せる。</a:t>
            </a:r>
          </a:p>
        </p:txBody>
      </p:sp>
      <p:sp>
        <p:nvSpPr>
          <p:cNvPr id="8" name="Rectangle 7"/>
          <p:cNvSpPr/>
          <p:nvPr/>
        </p:nvSpPr>
        <p:spPr>
          <a:xfrm>
            <a:off x="609600" y="6286500"/>
            <a:ext cx="10972800" cy="9525"/>
          </a:xfrm>
          <a:prstGeom prst="rect">
            <a:avLst/>
          </a:prstGeom>
          <a:solidFill>
            <a:srgbClr val="B3B3B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09600" y="6419850"/>
            <a:ext cx="4191000" cy="190500"/>
          </a:xfrm>
          <a:prstGeom prst="rect">
            <a:avLst/>
          </a:prstGeom>
          <a:noFill/>
        </p:spPr>
        <p:txBody>
          <a:bodyPr wrap="square" lIns="0" rIns="0" tIns="0" bIns="0" anchor="t">
            <a:spAutoFit/>
          </a:bodyPr>
          <a:lstStyle/>
          <a:p>
            <a:pPr algn="l">
              <a:lnSpc>
                <a:spcPct val="130000"/>
              </a:lnSpc>
            </a:pPr>
            <a:r>
              <a:rPr sz="1050" b="0">
                <a:solidFill>
                  <a:srgbClr val="767676"/>
                </a:solidFill>
                <a:latin typeface="Noto Sans JP"/>
                <a:ea typeface="Noto Sans JP"/>
                <a:cs typeface="Noto Sans JP"/>
              </a:rPr>
              <a:t>AI駆動開発ガイド</a:t>
            </a:r>
          </a:p>
        </p:txBody>
      </p:sp>
      <p:sp>
        <p:nvSpPr>
          <p:cNvPr id="10" name="TextBox 9"/>
          <p:cNvSpPr txBox="1"/>
          <p:nvPr/>
        </p:nvSpPr>
        <p:spPr>
          <a:xfrm>
            <a:off x="10668000" y="6419850"/>
            <a:ext cx="914400" cy="190500"/>
          </a:xfrm>
          <a:prstGeom prst="rect">
            <a:avLst/>
          </a:prstGeom>
          <a:noFill/>
        </p:spPr>
        <p:txBody>
          <a:bodyPr wrap="square" lIns="0" rIns="0" tIns="0" bIns="0" anchor="t">
            <a:spAutoFit/>
          </a:bodyPr>
          <a:lstStyle/>
          <a:p>
            <a:pPr algn="r">
              <a:lnSpc>
                <a:spcPct val="130000"/>
              </a:lnSpc>
            </a:pPr>
            <a:r>
              <a:rPr sz="1050" b="1">
                <a:solidFill>
                  <a:srgbClr val="767676"/>
                </a:solidFill>
                <a:latin typeface="Noto Sans JP"/>
                <a:ea typeface="Noto Sans JP"/>
                <a:cs typeface="Noto Sans JP"/>
              </a:rPr>
              <a:t>04 / 20</a:t>
            </a:r>
          </a:p>
        </p:txBody>
      </p:sp>
      <p:sp>
        <p:nvSpPr>
          <p:cNvPr id="11" name="Rectangle 10"/>
          <p:cNvSpPr/>
          <p:nvPr/>
        </p:nvSpPr>
        <p:spPr>
          <a:xfrm>
            <a:off x="609600" y="1981200"/>
            <a:ext cx="10972800" cy="457200"/>
          </a:xfrm>
          <a:prstGeom prst="rect">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762000" y="1981200"/>
            <a:ext cx="1981200" cy="457200"/>
          </a:xfrm>
          <a:prstGeom prst="rect">
            <a:avLst/>
          </a:prstGeom>
          <a:noFill/>
        </p:spPr>
        <p:txBody>
          <a:bodyPr wrap="square" lIns="0" rIns="0" tIns="0" bIns="0" anchor="ctr">
            <a:spAutoFit/>
          </a:bodyPr>
          <a:lstStyle/>
          <a:p>
            <a:pPr algn="l">
              <a:lnSpc>
                <a:spcPct val="160000"/>
              </a:lnSpc>
            </a:pPr>
            <a:r>
              <a:rPr sz="1350" b="1">
                <a:solidFill>
                  <a:srgbClr val="0017C1"/>
                </a:solidFill>
                <a:latin typeface="Noto Sans JP"/>
                <a:ea typeface="Noto Sans JP"/>
                <a:cs typeface="Noto Sans JP"/>
              </a:rPr>
              <a:t>候補</a:t>
            </a:r>
          </a:p>
        </p:txBody>
      </p:sp>
      <p:sp>
        <p:nvSpPr>
          <p:cNvPr id="13" name="TextBox 12"/>
          <p:cNvSpPr txBox="1"/>
          <p:nvPr/>
        </p:nvSpPr>
        <p:spPr>
          <a:xfrm>
            <a:off x="3048000" y="1981200"/>
            <a:ext cx="4152900" cy="457200"/>
          </a:xfrm>
          <a:prstGeom prst="rect">
            <a:avLst/>
          </a:prstGeom>
          <a:noFill/>
        </p:spPr>
        <p:txBody>
          <a:bodyPr wrap="square" lIns="0" rIns="0" tIns="0" bIns="0" anchor="ctr">
            <a:spAutoFit/>
          </a:bodyPr>
          <a:lstStyle/>
          <a:p>
            <a:pPr algn="l">
              <a:lnSpc>
                <a:spcPct val="160000"/>
              </a:lnSpc>
            </a:pPr>
            <a:r>
              <a:rPr sz="1350" b="1">
                <a:solidFill>
                  <a:srgbClr val="0017C1"/>
                </a:solidFill>
                <a:latin typeface="Noto Sans JP"/>
                <a:ea typeface="Noto Sans JP"/>
                <a:cs typeface="Noto Sans JP"/>
              </a:rPr>
              <a:t>任せる作業の例</a:t>
            </a:r>
          </a:p>
        </p:txBody>
      </p:sp>
      <p:sp>
        <p:nvSpPr>
          <p:cNvPr id="14" name="TextBox 13"/>
          <p:cNvSpPr txBox="1"/>
          <p:nvPr/>
        </p:nvSpPr>
        <p:spPr>
          <a:xfrm>
            <a:off x="7505700" y="1981200"/>
            <a:ext cx="3924300" cy="457200"/>
          </a:xfrm>
          <a:prstGeom prst="rect">
            <a:avLst/>
          </a:prstGeom>
          <a:noFill/>
        </p:spPr>
        <p:txBody>
          <a:bodyPr wrap="square" lIns="0" rIns="0" tIns="0" bIns="0" anchor="ctr">
            <a:spAutoFit/>
          </a:bodyPr>
          <a:lstStyle/>
          <a:p>
            <a:pPr algn="l">
              <a:lnSpc>
                <a:spcPct val="160000"/>
              </a:lnSpc>
            </a:pPr>
            <a:r>
              <a:rPr sz="1350" b="1">
                <a:solidFill>
                  <a:srgbClr val="0017C1"/>
                </a:solidFill>
                <a:latin typeface="Noto Sans JP"/>
                <a:ea typeface="Noto Sans JP"/>
                <a:cs typeface="Noto Sans JP"/>
              </a:rPr>
              <a:t>完了を判断する証拠</a:t>
            </a:r>
          </a:p>
        </p:txBody>
      </p:sp>
      <p:sp>
        <p:nvSpPr>
          <p:cNvPr id="15" name="Rectangle 14"/>
          <p:cNvSpPr/>
          <p:nvPr/>
        </p:nvSpPr>
        <p:spPr>
          <a:xfrm>
            <a:off x="609600" y="2438400"/>
            <a:ext cx="10972800" cy="19050"/>
          </a:xfrm>
          <a:prstGeom prst="rect">
            <a:avLst/>
          </a:prstGeom>
          <a:solidFill>
            <a:srgbClr val="0017C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762000" y="2495550"/>
            <a:ext cx="1981200" cy="571500"/>
          </a:xfrm>
          <a:prstGeom prst="rect">
            <a:avLst/>
          </a:prstGeom>
          <a:noFill/>
        </p:spPr>
        <p:txBody>
          <a:bodyPr wrap="square" lIns="0" rIns="0" tIns="0" bIns="0" anchor="ctr">
            <a:spAutoFit/>
          </a:bodyPr>
          <a:lstStyle/>
          <a:p>
            <a:pPr algn="l">
              <a:lnSpc>
                <a:spcPct val="150000"/>
              </a:lnSpc>
            </a:pPr>
            <a:r>
              <a:rPr sz="1500" b="1">
                <a:solidFill>
                  <a:srgbClr val="1A1A1A"/>
                </a:solidFill>
                <a:latin typeface="Noto Sans JP"/>
                <a:ea typeface="Noto Sans JP"/>
                <a:cs typeface="Noto Sans JP"/>
              </a:rPr>
              <a:t>単体テストの追加</a:t>
            </a:r>
          </a:p>
        </p:txBody>
      </p:sp>
      <p:sp>
        <p:nvSpPr>
          <p:cNvPr id="17" name="TextBox 16"/>
          <p:cNvSpPr txBox="1"/>
          <p:nvPr/>
        </p:nvSpPr>
        <p:spPr>
          <a:xfrm>
            <a:off x="3048000" y="2495550"/>
            <a:ext cx="4152900" cy="571500"/>
          </a:xfrm>
          <a:prstGeom prst="rect">
            <a:avLst/>
          </a:prstGeom>
          <a:noFill/>
        </p:spPr>
        <p:txBody>
          <a:bodyPr wrap="square" lIns="0" rIns="0" tIns="0" bIns="0" anchor="ctr">
            <a:spAutoFit/>
          </a:bodyPr>
          <a:lstStyle/>
          <a:p>
            <a:pPr algn="l">
              <a:lnSpc>
                <a:spcPct val="150000"/>
              </a:lnSpc>
            </a:pPr>
            <a:r>
              <a:rPr sz="1500" b="0">
                <a:solidFill>
                  <a:srgbClr val="4D4D4D"/>
                </a:solidFill>
                <a:latin typeface="Noto Sans JP"/>
                <a:ea typeface="Noto Sans JP"/>
                <a:cs typeface="Noto Sans JP"/>
              </a:rPr>
              <a:t>既存関数の境界値を追加</a:t>
            </a:r>
          </a:p>
        </p:txBody>
      </p:sp>
      <p:sp>
        <p:nvSpPr>
          <p:cNvPr id="18" name="TextBox 17"/>
          <p:cNvSpPr txBox="1"/>
          <p:nvPr/>
        </p:nvSpPr>
        <p:spPr>
          <a:xfrm>
            <a:off x="7505700" y="2495550"/>
            <a:ext cx="3924300" cy="571500"/>
          </a:xfrm>
          <a:prstGeom prst="rect">
            <a:avLst/>
          </a:prstGeom>
          <a:noFill/>
        </p:spPr>
        <p:txBody>
          <a:bodyPr wrap="square" lIns="0" rIns="0" tIns="0" bIns="0" anchor="ctr">
            <a:spAutoFit/>
          </a:bodyPr>
          <a:lstStyle/>
          <a:p>
            <a:pPr algn="l">
              <a:lnSpc>
                <a:spcPct val="150000"/>
              </a:lnSpc>
            </a:pPr>
            <a:r>
              <a:rPr sz="1500" b="0">
                <a:solidFill>
                  <a:srgbClr val="4D4D4D"/>
                </a:solidFill>
                <a:latin typeface="Noto Sans JP"/>
                <a:ea typeface="Noto Sans JP"/>
                <a:cs typeface="Noto Sans JP"/>
              </a:rPr>
              <a:t>期待値の根拠＋テスト結果</a:t>
            </a:r>
          </a:p>
        </p:txBody>
      </p:sp>
      <p:sp>
        <p:nvSpPr>
          <p:cNvPr id="19" name="Rectangle 18"/>
          <p:cNvSpPr/>
          <p:nvPr/>
        </p:nvSpPr>
        <p:spPr>
          <a:xfrm>
            <a:off x="609600" y="3105150"/>
            <a:ext cx="10972800" cy="9525"/>
          </a:xfrm>
          <a:prstGeom prst="rect">
            <a:avLst/>
          </a:prstGeom>
          <a:solidFill>
            <a:srgbClr val="9494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762000" y="3152775"/>
            <a:ext cx="1981200" cy="571500"/>
          </a:xfrm>
          <a:prstGeom prst="rect">
            <a:avLst/>
          </a:prstGeom>
          <a:noFill/>
        </p:spPr>
        <p:txBody>
          <a:bodyPr wrap="square" lIns="0" rIns="0" tIns="0" bIns="0" anchor="ctr">
            <a:spAutoFit/>
          </a:bodyPr>
          <a:lstStyle/>
          <a:p>
            <a:pPr algn="l">
              <a:lnSpc>
                <a:spcPct val="150000"/>
              </a:lnSpc>
            </a:pPr>
            <a:r>
              <a:rPr sz="1500" b="1">
                <a:solidFill>
                  <a:srgbClr val="1A1A1A"/>
                </a:solidFill>
                <a:latin typeface="Noto Sans JP"/>
                <a:ea typeface="Noto Sans JP"/>
                <a:cs typeface="Noto Sans JP"/>
              </a:rPr>
              <a:t>小さな不具合修正</a:t>
            </a:r>
          </a:p>
        </p:txBody>
      </p:sp>
      <p:sp>
        <p:nvSpPr>
          <p:cNvPr id="21" name="TextBox 20"/>
          <p:cNvSpPr txBox="1"/>
          <p:nvPr/>
        </p:nvSpPr>
        <p:spPr>
          <a:xfrm>
            <a:off x="3048000" y="3152775"/>
            <a:ext cx="4152900" cy="571500"/>
          </a:xfrm>
          <a:prstGeom prst="rect">
            <a:avLst/>
          </a:prstGeom>
          <a:noFill/>
        </p:spPr>
        <p:txBody>
          <a:bodyPr wrap="square" lIns="0" rIns="0" tIns="0" bIns="0" anchor="ctr">
            <a:spAutoFit/>
          </a:bodyPr>
          <a:lstStyle/>
          <a:p>
            <a:pPr algn="l">
              <a:lnSpc>
                <a:spcPct val="150000"/>
              </a:lnSpc>
            </a:pPr>
            <a:r>
              <a:rPr sz="1500" b="0">
                <a:solidFill>
                  <a:srgbClr val="4D4D4D"/>
                </a:solidFill>
                <a:latin typeface="Noto Sans JP"/>
                <a:ea typeface="Noto Sans JP"/>
                <a:cs typeface="Noto Sans JP"/>
              </a:rPr>
              <a:t>再現条件が明確なバグを修正</a:t>
            </a:r>
          </a:p>
        </p:txBody>
      </p:sp>
      <p:sp>
        <p:nvSpPr>
          <p:cNvPr id="22" name="TextBox 21"/>
          <p:cNvSpPr txBox="1"/>
          <p:nvPr/>
        </p:nvSpPr>
        <p:spPr>
          <a:xfrm>
            <a:off x="7505700" y="3152775"/>
            <a:ext cx="3924300" cy="571500"/>
          </a:xfrm>
          <a:prstGeom prst="rect">
            <a:avLst/>
          </a:prstGeom>
          <a:noFill/>
        </p:spPr>
        <p:txBody>
          <a:bodyPr wrap="square" lIns="0" rIns="0" tIns="0" bIns="0" anchor="ctr">
            <a:spAutoFit/>
          </a:bodyPr>
          <a:lstStyle/>
          <a:p>
            <a:pPr algn="l">
              <a:lnSpc>
                <a:spcPct val="150000"/>
              </a:lnSpc>
            </a:pPr>
            <a:r>
              <a:rPr sz="1500" b="0">
                <a:solidFill>
                  <a:srgbClr val="4D4D4D"/>
                </a:solidFill>
                <a:latin typeface="Noto Sans JP"/>
                <a:ea typeface="Noto Sans JP"/>
                <a:cs typeface="Noto Sans JP"/>
              </a:rPr>
              <a:t>修正前に失敗、修正後に成功</a:t>
            </a:r>
          </a:p>
        </p:txBody>
      </p:sp>
      <p:sp>
        <p:nvSpPr>
          <p:cNvPr id="23" name="Rectangle 22"/>
          <p:cNvSpPr/>
          <p:nvPr/>
        </p:nvSpPr>
        <p:spPr>
          <a:xfrm>
            <a:off x="609600" y="3762375"/>
            <a:ext cx="10972800" cy="9525"/>
          </a:xfrm>
          <a:prstGeom prst="rect">
            <a:avLst/>
          </a:prstGeom>
          <a:solidFill>
            <a:srgbClr val="9494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762000" y="3810000"/>
            <a:ext cx="1981200" cy="571500"/>
          </a:xfrm>
          <a:prstGeom prst="rect">
            <a:avLst/>
          </a:prstGeom>
          <a:noFill/>
        </p:spPr>
        <p:txBody>
          <a:bodyPr wrap="square" lIns="0" rIns="0" tIns="0" bIns="0" anchor="ctr">
            <a:spAutoFit/>
          </a:bodyPr>
          <a:lstStyle/>
          <a:p>
            <a:pPr algn="l">
              <a:lnSpc>
                <a:spcPct val="150000"/>
              </a:lnSpc>
            </a:pPr>
            <a:r>
              <a:rPr sz="1500" b="1">
                <a:solidFill>
                  <a:srgbClr val="1A1A1A"/>
                </a:solidFill>
                <a:latin typeface="Noto Sans JP"/>
                <a:ea typeface="Noto Sans JP"/>
                <a:cs typeface="Noto Sans JP"/>
              </a:rPr>
              <a:t>説明文の更新</a:t>
            </a:r>
          </a:p>
        </p:txBody>
      </p:sp>
      <p:sp>
        <p:nvSpPr>
          <p:cNvPr id="25" name="TextBox 24"/>
          <p:cNvSpPr txBox="1"/>
          <p:nvPr/>
        </p:nvSpPr>
        <p:spPr>
          <a:xfrm>
            <a:off x="3048000" y="3810000"/>
            <a:ext cx="4152900" cy="571500"/>
          </a:xfrm>
          <a:prstGeom prst="rect">
            <a:avLst/>
          </a:prstGeom>
          <a:noFill/>
        </p:spPr>
        <p:txBody>
          <a:bodyPr wrap="square" lIns="0" rIns="0" tIns="0" bIns="0" anchor="ctr">
            <a:spAutoFit/>
          </a:bodyPr>
          <a:lstStyle/>
          <a:p>
            <a:pPr algn="l">
              <a:lnSpc>
                <a:spcPct val="150000"/>
              </a:lnSpc>
            </a:pPr>
            <a:r>
              <a:rPr sz="1500" b="0">
                <a:solidFill>
                  <a:srgbClr val="4D4D4D"/>
                </a:solidFill>
                <a:latin typeface="Noto Sans JP"/>
                <a:ea typeface="Noto Sans JP"/>
                <a:cs typeface="Noto Sans JP"/>
              </a:rPr>
              <a:t>コードとREADMEの差を修正</a:t>
            </a:r>
          </a:p>
        </p:txBody>
      </p:sp>
      <p:sp>
        <p:nvSpPr>
          <p:cNvPr id="26" name="TextBox 25"/>
          <p:cNvSpPr txBox="1"/>
          <p:nvPr/>
        </p:nvSpPr>
        <p:spPr>
          <a:xfrm>
            <a:off x="7505700" y="3810000"/>
            <a:ext cx="3924300" cy="571500"/>
          </a:xfrm>
          <a:prstGeom prst="rect">
            <a:avLst/>
          </a:prstGeom>
          <a:noFill/>
        </p:spPr>
        <p:txBody>
          <a:bodyPr wrap="square" lIns="0" rIns="0" tIns="0" bIns="0" anchor="ctr">
            <a:spAutoFit/>
          </a:bodyPr>
          <a:lstStyle/>
          <a:p>
            <a:pPr algn="l">
              <a:lnSpc>
                <a:spcPct val="150000"/>
              </a:lnSpc>
            </a:pPr>
            <a:r>
              <a:rPr sz="1500" b="0">
                <a:solidFill>
                  <a:srgbClr val="4D4D4D"/>
                </a:solidFill>
                <a:latin typeface="Noto Sans JP"/>
                <a:ea typeface="Noto Sans JP"/>
                <a:cs typeface="Noto Sans JP"/>
              </a:rPr>
              <a:t>参照元と手順の実行結果</a:t>
            </a:r>
          </a:p>
        </p:txBody>
      </p:sp>
      <p:sp>
        <p:nvSpPr>
          <p:cNvPr id="27" name="Rectangle 26"/>
          <p:cNvSpPr/>
          <p:nvPr/>
        </p:nvSpPr>
        <p:spPr>
          <a:xfrm>
            <a:off x="609600" y="4419600"/>
            <a:ext cx="10972800" cy="9525"/>
          </a:xfrm>
          <a:prstGeom prst="rect">
            <a:avLst/>
          </a:prstGeom>
          <a:solidFill>
            <a:srgbClr val="9494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762000" y="4467225"/>
            <a:ext cx="1981200" cy="571500"/>
          </a:xfrm>
          <a:prstGeom prst="rect">
            <a:avLst/>
          </a:prstGeom>
          <a:noFill/>
        </p:spPr>
        <p:txBody>
          <a:bodyPr wrap="square" lIns="0" rIns="0" tIns="0" bIns="0" anchor="ctr">
            <a:spAutoFit/>
          </a:bodyPr>
          <a:lstStyle/>
          <a:p>
            <a:pPr algn="l">
              <a:lnSpc>
                <a:spcPct val="150000"/>
              </a:lnSpc>
            </a:pPr>
            <a:r>
              <a:rPr sz="1500" b="1">
                <a:solidFill>
                  <a:srgbClr val="1A1A1A"/>
                </a:solidFill>
                <a:latin typeface="Noto Sans JP"/>
                <a:ea typeface="Noto Sans JP"/>
                <a:cs typeface="Noto Sans JP"/>
              </a:rPr>
              <a:t>認証・DB移行</a:t>
            </a:r>
          </a:p>
        </p:txBody>
      </p:sp>
      <p:sp>
        <p:nvSpPr>
          <p:cNvPr id="29" name="TextBox 28"/>
          <p:cNvSpPr txBox="1"/>
          <p:nvPr/>
        </p:nvSpPr>
        <p:spPr>
          <a:xfrm>
            <a:off x="3048000" y="4467225"/>
            <a:ext cx="4152900" cy="571500"/>
          </a:xfrm>
          <a:prstGeom prst="rect">
            <a:avLst/>
          </a:prstGeom>
          <a:noFill/>
        </p:spPr>
        <p:txBody>
          <a:bodyPr wrap="square" lIns="0" rIns="0" tIns="0" bIns="0" anchor="ctr">
            <a:spAutoFit/>
          </a:bodyPr>
          <a:lstStyle/>
          <a:p>
            <a:pPr algn="l">
              <a:lnSpc>
                <a:spcPct val="150000"/>
              </a:lnSpc>
            </a:pPr>
            <a:r>
              <a:rPr sz="1500" b="0">
                <a:solidFill>
                  <a:srgbClr val="4D4D4D"/>
                </a:solidFill>
                <a:latin typeface="Noto Sans JP"/>
                <a:ea typeface="Noto Sans JP"/>
                <a:cs typeface="Noto Sans JP"/>
              </a:rPr>
              <a:t>まずは影響調査と案の比較</a:t>
            </a:r>
          </a:p>
        </p:txBody>
      </p:sp>
      <p:sp>
        <p:nvSpPr>
          <p:cNvPr id="30" name="TextBox 29"/>
          <p:cNvSpPr txBox="1"/>
          <p:nvPr/>
        </p:nvSpPr>
        <p:spPr>
          <a:xfrm>
            <a:off x="7505700" y="4467225"/>
            <a:ext cx="3924300" cy="571500"/>
          </a:xfrm>
          <a:prstGeom prst="rect">
            <a:avLst/>
          </a:prstGeom>
          <a:noFill/>
        </p:spPr>
        <p:txBody>
          <a:bodyPr wrap="square" lIns="0" rIns="0" tIns="0" bIns="0" anchor="ctr">
            <a:spAutoFit/>
          </a:bodyPr>
          <a:lstStyle/>
          <a:p>
            <a:pPr algn="l">
              <a:lnSpc>
                <a:spcPct val="150000"/>
              </a:lnSpc>
            </a:pPr>
            <a:r>
              <a:rPr sz="1500" b="0">
                <a:solidFill>
                  <a:srgbClr val="4D4D4D"/>
                </a:solidFill>
                <a:latin typeface="Noto Sans JP"/>
                <a:ea typeface="Noto Sans JP"/>
                <a:cs typeface="Noto Sans JP"/>
              </a:rPr>
              <a:t>担当者の設計確認＋移行検証</a:t>
            </a:r>
          </a:p>
        </p:txBody>
      </p:sp>
      <p:sp>
        <p:nvSpPr>
          <p:cNvPr id="31" name="Rectangle 30"/>
          <p:cNvSpPr/>
          <p:nvPr/>
        </p:nvSpPr>
        <p:spPr>
          <a:xfrm>
            <a:off x="609600" y="5076825"/>
            <a:ext cx="10972800" cy="9525"/>
          </a:xfrm>
          <a:prstGeom prst="rect">
            <a:avLst/>
          </a:prstGeom>
          <a:solidFill>
            <a:srgbClr val="9494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609600" y="5486400"/>
            <a:ext cx="10972800" cy="609600"/>
          </a:xfrm>
          <a:prstGeom prst="rect">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838200" y="5486400"/>
            <a:ext cx="10515600" cy="609600"/>
          </a:xfrm>
          <a:prstGeom prst="rect">
            <a:avLst/>
          </a:prstGeom>
          <a:noFill/>
        </p:spPr>
        <p:txBody>
          <a:bodyPr wrap="square" lIns="0" rIns="0" tIns="0" bIns="0" anchor="ctr">
            <a:spAutoFit/>
          </a:bodyPr>
          <a:lstStyle/>
          <a:p>
            <a:pPr algn="l">
              <a:lnSpc>
                <a:spcPct val="150000"/>
              </a:lnSpc>
            </a:pPr>
            <a:r>
              <a:rPr sz="1500" b="1">
                <a:solidFill>
                  <a:srgbClr val="00118F"/>
                </a:solidFill>
                <a:latin typeface="Noto Sans JP"/>
                <a:ea typeface="Noto Sans JP"/>
                <a:cs typeface="Noto Sans JP"/>
              </a:rPr>
              <a:t>タスクが大きいときは「調査」「仕様の整理」「1つの変更」に分ける。</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609600" y="495300"/>
            <a:ext cx="57150" cy="228600"/>
          </a:xfrm>
          <a:prstGeom prst="rect">
            <a:avLst/>
          </a:prstGeom>
          <a:solidFill>
            <a:srgbClr val="0017C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62000" y="495300"/>
            <a:ext cx="9334500" cy="228600"/>
          </a:xfrm>
          <a:prstGeom prst="rect">
            <a:avLst/>
          </a:prstGeom>
          <a:noFill/>
        </p:spPr>
        <p:txBody>
          <a:bodyPr wrap="square" lIns="0" rIns="0" tIns="0" bIns="0" anchor="ctr">
            <a:spAutoFit/>
          </a:bodyPr>
          <a:lstStyle/>
          <a:p>
            <a:pPr algn="l">
              <a:lnSpc>
                <a:spcPct val="100000"/>
              </a:lnSpc>
            </a:pPr>
            <a:r>
              <a:rPr sz="1050" b="1">
                <a:solidFill>
                  <a:srgbClr val="0017C1"/>
                </a:solidFill>
                <a:latin typeface="Noto Sans JP"/>
                <a:ea typeface="Noto Sans JP"/>
                <a:cs typeface="Noto Sans JP"/>
              </a:rPr>
              <a:t>01 / 理解する</a:t>
            </a:r>
          </a:p>
        </p:txBody>
      </p:sp>
      <p:sp>
        <p:nvSpPr>
          <p:cNvPr id="5" name="TextBox 4"/>
          <p:cNvSpPr txBox="1"/>
          <p:nvPr/>
        </p:nvSpPr>
        <p:spPr>
          <a:xfrm>
            <a:off x="609600" y="800100"/>
            <a:ext cx="10972800" cy="457200"/>
          </a:xfrm>
          <a:prstGeom prst="rect">
            <a:avLst/>
          </a:prstGeom>
          <a:noFill/>
        </p:spPr>
        <p:txBody>
          <a:bodyPr wrap="square" lIns="0" rIns="0" tIns="0" bIns="0" anchor="t">
            <a:spAutoFit/>
          </a:bodyPr>
          <a:lstStyle/>
          <a:p>
            <a:pPr algn="l">
              <a:lnSpc>
                <a:spcPct val="150000"/>
              </a:lnSpc>
            </a:pPr>
            <a:r>
              <a:rPr sz="2400" b="1">
                <a:solidFill>
                  <a:srgbClr val="1A1A1A"/>
                </a:solidFill>
                <a:latin typeface="Noto Sans JP"/>
                <a:ea typeface="Noto Sans JP"/>
                <a:cs typeface="Noto Sans JP"/>
              </a:rPr>
              <a:t>1つの変更を、5つの工程で進める</a:t>
            </a:r>
          </a:p>
        </p:txBody>
      </p:sp>
      <p:sp>
        <p:nvSpPr>
          <p:cNvPr id="6" name="Rectangle 5"/>
          <p:cNvSpPr/>
          <p:nvPr/>
        </p:nvSpPr>
        <p:spPr>
          <a:xfrm>
            <a:off x="609600" y="1333500"/>
            <a:ext cx="10972800" cy="19050"/>
          </a:xfrm>
          <a:prstGeom prst="rect">
            <a:avLst/>
          </a:prstGeom>
          <a:solidFill>
            <a:srgbClr val="9494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09600" y="1447800"/>
            <a:ext cx="10972800" cy="304800"/>
          </a:xfrm>
          <a:prstGeom prst="rect">
            <a:avLst/>
          </a:prstGeom>
          <a:noFill/>
        </p:spPr>
        <p:txBody>
          <a:bodyPr wrap="square" lIns="0" rIns="0" tIns="0" bIns="0" anchor="t">
            <a:spAutoFit/>
          </a:bodyPr>
          <a:lstStyle/>
          <a:p>
            <a:pPr algn="l">
              <a:lnSpc>
                <a:spcPct val="160000"/>
              </a:lnSpc>
            </a:pPr>
            <a:r>
              <a:rPr sz="1350" b="0">
                <a:solidFill>
                  <a:srgbClr val="4D4D4D"/>
                </a:solidFill>
                <a:latin typeface="Noto Sans JP"/>
                <a:ea typeface="Noto Sans JP"/>
                <a:cs typeface="Noto Sans JP"/>
              </a:rPr>
              <a:t>各工程で残す成果物を決めると、会話の途中からでも作業を再開できる。</a:t>
            </a:r>
          </a:p>
        </p:txBody>
      </p:sp>
      <p:sp>
        <p:nvSpPr>
          <p:cNvPr id="8" name="Rectangle 7"/>
          <p:cNvSpPr/>
          <p:nvPr/>
        </p:nvSpPr>
        <p:spPr>
          <a:xfrm>
            <a:off x="609600" y="6286500"/>
            <a:ext cx="10972800" cy="9525"/>
          </a:xfrm>
          <a:prstGeom prst="rect">
            <a:avLst/>
          </a:prstGeom>
          <a:solidFill>
            <a:srgbClr val="B3B3B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09600" y="6419850"/>
            <a:ext cx="4191000" cy="190500"/>
          </a:xfrm>
          <a:prstGeom prst="rect">
            <a:avLst/>
          </a:prstGeom>
          <a:noFill/>
        </p:spPr>
        <p:txBody>
          <a:bodyPr wrap="square" lIns="0" rIns="0" tIns="0" bIns="0" anchor="t">
            <a:spAutoFit/>
          </a:bodyPr>
          <a:lstStyle/>
          <a:p>
            <a:pPr algn="l">
              <a:lnSpc>
                <a:spcPct val="130000"/>
              </a:lnSpc>
            </a:pPr>
            <a:r>
              <a:rPr sz="1050" b="0">
                <a:solidFill>
                  <a:srgbClr val="767676"/>
                </a:solidFill>
                <a:latin typeface="Noto Sans JP"/>
                <a:ea typeface="Noto Sans JP"/>
                <a:cs typeface="Noto Sans JP"/>
              </a:rPr>
              <a:t>AI駆動開発ガイド</a:t>
            </a:r>
          </a:p>
        </p:txBody>
      </p:sp>
      <p:sp>
        <p:nvSpPr>
          <p:cNvPr id="10" name="TextBox 9"/>
          <p:cNvSpPr txBox="1"/>
          <p:nvPr/>
        </p:nvSpPr>
        <p:spPr>
          <a:xfrm>
            <a:off x="4953000" y="6419850"/>
            <a:ext cx="5334000" cy="190500"/>
          </a:xfrm>
          <a:prstGeom prst="rect">
            <a:avLst/>
          </a:prstGeom>
          <a:noFill/>
        </p:spPr>
        <p:txBody>
          <a:bodyPr wrap="square" lIns="0" rIns="0" tIns="0" bIns="0" anchor="t">
            <a:spAutoFit/>
          </a:bodyPr>
          <a:lstStyle/>
          <a:p>
            <a:pPr algn="r">
              <a:lnSpc>
                <a:spcPct val="130000"/>
              </a:lnSpc>
            </a:pPr>
            <a:r>
              <a:rPr sz="1050" b="0">
                <a:solidFill>
                  <a:srgbClr val="767676"/>
                </a:solidFill>
                <a:latin typeface="Noto Sans JP"/>
                <a:ea typeface="Noto Sans JP"/>
                <a:cs typeface="Noto Sans JP"/>
              </a:rPr>
              <a:t>参考 [1] [2] ｜出典は p.20</a:t>
            </a:r>
          </a:p>
        </p:txBody>
      </p:sp>
      <p:sp>
        <p:nvSpPr>
          <p:cNvPr id="11" name="TextBox 10"/>
          <p:cNvSpPr txBox="1"/>
          <p:nvPr/>
        </p:nvSpPr>
        <p:spPr>
          <a:xfrm>
            <a:off x="10668000" y="6419850"/>
            <a:ext cx="914400" cy="190500"/>
          </a:xfrm>
          <a:prstGeom prst="rect">
            <a:avLst/>
          </a:prstGeom>
          <a:noFill/>
        </p:spPr>
        <p:txBody>
          <a:bodyPr wrap="square" lIns="0" rIns="0" tIns="0" bIns="0" anchor="t">
            <a:spAutoFit/>
          </a:bodyPr>
          <a:lstStyle/>
          <a:p>
            <a:pPr algn="r">
              <a:lnSpc>
                <a:spcPct val="130000"/>
              </a:lnSpc>
            </a:pPr>
            <a:r>
              <a:rPr sz="1050" b="1">
                <a:solidFill>
                  <a:srgbClr val="767676"/>
                </a:solidFill>
                <a:latin typeface="Noto Sans JP"/>
                <a:ea typeface="Noto Sans JP"/>
                <a:cs typeface="Noto Sans JP"/>
              </a:rPr>
              <a:t>05 / 20</a:t>
            </a:r>
          </a:p>
        </p:txBody>
      </p:sp>
      <p:sp>
        <p:nvSpPr>
          <p:cNvPr id="12" name="Rectangle 11"/>
          <p:cNvSpPr/>
          <p:nvPr/>
        </p:nvSpPr>
        <p:spPr>
          <a:xfrm>
            <a:off x="609600" y="2209800"/>
            <a:ext cx="1981200" cy="2438400"/>
          </a:xfrm>
          <a:prstGeom prst="rect">
            <a:avLst/>
          </a:prstGeom>
          <a:solidFill>
            <a:srgbClr val="FFFFFF"/>
          </a:solidFill>
          <a:ln w="9525">
            <a:solidFill>
              <a:srgbClr val="94949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609600" y="2209800"/>
            <a:ext cx="1981200" cy="495300"/>
          </a:xfrm>
          <a:prstGeom prst="rect">
            <a:avLst/>
          </a:prstGeom>
          <a:solidFill>
            <a:srgbClr val="0017C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09600" y="2209800"/>
            <a:ext cx="1981200" cy="495300"/>
          </a:xfrm>
          <a:prstGeom prst="rect">
            <a:avLst/>
          </a:prstGeom>
          <a:noFill/>
        </p:spPr>
        <p:txBody>
          <a:bodyPr wrap="square" lIns="0" rIns="0" tIns="0" bIns="0" anchor="ctr">
            <a:spAutoFit/>
          </a:bodyPr>
          <a:lstStyle/>
          <a:p>
            <a:pPr algn="ctr">
              <a:lnSpc>
                <a:spcPct val="150000"/>
              </a:lnSpc>
            </a:pPr>
            <a:r>
              <a:rPr sz="1800" b="1">
                <a:solidFill>
                  <a:srgbClr val="FFFFFF"/>
                </a:solidFill>
                <a:latin typeface="Noto Sans JP"/>
                <a:ea typeface="Noto Sans JP"/>
                <a:cs typeface="Noto Sans JP"/>
              </a:rPr>
              <a:t>1  仕様</a:t>
            </a:r>
          </a:p>
        </p:txBody>
      </p:sp>
      <p:sp>
        <p:nvSpPr>
          <p:cNvPr id="15" name="TextBox 14"/>
          <p:cNvSpPr txBox="1"/>
          <p:nvPr/>
        </p:nvSpPr>
        <p:spPr>
          <a:xfrm>
            <a:off x="762000" y="2971800"/>
            <a:ext cx="1676400" cy="609600"/>
          </a:xfrm>
          <a:prstGeom prst="rect">
            <a:avLst/>
          </a:prstGeom>
          <a:noFill/>
        </p:spPr>
        <p:txBody>
          <a:bodyPr wrap="square" lIns="0" rIns="0" tIns="0" bIns="0" anchor="t">
            <a:spAutoFit/>
          </a:bodyPr>
          <a:lstStyle/>
          <a:p>
            <a:pPr algn="ctr">
              <a:lnSpc>
                <a:spcPct val="150000"/>
              </a:lnSpc>
            </a:pPr>
            <a:r>
              <a:rPr sz="1500" b="1">
                <a:solidFill>
                  <a:srgbClr val="1A1A1A"/>
                </a:solidFill>
                <a:latin typeface="Noto Sans JP"/>
                <a:ea typeface="Noto Sans JP"/>
                <a:cs typeface="Noto Sans JP"/>
              </a:rPr>
              <a:t>何を満たすか</a:t>
            </a:r>
          </a:p>
        </p:txBody>
      </p:sp>
      <p:sp>
        <p:nvSpPr>
          <p:cNvPr id="16" name="TextBox 15"/>
          <p:cNvSpPr txBox="1"/>
          <p:nvPr/>
        </p:nvSpPr>
        <p:spPr>
          <a:xfrm>
            <a:off x="762000" y="3810000"/>
            <a:ext cx="1676400" cy="609600"/>
          </a:xfrm>
          <a:prstGeom prst="rect">
            <a:avLst/>
          </a:prstGeom>
          <a:noFill/>
        </p:spPr>
        <p:txBody>
          <a:bodyPr wrap="square" lIns="0" rIns="0" tIns="0" bIns="0" anchor="t">
            <a:spAutoFit/>
          </a:bodyPr>
          <a:lstStyle/>
          <a:p>
            <a:pPr algn="ctr">
              <a:lnSpc>
                <a:spcPct val="160000"/>
              </a:lnSpc>
            </a:pPr>
            <a:r>
              <a:rPr sz="1350" b="0">
                <a:solidFill>
                  <a:srgbClr val="4D4D4D"/>
                </a:solidFill>
                <a:latin typeface="Noto Sans JP"/>
                <a:ea typeface="Noto Sans JP"/>
                <a:cs typeface="Noto Sans JP"/>
              </a:rPr>
              <a:t>受け入れ条件</a:t>
            </a:r>
          </a:p>
        </p:txBody>
      </p:sp>
      <p:sp>
        <p:nvSpPr>
          <p:cNvPr id="17" name="Isosceles Triangle 16"/>
          <p:cNvSpPr/>
          <p:nvPr/>
        </p:nvSpPr>
        <p:spPr>
          <a:xfrm rot="5400000">
            <a:off x="2647950" y="3276600"/>
            <a:ext cx="152400" cy="152400"/>
          </a:xfrm>
          <a:prstGeom prst="triangle">
            <a:avLst/>
          </a:prstGeom>
          <a:solidFill>
            <a:srgbClr val="0017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857500" y="2209800"/>
            <a:ext cx="1981200" cy="2438400"/>
          </a:xfrm>
          <a:prstGeom prst="rect">
            <a:avLst/>
          </a:prstGeom>
          <a:solidFill>
            <a:srgbClr val="FFFFFF"/>
          </a:solidFill>
          <a:ln w="9525">
            <a:solidFill>
              <a:srgbClr val="94949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2857500" y="2209800"/>
            <a:ext cx="1981200" cy="495300"/>
          </a:xfrm>
          <a:prstGeom prst="rect">
            <a:avLst/>
          </a:prstGeom>
          <a:solidFill>
            <a:srgbClr val="0017C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2857500" y="2209800"/>
            <a:ext cx="1981200" cy="495300"/>
          </a:xfrm>
          <a:prstGeom prst="rect">
            <a:avLst/>
          </a:prstGeom>
          <a:noFill/>
        </p:spPr>
        <p:txBody>
          <a:bodyPr wrap="square" lIns="0" rIns="0" tIns="0" bIns="0" anchor="ctr">
            <a:spAutoFit/>
          </a:bodyPr>
          <a:lstStyle/>
          <a:p>
            <a:pPr algn="ctr">
              <a:lnSpc>
                <a:spcPct val="150000"/>
              </a:lnSpc>
            </a:pPr>
            <a:r>
              <a:rPr sz="1800" b="1">
                <a:solidFill>
                  <a:srgbClr val="FFFFFF"/>
                </a:solidFill>
                <a:latin typeface="Noto Sans JP"/>
                <a:ea typeface="Noto Sans JP"/>
                <a:cs typeface="Noto Sans JP"/>
              </a:rPr>
              <a:t>2  計画</a:t>
            </a:r>
          </a:p>
        </p:txBody>
      </p:sp>
      <p:sp>
        <p:nvSpPr>
          <p:cNvPr id="21" name="TextBox 20"/>
          <p:cNvSpPr txBox="1"/>
          <p:nvPr/>
        </p:nvSpPr>
        <p:spPr>
          <a:xfrm>
            <a:off x="3009900" y="2971800"/>
            <a:ext cx="1676400" cy="609600"/>
          </a:xfrm>
          <a:prstGeom prst="rect">
            <a:avLst/>
          </a:prstGeom>
          <a:noFill/>
        </p:spPr>
        <p:txBody>
          <a:bodyPr wrap="square" lIns="0" rIns="0" tIns="0" bIns="0" anchor="t">
            <a:spAutoFit/>
          </a:bodyPr>
          <a:lstStyle/>
          <a:p>
            <a:pPr algn="ctr">
              <a:lnSpc>
                <a:spcPct val="150000"/>
              </a:lnSpc>
            </a:pPr>
            <a:r>
              <a:rPr sz="1500" b="1">
                <a:solidFill>
                  <a:srgbClr val="1A1A1A"/>
                </a:solidFill>
                <a:latin typeface="Noto Sans JP"/>
                <a:ea typeface="Noto Sans JP"/>
                <a:cs typeface="Noto Sans JP"/>
              </a:rPr>
              <a:t>どこを変えるか</a:t>
            </a:r>
          </a:p>
        </p:txBody>
      </p:sp>
      <p:sp>
        <p:nvSpPr>
          <p:cNvPr id="22" name="TextBox 21"/>
          <p:cNvSpPr txBox="1"/>
          <p:nvPr/>
        </p:nvSpPr>
        <p:spPr>
          <a:xfrm>
            <a:off x="3009900" y="3810000"/>
            <a:ext cx="1676400" cy="609600"/>
          </a:xfrm>
          <a:prstGeom prst="rect">
            <a:avLst/>
          </a:prstGeom>
          <a:noFill/>
        </p:spPr>
        <p:txBody>
          <a:bodyPr wrap="square" lIns="0" rIns="0" tIns="0" bIns="0" anchor="t">
            <a:spAutoFit/>
          </a:bodyPr>
          <a:lstStyle/>
          <a:p>
            <a:pPr algn="ctr">
              <a:lnSpc>
                <a:spcPct val="160000"/>
              </a:lnSpc>
            </a:pPr>
            <a:r>
              <a:rPr sz="1350" b="0">
                <a:solidFill>
                  <a:srgbClr val="4D4D4D"/>
                </a:solidFill>
                <a:latin typeface="Noto Sans JP"/>
                <a:ea typeface="Noto Sans JP"/>
                <a:cs typeface="Noto Sans JP"/>
              </a:rPr>
              <a:t>対象と変更順</a:t>
            </a:r>
          </a:p>
        </p:txBody>
      </p:sp>
      <p:sp>
        <p:nvSpPr>
          <p:cNvPr id="23" name="Isosceles Triangle 22"/>
          <p:cNvSpPr/>
          <p:nvPr/>
        </p:nvSpPr>
        <p:spPr>
          <a:xfrm rot="5400000">
            <a:off x="4895850" y="3276600"/>
            <a:ext cx="152400" cy="152400"/>
          </a:xfrm>
          <a:prstGeom prst="triangle">
            <a:avLst/>
          </a:prstGeom>
          <a:solidFill>
            <a:srgbClr val="0017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105400" y="2209800"/>
            <a:ext cx="1981200" cy="2438400"/>
          </a:xfrm>
          <a:prstGeom prst="rect">
            <a:avLst/>
          </a:prstGeom>
          <a:solidFill>
            <a:srgbClr val="FFFFFF"/>
          </a:solidFill>
          <a:ln w="9525">
            <a:solidFill>
              <a:srgbClr val="94949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5105400" y="2209800"/>
            <a:ext cx="1981200" cy="495300"/>
          </a:xfrm>
          <a:prstGeom prst="rect">
            <a:avLst/>
          </a:prstGeom>
          <a:solidFill>
            <a:srgbClr val="0017C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5105400" y="2209800"/>
            <a:ext cx="1981200" cy="495300"/>
          </a:xfrm>
          <a:prstGeom prst="rect">
            <a:avLst/>
          </a:prstGeom>
          <a:noFill/>
        </p:spPr>
        <p:txBody>
          <a:bodyPr wrap="square" lIns="0" rIns="0" tIns="0" bIns="0" anchor="ctr">
            <a:spAutoFit/>
          </a:bodyPr>
          <a:lstStyle/>
          <a:p>
            <a:pPr algn="ctr">
              <a:lnSpc>
                <a:spcPct val="150000"/>
              </a:lnSpc>
            </a:pPr>
            <a:r>
              <a:rPr sz="1800" b="1">
                <a:solidFill>
                  <a:srgbClr val="FFFFFF"/>
                </a:solidFill>
                <a:latin typeface="Noto Sans JP"/>
                <a:ea typeface="Noto Sans JP"/>
                <a:cs typeface="Noto Sans JP"/>
              </a:rPr>
              <a:t>3  実装</a:t>
            </a:r>
          </a:p>
        </p:txBody>
      </p:sp>
      <p:sp>
        <p:nvSpPr>
          <p:cNvPr id="27" name="TextBox 26"/>
          <p:cNvSpPr txBox="1"/>
          <p:nvPr/>
        </p:nvSpPr>
        <p:spPr>
          <a:xfrm>
            <a:off x="5257800" y="2971800"/>
            <a:ext cx="1676400" cy="609600"/>
          </a:xfrm>
          <a:prstGeom prst="rect">
            <a:avLst/>
          </a:prstGeom>
          <a:noFill/>
        </p:spPr>
        <p:txBody>
          <a:bodyPr wrap="square" lIns="0" rIns="0" tIns="0" bIns="0" anchor="t">
            <a:spAutoFit/>
          </a:bodyPr>
          <a:lstStyle/>
          <a:p>
            <a:pPr algn="ctr">
              <a:lnSpc>
                <a:spcPct val="150000"/>
              </a:lnSpc>
            </a:pPr>
            <a:r>
              <a:rPr sz="1500" b="1">
                <a:solidFill>
                  <a:srgbClr val="1A1A1A"/>
                </a:solidFill>
                <a:latin typeface="Noto Sans JP"/>
                <a:ea typeface="Noto Sans JP"/>
                <a:cs typeface="Noto Sans JP"/>
              </a:rPr>
              <a:t>小さく変更する</a:t>
            </a:r>
          </a:p>
        </p:txBody>
      </p:sp>
      <p:sp>
        <p:nvSpPr>
          <p:cNvPr id="28" name="TextBox 27"/>
          <p:cNvSpPr txBox="1"/>
          <p:nvPr/>
        </p:nvSpPr>
        <p:spPr>
          <a:xfrm>
            <a:off x="5257800" y="3810000"/>
            <a:ext cx="1676400" cy="609600"/>
          </a:xfrm>
          <a:prstGeom prst="rect">
            <a:avLst/>
          </a:prstGeom>
          <a:noFill/>
        </p:spPr>
        <p:txBody>
          <a:bodyPr wrap="square" lIns="0" rIns="0" tIns="0" bIns="0" anchor="t">
            <a:spAutoFit/>
          </a:bodyPr>
          <a:lstStyle/>
          <a:p>
            <a:pPr algn="ctr">
              <a:lnSpc>
                <a:spcPct val="160000"/>
              </a:lnSpc>
            </a:pPr>
            <a:r>
              <a:rPr sz="1350" b="0">
                <a:solidFill>
                  <a:srgbClr val="4D4D4D"/>
                </a:solidFill>
                <a:latin typeface="Noto Sans JP"/>
                <a:ea typeface="Noto Sans JP"/>
                <a:cs typeface="Noto Sans JP"/>
              </a:rPr>
              <a:t>コードの差分</a:t>
            </a:r>
          </a:p>
        </p:txBody>
      </p:sp>
      <p:sp>
        <p:nvSpPr>
          <p:cNvPr id="29" name="Isosceles Triangle 28"/>
          <p:cNvSpPr/>
          <p:nvPr/>
        </p:nvSpPr>
        <p:spPr>
          <a:xfrm rot="5400000">
            <a:off x="7143750" y="3276600"/>
            <a:ext cx="152400" cy="152400"/>
          </a:xfrm>
          <a:prstGeom prst="triangle">
            <a:avLst/>
          </a:prstGeom>
          <a:solidFill>
            <a:srgbClr val="0017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353300" y="2209800"/>
            <a:ext cx="1981200" cy="2438400"/>
          </a:xfrm>
          <a:prstGeom prst="rect">
            <a:avLst/>
          </a:prstGeom>
          <a:solidFill>
            <a:srgbClr val="FFFFFF"/>
          </a:solidFill>
          <a:ln w="9525">
            <a:solidFill>
              <a:srgbClr val="94949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7353300" y="2209800"/>
            <a:ext cx="1981200" cy="495300"/>
          </a:xfrm>
          <a:prstGeom prst="rect">
            <a:avLst/>
          </a:prstGeom>
          <a:solidFill>
            <a:srgbClr val="0017C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7353300" y="2209800"/>
            <a:ext cx="1981200" cy="495300"/>
          </a:xfrm>
          <a:prstGeom prst="rect">
            <a:avLst/>
          </a:prstGeom>
          <a:noFill/>
        </p:spPr>
        <p:txBody>
          <a:bodyPr wrap="square" lIns="0" rIns="0" tIns="0" bIns="0" anchor="ctr">
            <a:spAutoFit/>
          </a:bodyPr>
          <a:lstStyle/>
          <a:p>
            <a:pPr algn="ctr">
              <a:lnSpc>
                <a:spcPct val="150000"/>
              </a:lnSpc>
            </a:pPr>
            <a:r>
              <a:rPr sz="1800" b="1">
                <a:solidFill>
                  <a:srgbClr val="FFFFFF"/>
                </a:solidFill>
                <a:latin typeface="Noto Sans JP"/>
                <a:ea typeface="Noto Sans JP"/>
                <a:cs typeface="Noto Sans JP"/>
              </a:rPr>
              <a:t>4  検証</a:t>
            </a:r>
          </a:p>
        </p:txBody>
      </p:sp>
      <p:sp>
        <p:nvSpPr>
          <p:cNvPr id="33" name="TextBox 32"/>
          <p:cNvSpPr txBox="1"/>
          <p:nvPr/>
        </p:nvSpPr>
        <p:spPr>
          <a:xfrm>
            <a:off x="7505700" y="2971800"/>
            <a:ext cx="1676400" cy="609600"/>
          </a:xfrm>
          <a:prstGeom prst="rect">
            <a:avLst/>
          </a:prstGeom>
          <a:noFill/>
        </p:spPr>
        <p:txBody>
          <a:bodyPr wrap="square" lIns="0" rIns="0" tIns="0" bIns="0" anchor="t">
            <a:spAutoFit/>
          </a:bodyPr>
          <a:lstStyle/>
          <a:p>
            <a:pPr algn="ctr">
              <a:lnSpc>
                <a:spcPct val="150000"/>
              </a:lnSpc>
            </a:pPr>
            <a:r>
              <a:rPr sz="1500" b="1">
                <a:solidFill>
                  <a:srgbClr val="1A1A1A"/>
                </a:solidFill>
                <a:latin typeface="Noto Sans JP"/>
                <a:ea typeface="Noto Sans JP"/>
                <a:cs typeface="Noto Sans JP"/>
              </a:rPr>
              <a:t>実際に動かす</a:t>
            </a:r>
          </a:p>
        </p:txBody>
      </p:sp>
      <p:sp>
        <p:nvSpPr>
          <p:cNvPr id="34" name="TextBox 33"/>
          <p:cNvSpPr txBox="1"/>
          <p:nvPr/>
        </p:nvSpPr>
        <p:spPr>
          <a:xfrm>
            <a:off x="7505700" y="3810000"/>
            <a:ext cx="1676400" cy="609600"/>
          </a:xfrm>
          <a:prstGeom prst="rect">
            <a:avLst/>
          </a:prstGeom>
          <a:noFill/>
        </p:spPr>
        <p:txBody>
          <a:bodyPr wrap="square" lIns="0" rIns="0" tIns="0" bIns="0" anchor="t">
            <a:spAutoFit/>
          </a:bodyPr>
          <a:lstStyle/>
          <a:p>
            <a:pPr algn="ctr">
              <a:lnSpc>
                <a:spcPct val="160000"/>
              </a:lnSpc>
            </a:pPr>
            <a:r>
              <a:rPr sz="1350" b="0">
                <a:solidFill>
                  <a:srgbClr val="4D4D4D"/>
                </a:solidFill>
                <a:latin typeface="Noto Sans JP"/>
                <a:ea typeface="Noto Sans JP"/>
                <a:cs typeface="Noto Sans JP"/>
              </a:rPr>
              <a:t>実行結果・画面</a:t>
            </a:r>
          </a:p>
        </p:txBody>
      </p:sp>
      <p:sp>
        <p:nvSpPr>
          <p:cNvPr id="35" name="Isosceles Triangle 34"/>
          <p:cNvSpPr/>
          <p:nvPr/>
        </p:nvSpPr>
        <p:spPr>
          <a:xfrm rot="5400000">
            <a:off x="9391650" y="3276600"/>
            <a:ext cx="152400" cy="152400"/>
          </a:xfrm>
          <a:prstGeom prst="triangle">
            <a:avLst/>
          </a:prstGeom>
          <a:solidFill>
            <a:srgbClr val="0017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601200" y="2209800"/>
            <a:ext cx="1981200" cy="2438400"/>
          </a:xfrm>
          <a:prstGeom prst="rect">
            <a:avLst/>
          </a:prstGeom>
          <a:solidFill>
            <a:srgbClr val="FFFFFF"/>
          </a:solidFill>
          <a:ln w="9525">
            <a:solidFill>
              <a:srgbClr val="94949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9601200" y="2209800"/>
            <a:ext cx="1981200" cy="495300"/>
          </a:xfrm>
          <a:prstGeom prst="rect">
            <a:avLst/>
          </a:prstGeom>
          <a:solidFill>
            <a:srgbClr val="0011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9601200" y="2209800"/>
            <a:ext cx="1981200" cy="495300"/>
          </a:xfrm>
          <a:prstGeom prst="rect">
            <a:avLst/>
          </a:prstGeom>
          <a:noFill/>
        </p:spPr>
        <p:txBody>
          <a:bodyPr wrap="square" lIns="0" rIns="0" tIns="0" bIns="0" anchor="ctr">
            <a:spAutoFit/>
          </a:bodyPr>
          <a:lstStyle/>
          <a:p>
            <a:pPr algn="ctr">
              <a:lnSpc>
                <a:spcPct val="150000"/>
              </a:lnSpc>
            </a:pPr>
            <a:r>
              <a:rPr sz="1800" b="1">
                <a:solidFill>
                  <a:srgbClr val="FFFFFF"/>
                </a:solidFill>
                <a:latin typeface="Noto Sans JP"/>
                <a:ea typeface="Noto Sans JP"/>
                <a:cs typeface="Noto Sans JP"/>
              </a:rPr>
              <a:t>5  レビュー</a:t>
            </a:r>
          </a:p>
        </p:txBody>
      </p:sp>
      <p:sp>
        <p:nvSpPr>
          <p:cNvPr id="39" name="TextBox 38"/>
          <p:cNvSpPr txBox="1"/>
          <p:nvPr/>
        </p:nvSpPr>
        <p:spPr>
          <a:xfrm>
            <a:off x="9753600" y="2971800"/>
            <a:ext cx="1676400" cy="609600"/>
          </a:xfrm>
          <a:prstGeom prst="rect">
            <a:avLst/>
          </a:prstGeom>
          <a:noFill/>
        </p:spPr>
        <p:txBody>
          <a:bodyPr wrap="square" lIns="0" rIns="0" tIns="0" bIns="0" anchor="t">
            <a:spAutoFit/>
          </a:bodyPr>
          <a:lstStyle/>
          <a:p>
            <a:pPr algn="ctr">
              <a:lnSpc>
                <a:spcPct val="150000"/>
              </a:lnSpc>
            </a:pPr>
            <a:r>
              <a:rPr sz="1500" b="1">
                <a:solidFill>
                  <a:srgbClr val="1A1A1A"/>
                </a:solidFill>
                <a:latin typeface="Noto Sans JP"/>
                <a:ea typeface="Noto Sans JP"/>
                <a:cs typeface="Noto Sans JP"/>
              </a:rPr>
              <a:t>採用を判断する</a:t>
            </a:r>
          </a:p>
        </p:txBody>
      </p:sp>
      <p:sp>
        <p:nvSpPr>
          <p:cNvPr id="40" name="TextBox 39"/>
          <p:cNvSpPr txBox="1"/>
          <p:nvPr/>
        </p:nvSpPr>
        <p:spPr>
          <a:xfrm>
            <a:off x="9753600" y="3810000"/>
            <a:ext cx="1676400" cy="609600"/>
          </a:xfrm>
          <a:prstGeom prst="rect">
            <a:avLst/>
          </a:prstGeom>
          <a:noFill/>
        </p:spPr>
        <p:txBody>
          <a:bodyPr wrap="square" lIns="0" rIns="0" tIns="0" bIns="0" anchor="t">
            <a:spAutoFit/>
          </a:bodyPr>
          <a:lstStyle/>
          <a:p>
            <a:pPr algn="ctr">
              <a:lnSpc>
                <a:spcPct val="160000"/>
              </a:lnSpc>
            </a:pPr>
            <a:r>
              <a:rPr sz="1350" b="0">
                <a:solidFill>
                  <a:srgbClr val="4D4D4D"/>
                </a:solidFill>
                <a:latin typeface="Noto Sans JP"/>
                <a:ea typeface="Noto Sans JP"/>
                <a:cs typeface="Noto Sans JP"/>
              </a:rPr>
              <a:t>確認済みのPR</a:t>
            </a:r>
          </a:p>
        </p:txBody>
      </p:sp>
      <p:sp>
        <p:nvSpPr>
          <p:cNvPr id="41" name="Rectangle 40"/>
          <p:cNvSpPr/>
          <p:nvPr/>
        </p:nvSpPr>
        <p:spPr>
          <a:xfrm>
            <a:off x="1524000" y="5029200"/>
            <a:ext cx="9067800" cy="19050"/>
          </a:xfrm>
          <a:prstGeom prst="rect">
            <a:avLst/>
          </a:prstGeom>
          <a:solidFill>
            <a:srgbClr val="0017C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Rectangle 41"/>
          <p:cNvSpPr/>
          <p:nvPr/>
        </p:nvSpPr>
        <p:spPr>
          <a:xfrm>
            <a:off x="10582275" y="4648200"/>
            <a:ext cx="19050" cy="400050"/>
          </a:xfrm>
          <a:prstGeom prst="rect">
            <a:avLst/>
          </a:prstGeom>
          <a:solidFill>
            <a:srgbClr val="0017C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Rectangle 42"/>
          <p:cNvSpPr/>
          <p:nvPr/>
        </p:nvSpPr>
        <p:spPr>
          <a:xfrm>
            <a:off x="1514475" y="4838700"/>
            <a:ext cx="19050" cy="209550"/>
          </a:xfrm>
          <a:prstGeom prst="rect">
            <a:avLst/>
          </a:prstGeom>
          <a:solidFill>
            <a:srgbClr val="0017C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Isosceles Triangle 43"/>
          <p:cNvSpPr/>
          <p:nvPr/>
        </p:nvSpPr>
        <p:spPr>
          <a:xfrm>
            <a:off x="1447800" y="4686300"/>
            <a:ext cx="152400" cy="152400"/>
          </a:xfrm>
          <a:prstGeom prst="triangle">
            <a:avLst/>
          </a:prstGeom>
          <a:solidFill>
            <a:srgbClr val="0017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895600" y="5143500"/>
            <a:ext cx="6477000" cy="304800"/>
          </a:xfrm>
          <a:prstGeom prst="rect">
            <a:avLst/>
          </a:prstGeom>
          <a:noFill/>
        </p:spPr>
        <p:txBody>
          <a:bodyPr wrap="square" lIns="0" rIns="0" tIns="0" bIns="0" anchor="t">
            <a:spAutoFit/>
          </a:bodyPr>
          <a:lstStyle/>
          <a:p>
            <a:pPr algn="ctr">
              <a:lnSpc>
                <a:spcPct val="150000"/>
              </a:lnSpc>
            </a:pPr>
            <a:r>
              <a:rPr sz="1500" b="1">
                <a:solidFill>
                  <a:srgbClr val="0017C1"/>
                </a:solidFill>
                <a:latin typeface="Noto Sans JP"/>
                <a:ea typeface="Noto Sans JP"/>
                <a:cs typeface="Noto Sans JP"/>
              </a:rPr>
              <a:t>未達・不明点があれば、必要な工程へ戻る</a:t>
            </a:r>
          </a:p>
        </p:txBody>
      </p:sp>
      <p:sp>
        <p:nvSpPr>
          <p:cNvPr id="46" name="TextBox 45"/>
          <p:cNvSpPr txBox="1"/>
          <p:nvPr/>
        </p:nvSpPr>
        <p:spPr>
          <a:xfrm>
            <a:off x="609600" y="5791200"/>
            <a:ext cx="10972800" cy="304800"/>
          </a:xfrm>
          <a:prstGeom prst="rect">
            <a:avLst/>
          </a:prstGeom>
          <a:noFill/>
        </p:spPr>
        <p:txBody>
          <a:bodyPr wrap="square" lIns="0" rIns="0" tIns="0" bIns="0" anchor="t">
            <a:spAutoFit/>
          </a:bodyPr>
          <a:lstStyle/>
          <a:p>
            <a:pPr algn="l">
              <a:lnSpc>
                <a:spcPct val="160000"/>
              </a:lnSpc>
            </a:pPr>
            <a:r>
              <a:rPr sz="1350" b="0">
                <a:solidFill>
                  <a:srgbClr val="4D4D4D"/>
                </a:solidFill>
                <a:latin typeface="Noto Sans JP"/>
                <a:ea typeface="Noto Sans JP"/>
                <a:cs typeface="Noto Sans JP"/>
              </a:rPr>
              <a:t>PR（プルリクエスト）：変更内容を共有し、レビューして取り込むための単位。</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609600" y="495300"/>
            <a:ext cx="57150" cy="228600"/>
          </a:xfrm>
          <a:prstGeom prst="rect">
            <a:avLst/>
          </a:prstGeom>
          <a:solidFill>
            <a:srgbClr val="0017C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62000" y="495300"/>
            <a:ext cx="9334500" cy="228600"/>
          </a:xfrm>
          <a:prstGeom prst="rect">
            <a:avLst/>
          </a:prstGeom>
          <a:noFill/>
        </p:spPr>
        <p:txBody>
          <a:bodyPr wrap="square" lIns="0" rIns="0" tIns="0" bIns="0" anchor="ctr">
            <a:spAutoFit/>
          </a:bodyPr>
          <a:lstStyle/>
          <a:p>
            <a:pPr algn="l">
              <a:lnSpc>
                <a:spcPct val="100000"/>
              </a:lnSpc>
            </a:pPr>
            <a:r>
              <a:rPr sz="1050" b="1">
                <a:solidFill>
                  <a:srgbClr val="0017C1"/>
                </a:solidFill>
                <a:latin typeface="Noto Sans JP"/>
                <a:ea typeface="Noto Sans JP"/>
                <a:cs typeface="Noto Sans JP"/>
              </a:rPr>
              <a:t>02 / 依頼する</a:t>
            </a:r>
          </a:p>
        </p:txBody>
      </p:sp>
      <p:sp>
        <p:nvSpPr>
          <p:cNvPr id="5" name="TextBox 4"/>
          <p:cNvSpPr txBox="1"/>
          <p:nvPr/>
        </p:nvSpPr>
        <p:spPr>
          <a:xfrm>
            <a:off x="609600" y="800100"/>
            <a:ext cx="10972800" cy="457200"/>
          </a:xfrm>
          <a:prstGeom prst="rect">
            <a:avLst/>
          </a:prstGeom>
          <a:noFill/>
        </p:spPr>
        <p:txBody>
          <a:bodyPr wrap="square" lIns="0" rIns="0" tIns="0" bIns="0" anchor="t">
            <a:spAutoFit/>
          </a:bodyPr>
          <a:lstStyle/>
          <a:p>
            <a:pPr algn="l">
              <a:lnSpc>
                <a:spcPct val="150000"/>
              </a:lnSpc>
            </a:pPr>
            <a:r>
              <a:rPr sz="2400" b="1">
                <a:solidFill>
                  <a:srgbClr val="1A1A1A"/>
                </a:solidFill>
                <a:latin typeface="Noto Sans JP"/>
                <a:ea typeface="Noto Sans JP"/>
                <a:cs typeface="Noto Sans JP"/>
              </a:rPr>
              <a:t>使い方に合わせて、実行できる範囲を決める</a:t>
            </a:r>
          </a:p>
        </p:txBody>
      </p:sp>
      <p:sp>
        <p:nvSpPr>
          <p:cNvPr id="6" name="Rectangle 5"/>
          <p:cNvSpPr/>
          <p:nvPr/>
        </p:nvSpPr>
        <p:spPr>
          <a:xfrm>
            <a:off x="609600" y="1333500"/>
            <a:ext cx="10972800" cy="19050"/>
          </a:xfrm>
          <a:prstGeom prst="rect">
            <a:avLst/>
          </a:prstGeom>
          <a:solidFill>
            <a:srgbClr val="9494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09600" y="1447800"/>
            <a:ext cx="10972800" cy="304800"/>
          </a:xfrm>
          <a:prstGeom prst="rect">
            <a:avLst/>
          </a:prstGeom>
          <a:noFill/>
        </p:spPr>
        <p:txBody>
          <a:bodyPr wrap="square" lIns="0" rIns="0" tIns="0" bIns="0" anchor="t">
            <a:spAutoFit/>
          </a:bodyPr>
          <a:lstStyle/>
          <a:p>
            <a:pPr algn="l">
              <a:lnSpc>
                <a:spcPct val="160000"/>
              </a:lnSpc>
            </a:pPr>
            <a:r>
              <a:rPr sz="1350" b="0">
                <a:solidFill>
                  <a:srgbClr val="4D4D4D"/>
                </a:solidFill>
                <a:latin typeface="Noto Sans JP"/>
                <a:ea typeface="Noto Sans JP"/>
                <a:cs typeface="Noto Sans JP"/>
              </a:rPr>
              <a:t>組織で利用できるツールを選び、編集・コマンド実行・外部接続の範囲を確認する。</a:t>
            </a:r>
          </a:p>
        </p:txBody>
      </p:sp>
      <p:sp>
        <p:nvSpPr>
          <p:cNvPr id="8" name="Rectangle 7"/>
          <p:cNvSpPr/>
          <p:nvPr/>
        </p:nvSpPr>
        <p:spPr>
          <a:xfrm>
            <a:off x="609600" y="6286500"/>
            <a:ext cx="10972800" cy="9525"/>
          </a:xfrm>
          <a:prstGeom prst="rect">
            <a:avLst/>
          </a:prstGeom>
          <a:solidFill>
            <a:srgbClr val="B3B3B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09600" y="6419850"/>
            <a:ext cx="4191000" cy="190500"/>
          </a:xfrm>
          <a:prstGeom prst="rect">
            <a:avLst/>
          </a:prstGeom>
          <a:noFill/>
        </p:spPr>
        <p:txBody>
          <a:bodyPr wrap="square" lIns="0" rIns="0" tIns="0" bIns="0" anchor="t">
            <a:spAutoFit/>
          </a:bodyPr>
          <a:lstStyle/>
          <a:p>
            <a:pPr algn="l">
              <a:lnSpc>
                <a:spcPct val="130000"/>
              </a:lnSpc>
            </a:pPr>
            <a:r>
              <a:rPr sz="1050" b="0">
                <a:solidFill>
                  <a:srgbClr val="767676"/>
                </a:solidFill>
                <a:latin typeface="Noto Sans JP"/>
                <a:ea typeface="Noto Sans JP"/>
                <a:cs typeface="Noto Sans JP"/>
              </a:rPr>
              <a:t>AI駆動開発ガイド</a:t>
            </a:r>
          </a:p>
        </p:txBody>
      </p:sp>
      <p:sp>
        <p:nvSpPr>
          <p:cNvPr id="10" name="TextBox 9"/>
          <p:cNvSpPr txBox="1"/>
          <p:nvPr/>
        </p:nvSpPr>
        <p:spPr>
          <a:xfrm>
            <a:off x="4953000" y="6419850"/>
            <a:ext cx="5334000" cy="190500"/>
          </a:xfrm>
          <a:prstGeom prst="rect">
            <a:avLst/>
          </a:prstGeom>
          <a:noFill/>
        </p:spPr>
        <p:txBody>
          <a:bodyPr wrap="square" lIns="0" rIns="0" tIns="0" bIns="0" anchor="t">
            <a:spAutoFit/>
          </a:bodyPr>
          <a:lstStyle/>
          <a:p>
            <a:pPr algn="r">
              <a:lnSpc>
                <a:spcPct val="130000"/>
              </a:lnSpc>
            </a:pPr>
            <a:r>
              <a:rPr sz="1050" b="0">
                <a:solidFill>
                  <a:srgbClr val="767676"/>
                </a:solidFill>
                <a:latin typeface="Noto Sans JP"/>
                <a:ea typeface="Noto Sans JP"/>
                <a:cs typeface="Noto Sans JP"/>
              </a:rPr>
              <a:t>参考 [2] [4] ｜出典は p.20</a:t>
            </a:r>
          </a:p>
        </p:txBody>
      </p:sp>
      <p:sp>
        <p:nvSpPr>
          <p:cNvPr id="11" name="TextBox 10"/>
          <p:cNvSpPr txBox="1"/>
          <p:nvPr/>
        </p:nvSpPr>
        <p:spPr>
          <a:xfrm>
            <a:off x="10668000" y="6419850"/>
            <a:ext cx="914400" cy="190500"/>
          </a:xfrm>
          <a:prstGeom prst="rect">
            <a:avLst/>
          </a:prstGeom>
          <a:noFill/>
        </p:spPr>
        <p:txBody>
          <a:bodyPr wrap="square" lIns="0" rIns="0" tIns="0" bIns="0" anchor="t">
            <a:spAutoFit/>
          </a:bodyPr>
          <a:lstStyle/>
          <a:p>
            <a:pPr algn="r">
              <a:lnSpc>
                <a:spcPct val="130000"/>
              </a:lnSpc>
            </a:pPr>
            <a:r>
              <a:rPr sz="1050" b="1">
                <a:solidFill>
                  <a:srgbClr val="767676"/>
                </a:solidFill>
                <a:latin typeface="Noto Sans JP"/>
                <a:ea typeface="Noto Sans JP"/>
                <a:cs typeface="Noto Sans JP"/>
              </a:rPr>
              <a:t>06 / 20</a:t>
            </a:r>
          </a:p>
        </p:txBody>
      </p:sp>
      <p:sp>
        <p:nvSpPr>
          <p:cNvPr id="12" name="Rectangle 11"/>
          <p:cNvSpPr/>
          <p:nvPr/>
        </p:nvSpPr>
        <p:spPr>
          <a:xfrm>
            <a:off x="609600" y="1981200"/>
            <a:ext cx="3505200" cy="3009900"/>
          </a:xfrm>
          <a:prstGeom prst="rect">
            <a:avLst/>
          </a:prstGeom>
          <a:solidFill>
            <a:srgbClr val="FFFFFF"/>
          </a:solidFill>
          <a:ln w="9525">
            <a:solidFill>
              <a:srgbClr val="94949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38200" y="2209800"/>
            <a:ext cx="3048000" cy="457200"/>
          </a:xfrm>
          <a:prstGeom prst="rect">
            <a:avLst/>
          </a:prstGeom>
          <a:noFill/>
        </p:spPr>
        <p:txBody>
          <a:bodyPr wrap="square" lIns="0" rIns="0" tIns="0" bIns="0" anchor="t">
            <a:spAutoFit/>
          </a:bodyPr>
          <a:lstStyle/>
          <a:p>
            <a:pPr algn="l">
              <a:lnSpc>
                <a:spcPct val="150000"/>
              </a:lnSpc>
            </a:pPr>
            <a:r>
              <a:rPr sz="2100" b="1">
                <a:solidFill>
                  <a:srgbClr val="0017C1"/>
                </a:solidFill>
                <a:latin typeface="Noto Sans JP"/>
                <a:ea typeface="Noto Sans JP"/>
                <a:cs typeface="Noto Sans JP"/>
              </a:rPr>
              <a:t>補完</a:t>
            </a:r>
          </a:p>
        </p:txBody>
      </p:sp>
      <p:sp>
        <p:nvSpPr>
          <p:cNvPr id="14" name="TextBox 13"/>
          <p:cNvSpPr txBox="1"/>
          <p:nvPr/>
        </p:nvSpPr>
        <p:spPr>
          <a:xfrm>
            <a:off x="838200" y="2857500"/>
            <a:ext cx="3048000" cy="647700"/>
          </a:xfrm>
          <a:prstGeom prst="rect">
            <a:avLst/>
          </a:prstGeom>
          <a:noFill/>
        </p:spPr>
        <p:txBody>
          <a:bodyPr wrap="square" lIns="0" rIns="0" tIns="0" bIns="0" anchor="t">
            <a:spAutoFit/>
          </a:bodyPr>
          <a:lstStyle/>
          <a:p>
            <a:pPr algn="l">
              <a:lnSpc>
                <a:spcPct val="150000"/>
              </a:lnSpc>
            </a:pPr>
            <a:r>
              <a:rPr sz="1650" b="1">
                <a:solidFill>
                  <a:srgbClr val="1A1A1A"/>
                </a:solidFill>
                <a:latin typeface="Noto Sans JP"/>
                <a:ea typeface="Noto Sans JP"/>
                <a:cs typeface="Noto Sans JP"/>
              </a:rPr>
              <a:t>書いている箇所の</a:t>
            </a:r>
          </a:p>
          <a:p>
            <a:pPr algn="l">
              <a:lnSpc>
                <a:spcPct val="150000"/>
              </a:lnSpc>
            </a:pPr>
            <a:r>
              <a:rPr sz="1650" b="1">
                <a:solidFill>
                  <a:srgbClr val="1A1A1A"/>
                </a:solidFill>
                <a:latin typeface="Noto Sans JP"/>
                <a:ea typeface="Noto Sans JP"/>
                <a:cs typeface="Noto Sans JP"/>
              </a:rPr>
              <a:t>候補を得る</a:t>
            </a:r>
          </a:p>
        </p:txBody>
      </p:sp>
      <p:sp>
        <p:nvSpPr>
          <p:cNvPr id="15" name="Rectangle 14"/>
          <p:cNvSpPr/>
          <p:nvPr/>
        </p:nvSpPr>
        <p:spPr>
          <a:xfrm>
            <a:off x="838200" y="3733800"/>
            <a:ext cx="3048000" cy="9525"/>
          </a:xfrm>
          <a:prstGeom prst="rect">
            <a:avLst/>
          </a:prstGeom>
          <a:solidFill>
            <a:srgbClr val="9494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838200" y="3924300"/>
            <a:ext cx="3048000" cy="838200"/>
          </a:xfrm>
          <a:prstGeom prst="rect">
            <a:avLst/>
          </a:prstGeom>
          <a:noFill/>
        </p:spPr>
        <p:txBody>
          <a:bodyPr wrap="square" lIns="0" rIns="0" tIns="0" bIns="0" anchor="t">
            <a:spAutoFit/>
          </a:bodyPr>
          <a:lstStyle/>
          <a:p>
            <a:pPr algn="l">
              <a:lnSpc>
                <a:spcPct val="150000"/>
              </a:lnSpc>
            </a:pPr>
            <a:r>
              <a:rPr sz="1500" b="0">
                <a:solidFill>
                  <a:srgbClr val="4D4D4D"/>
                </a:solidFill>
                <a:latin typeface="Noto Sans JP"/>
                <a:ea typeface="Noto Sans JP"/>
                <a:cs typeface="Noto Sans JP"/>
              </a:rPr>
              <a:t>候補の採用前に</a:t>
            </a:r>
          </a:p>
          <a:p>
            <a:pPr algn="l">
              <a:lnSpc>
                <a:spcPct val="150000"/>
              </a:lnSpc>
            </a:pPr>
            <a:r>
              <a:rPr sz="1500" b="0">
                <a:solidFill>
                  <a:srgbClr val="4D4D4D"/>
                </a:solidFill>
                <a:latin typeface="Noto Sans JP"/>
                <a:ea typeface="Noto Sans JP"/>
                <a:cs typeface="Noto Sans JP"/>
              </a:rPr>
              <a:t>挙動と依存関係を読む</a:t>
            </a:r>
          </a:p>
        </p:txBody>
      </p:sp>
      <p:sp>
        <p:nvSpPr>
          <p:cNvPr id="17" name="Rectangle 16"/>
          <p:cNvSpPr/>
          <p:nvPr/>
        </p:nvSpPr>
        <p:spPr>
          <a:xfrm>
            <a:off x="4343400" y="1981200"/>
            <a:ext cx="3505200" cy="3009900"/>
          </a:xfrm>
          <a:prstGeom prst="rect">
            <a:avLst/>
          </a:prstGeom>
          <a:solidFill>
            <a:srgbClr val="FFFFFF"/>
          </a:solidFill>
          <a:ln w="9525">
            <a:solidFill>
              <a:srgbClr val="94949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4572000" y="2209800"/>
            <a:ext cx="3048000" cy="457200"/>
          </a:xfrm>
          <a:prstGeom prst="rect">
            <a:avLst/>
          </a:prstGeom>
          <a:noFill/>
        </p:spPr>
        <p:txBody>
          <a:bodyPr wrap="square" lIns="0" rIns="0" tIns="0" bIns="0" anchor="t">
            <a:spAutoFit/>
          </a:bodyPr>
          <a:lstStyle/>
          <a:p>
            <a:pPr algn="l">
              <a:lnSpc>
                <a:spcPct val="150000"/>
              </a:lnSpc>
            </a:pPr>
            <a:r>
              <a:rPr sz="2100" b="1">
                <a:solidFill>
                  <a:srgbClr val="0017C1"/>
                </a:solidFill>
                <a:latin typeface="Noto Sans JP"/>
                <a:ea typeface="Noto Sans JP"/>
                <a:cs typeface="Noto Sans JP"/>
              </a:rPr>
              <a:t>対話</a:t>
            </a:r>
          </a:p>
        </p:txBody>
      </p:sp>
      <p:sp>
        <p:nvSpPr>
          <p:cNvPr id="19" name="TextBox 18"/>
          <p:cNvSpPr txBox="1"/>
          <p:nvPr/>
        </p:nvSpPr>
        <p:spPr>
          <a:xfrm>
            <a:off x="4572000" y="2857500"/>
            <a:ext cx="3048000" cy="647700"/>
          </a:xfrm>
          <a:prstGeom prst="rect">
            <a:avLst/>
          </a:prstGeom>
          <a:noFill/>
        </p:spPr>
        <p:txBody>
          <a:bodyPr wrap="square" lIns="0" rIns="0" tIns="0" bIns="0" anchor="t">
            <a:spAutoFit/>
          </a:bodyPr>
          <a:lstStyle/>
          <a:p>
            <a:pPr algn="l">
              <a:lnSpc>
                <a:spcPct val="150000"/>
              </a:lnSpc>
            </a:pPr>
            <a:r>
              <a:rPr sz="1650" b="1">
                <a:solidFill>
                  <a:srgbClr val="1A1A1A"/>
                </a:solidFill>
                <a:latin typeface="Noto Sans JP"/>
                <a:ea typeface="Noto Sans JP"/>
                <a:cs typeface="Noto Sans JP"/>
              </a:rPr>
              <a:t>仕様・設計の相談や</a:t>
            </a:r>
          </a:p>
          <a:p>
            <a:pPr algn="l">
              <a:lnSpc>
                <a:spcPct val="150000"/>
              </a:lnSpc>
            </a:pPr>
            <a:r>
              <a:rPr sz="1650" b="1">
                <a:solidFill>
                  <a:srgbClr val="1A1A1A"/>
                </a:solidFill>
                <a:latin typeface="Noto Sans JP"/>
                <a:ea typeface="Noto Sans JP"/>
                <a:cs typeface="Noto Sans JP"/>
              </a:rPr>
              <a:t>コードの説明を得る</a:t>
            </a:r>
          </a:p>
        </p:txBody>
      </p:sp>
      <p:sp>
        <p:nvSpPr>
          <p:cNvPr id="20" name="Rectangle 19"/>
          <p:cNvSpPr/>
          <p:nvPr/>
        </p:nvSpPr>
        <p:spPr>
          <a:xfrm>
            <a:off x="4572000" y="3733800"/>
            <a:ext cx="3048000" cy="9525"/>
          </a:xfrm>
          <a:prstGeom prst="rect">
            <a:avLst/>
          </a:prstGeom>
          <a:solidFill>
            <a:srgbClr val="9494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4572000" y="3924300"/>
            <a:ext cx="3048000" cy="838200"/>
          </a:xfrm>
          <a:prstGeom prst="rect">
            <a:avLst/>
          </a:prstGeom>
          <a:noFill/>
        </p:spPr>
        <p:txBody>
          <a:bodyPr wrap="square" lIns="0" rIns="0" tIns="0" bIns="0" anchor="t">
            <a:spAutoFit/>
          </a:bodyPr>
          <a:lstStyle/>
          <a:p>
            <a:pPr algn="l">
              <a:lnSpc>
                <a:spcPct val="150000"/>
              </a:lnSpc>
            </a:pPr>
            <a:r>
              <a:rPr sz="1500" b="0">
                <a:solidFill>
                  <a:srgbClr val="4D4D4D"/>
                </a:solidFill>
                <a:latin typeface="Noto Sans JP"/>
                <a:ea typeface="Noto Sans JP"/>
                <a:cs typeface="Noto Sans JP"/>
              </a:rPr>
              <a:t>回答の参照元と</a:t>
            </a:r>
          </a:p>
          <a:p>
            <a:pPr algn="l">
              <a:lnSpc>
                <a:spcPct val="150000"/>
              </a:lnSpc>
            </a:pPr>
            <a:r>
              <a:rPr sz="1500" b="0">
                <a:solidFill>
                  <a:srgbClr val="4D4D4D"/>
                </a:solidFill>
                <a:latin typeface="Noto Sans JP"/>
                <a:ea typeface="Noto Sans JP"/>
                <a:cs typeface="Noto Sans JP"/>
              </a:rPr>
              <a:t>前提条件を確認する</a:t>
            </a:r>
          </a:p>
        </p:txBody>
      </p:sp>
      <p:sp>
        <p:nvSpPr>
          <p:cNvPr id="22" name="Rectangle 21"/>
          <p:cNvSpPr/>
          <p:nvPr/>
        </p:nvSpPr>
        <p:spPr>
          <a:xfrm>
            <a:off x="8077200" y="1981200"/>
            <a:ext cx="3505200" cy="3009900"/>
          </a:xfrm>
          <a:prstGeom prst="rect">
            <a:avLst/>
          </a:prstGeom>
          <a:solidFill>
            <a:srgbClr val="FFFFFF"/>
          </a:solidFill>
          <a:ln w="9525">
            <a:solidFill>
              <a:srgbClr val="94949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8305800" y="2209800"/>
            <a:ext cx="3048000" cy="457200"/>
          </a:xfrm>
          <a:prstGeom prst="rect">
            <a:avLst/>
          </a:prstGeom>
          <a:noFill/>
        </p:spPr>
        <p:txBody>
          <a:bodyPr wrap="square" lIns="0" rIns="0" tIns="0" bIns="0" anchor="t">
            <a:spAutoFit/>
          </a:bodyPr>
          <a:lstStyle/>
          <a:p>
            <a:pPr algn="l">
              <a:lnSpc>
                <a:spcPct val="150000"/>
              </a:lnSpc>
            </a:pPr>
            <a:r>
              <a:rPr sz="2100" b="1">
                <a:solidFill>
                  <a:srgbClr val="0017C1"/>
                </a:solidFill>
                <a:latin typeface="Noto Sans JP"/>
                <a:ea typeface="Noto Sans JP"/>
                <a:cs typeface="Noto Sans JP"/>
              </a:rPr>
              <a:t>エージェント</a:t>
            </a:r>
          </a:p>
        </p:txBody>
      </p:sp>
      <p:sp>
        <p:nvSpPr>
          <p:cNvPr id="24" name="TextBox 23"/>
          <p:cNvSpPr txBox="1"/>
          <p:nvPr/>
        </p:nvSpPr>
        <p:spPr>
          <a:xfrm>
            <a:off x="8305800" y="2857500"/>
            <a:ext cx="3048000" cy="647700"/>
          </a:xfrm>
          <a:prstGeom prst="rect">
            <a:avLst/>
          </a:prstGeom>
          <a:noFill/>
        </p:spPr>
        <p:txBody>
          <a:bodyPr wrap="square" lIns="0" rIns="0" tIns="0" bIns="0" anchor="t">
            <a:spAutoFit/>
          </a:bodyPr>
          <a:lstStyle/>
          <a:p>
            <a:pPr algn="l">
              <a:lnSpc>
                <a:spcPct val="150000"/>
              </a:lnSpc>
            </a:pPr>
            <a:r>
              <a:rPr sz="1650" b="1">
                <a:solidFill>
                  <a:srgbClr val="1A1A1A"/>
                </a:solidFill>
                <a:latin typeface="Noto Sans JP"/>
                <a:ea typeface="Noto Sans JP"/>
                <a:cs typeface="Noto Sans JP"/>
              </a:rPr>
              <a:t>複数ファイルの変更や</a:t>
            </a:r>
          </a:p>
          <a:p>
            <a:pPr algn="l">
              <a:lnSpc>
                <a:spcPct val="150000"/>
              </a:lnSpc>
            </a:pPr>
            <a:r>
              <a:rPr sz="1650" b="1">
                <a:solidFill>
                  <a:srgbClr val="1A1A1A"/>
                </a:solidFill>
                <a:latin typeface="Noto Sans JP"/>
                <a:ea typeface="Noto Sans JP"/>
                <a:cs typeface="Noto Sans JP"/>
              </a:rPr>
              <a:t>テスト実行を任せる</a:t>
            </a:r>
          </a:p>
        </p:txBody>
      </p:sp>
      <p:sp>
        <p:nvSpPr>
          <p:cNvPr id="25" name="Rectangle 24"/>
          <p:cNvSpPr/>
          <p:nvPr/>
        </p:nvSpPr>
        <p:spPr>
          <a:xfrm>
            <a:off x="8305800" y="3733800"/>
            <a:ext cx="3048000" cy="9525"/>
          </a:xfrm>
          <a:prstGeom prst="rect">
            <a:avLst/>
          </a:prstGeom>
          <a:solidFill>
            <a:srgbClr val="9494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8305800" y="3924300"/>
            <a:ext cx="3048000" cy="838200"/>
          </a:xfrm>
          <a:prstGeom prst="rect">
            <a:avLst/>
          </a:prstGeom>
          <a:noFill/>
        </p:spPr>
        <p:txBody>
          <a:bodyPr wrap="square" lIns="0" rIns="0" tIns="0" bIns="0" anchor="t">
            <a:spAutoFit/>
          </a:bodyPr>
          <a:lstStyle/>
          <a:p>
            <a:pPr algn="l">
              <a:lnSpc>
                <a:spcPct val="150000"/>
              </a:lnSpc>
            </a:pPr>
            <a:r>
              <a:rPr sz="1500" b="0">
                <a:solidFill>
                  <a:srgbClr val="4D4D4D"/>
                </a:solidFill>
                <a:latin typeface="Noto Sans JP"/>
                <a:ea typeface="Noto Sans JP"/>
                <a:cs typeface="Noto Sans JP"/>
              </a:rPr>
              <a:t>編集範囲・実行権限・</a:t>
            </a:r>
          </a:p>
          <a:p>
            <a:pPr algn="l">
              <a:lnSpc>
                <a:spcPct val="150000"/>
              </a:lnSpc>
            </a:pPr>
            <a:r>
              <a:rPr sz="1500" b="0">
                <a:solidFill>
                  <a:srgbClr val="4D4D4D"/>
                </a:solidFill>
                <a:latin typeface="Noto Sans JP"/>
                <a:ea typeface="Noto Sans JP"/>
                <a:cs typeface="Noto Sans JP"/>
              </a:rPr>
              <a:t>外部接続を制御する</a:t>
            </a:r>
          </a:p>
        </p:txBody>
      </p:sp>
      <p:sp>
        <p:nvSpPr>
          <p:cNvPr id="27" name="Rectangle 26"/>
          <p:cNvSpPr/>
          <p:nvPr/>
        </p:nvSpPr>
        <p:spPr>
          <a:xfrm>
            <a:off x="609600" y="5295900"/>
            <a:ext cx="10972800" cy="762000"/>
          </a:xfrm>
          <a:prstGeom prst="rect">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838200" y="5295900"/>
            <a:ext cx="10515600" cy="762000"/>
          </a:xfrm>
          <a:prstGeom prst="rect">
            <a:avLst/>
          </a:prstGeom>
          <a:noFill/>
        </p:spPr>
        <p:txBody>
          <a:bodyPr wrap="square" lIns="0" rIns="0" tIns="0" bIns="0" anchor="ctr">
            <a:spAutoFit/>
          </a:bodyPr>
          <a:lstStyle/>
          <a:p>
            <a:pPr algn="l">
              <a:lnSpc>
                <a:spcPct val="150000"/>
              </a:lnSpc>
            </a:pPr>
            <a:r>
              <a:rPr sz="1500" b="1">
                <a:solidFill>
                  <a:srgbClr val="00118F"/>
                </a:solidFill>
                <a:latin typeface="Noto Sans JP"/>
                <a:ea typeface="Noto Sans JP"/>
                <a:cs typeface="Noto Sans JP"/>
              </a:rPr>
              <a:t>開始前に、作業ブランチ・テスト環境・既存テストの結果をそろえる。</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609600" y="495300"/>
            <a:ext cx="57150" cy="228600"/>
          </a:xfrm>
          <a:prstGeom prst="rect">
            <a:avLst/>
          </a:prstGeom>
          <a:solidFill>
            <a:srgbClr val="0017C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62000" y="495300"/>
            <a:ext cx="9334500" cy="228600"/>
          </a:xfrm>
          <a:prstGeom prst="rect">
            <a:avLst/>
          </a:prstGeom>
          <a:noFill/>
        </p:spPr>
        <p:txBody>
          <a:bodyPr wrap="square" lIns="0" rIns="0" tIns="0" bIns="0" anchor="ctr">
            <a:spAutoFit/>
          </a:bodyPr>
          <a:lstStyle/>
          <a:p>
            <a:pPr algn="l">
              <a:lnSpc>
                <a:spcPct val="100000"/>
              </a:lnSpc>
            </a:pPr>
            <a:r>
              <a:rPr sz="1050" b="1">
                <a:solidFill>
                  <a:srgbClr val="0017C1"/>
                </a:solidFill>
                <a:latin typeface="Noto Sans JP"/>
                <a:ea typeface="Noto Sans JP"/>
                <a:cs typeface="Noto Sans JP"/>
              </a:rPr>
              <a:t>02 / 依頼する</a:t>
            </a:r>
          </a:p>
        </p:txBody>
      </p:sp>
      <p:sp>
        <p:nvSpPr>
          <p:cNvPr id="5" name="TextBox 4"/>
          <p:cNvSpPr txBox="1"/>
          <p:nvPr/>
        </p:nvSpPr>
        <p:spPr>
          <a:xfrm>
            <a:off x="609600" y="800100"/>
            <a:ext cx="10972800" cy="457200"/>
          </a:xfrm>
          <a:prstGeom prst="rect">
            <a:avLst/>
          </a:prstGeom>
          <a:noFill/>
        </p:spPr>
        <p:txBody>
          <a:bodyPr wrap="square" lIns="0" rIns="0" tIns="0" bIns="0" anchor="t">
            <a:spAutoFit/>
          </a:bodyPr>
          <a:lstStyle/>
          <a:p>
            <a:pPr algn="l">
              <a:lnSpc>
                <a:spcPct val="150000"/>
              </a:lnSpc>
            </a:pPr>
            <a:r>
              <a:rPr sz="2400" b="1">
                <a:solidFill>
                  <a:srgbClr val="1A1A1A"/>
                </a:solidFill>
                <a:latin typeface="Noto Sans JP"/>
                <a:ea typeface="Noto Sans JP"/>
                <a:cs typeface="Noto Sans JP"/>
              </a:rPr>
              <a:t>必要な情報を、参照先と優先順位で渡す</a:t>
            </a:r>
          </a:p>
        </p:txBody>
      </p:sp>
      <p:sp>
        <p:nvSpPr>
          <p:cNvPr id="6" name="Rectangle 5"/>
          <p:cNvSpPr/>
          <p:nvPr/>
        </p:nvSpPr>
        <p:spPr>
          <a:xfrm>
            <a:off x="609600" y="1333500"/>
            <a:ext cx="10972800" cy="19050"/>
          </a:xfrm>
          <a:prstGeom prst="rect">
            <a:avLst/>
          </a:prstGeom>
          <a:solidFill>
            <a:srgbClr val="9494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09600" y="1447800"/>
            <a:ext cx="10972800" cy="304800"/>
          </a:xfrm>
          <a:prstGeom prst="rect">
            <a:avLst/>
          </a:prstGeom>
          <a:noFill/>
        </p:spPr>
        <p:txBody>
          <a:bodyPr wrap="square" lIns="0" rIns="0" tIns="0" bIns="0" anchor="t">
            <a:spAutoFit/>
          </a:bodyPr>
          <a:lstStyle/>
          <a:p>
            <a:pPr algn="l">
              <a:lnSpc>
                <a:spcPct val="160000"/>
              </a:lnSpc>
            </a:pPr>
            <a:r>
              <a:rPr sz="1350" b="0">
                <a:solidFill>
                  <a:srgbClr val="4D4D4D"/>
                </a:solidFill>
                <a:latin typeface="Noto Sans JP"/>
                <a:ea typeface="Noto Sans JP"/>
                <a:cs typeface="Noto Sans JP"/>
              </a:rPr>
              <a:t>判断に使う仕様、対象ファイル、実行方法を短くそろえる。</a:t>
            </a:r>
          </a:p>
        </p:txBody>
      </p:sp>
      <p:sp>
        <p:nvSpPr>
          <p:cNvPr id="8" name="Rectangle 7"/>
          <p:cNvSpPr/>
          <p:nvPr/>
        </p:nvSpPr>
        <p:spPr>
          <a:xfrm>
            <a:off x="609600" y="6286500"/>
            <a:ext cx="10972800" cy="9525"/>
          </a:xfrm>
          <a:prstGeom prst="rect">
            <a:avLst/>
          </a:prstGeom>
          <a:solidFill>
            <a:srgbClr val="B3B3B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09600" y="6419850"/>
            <a:ext cx="4191000" cy="190500"/>
          </a:xfrm>
          <a:prstGeom prst="rect">
            <a:avLst/>
          </a:prstGeom>
          <a:noFill/>
        </p:spPr>
        <p:txBody>
          <a:bodyPr wrap="square" lIns="0" rIns="0" tIns="0" bIns="0" anchor="t">
            <a:spAutoFit/>
          </a:bodyPr>
          <a:lstStyle/>
          <a:p>
            <a:pPr algn="l">
              <a:lnSpc>
                <a:spcPct val="130000"/>
              </a:lnSpc>
            </a:pPr>
            <a:r>
              <a:rPr sz="1050" b="0">
                <a:solidFill>
                  <a:srgbClr val="767676"/>
                </a:solidFill>
                <a:latin typeface="Noto Sans JP"/>
                <a:ea typeface="Noto Sans JP"/>
                <a:cs typeface="Noto Sans JP"/>
              </a:rPr>
              <a:t>AI駆動開発ガイド</a:t>
            </a:r>
          </a:p>
        </p:txBody>
      </p:sp>
      <p:sp>
        <p:nvSpPr>
          <p:cNvPr id="10" name="TextBox 9"/>
          <p:cNvSpPr txBox="1"/>
          <p:nvPr/>
        </p:nvSpPr>
        <p:spPr>
          <a:xfrm>
            <a:off x="4953000" y="6419850"/>
            <a:ext cx="5334000" cy="190500"/>
          </a:xfrm>
          <a:prstGeom prst="rect">
            <a:avLst/>
          </a:prstGeom>
          <a:noFill/>
        </p:spPr>
        <p:txBody>
          <a:bodyPr wrap="square" lIns="0" rIns="0" tIns="0" bIns="0" anchor="t">
            <a:spAutoFit/>
          </a:bodyPr>
          <a:lstStyle/>
          <a:p>
            <a:pPr algn="r">
              <a:lnSpc>
                <a:spcPct val="130000"/>
              </a:lnSpc>
            </a:pPr>
            <a:r>
              <a:rPr sz="1050" b="0">
                <a:solidFill>
                  <a:srgbClr val="767676"/>
                </a:solidFill>
                <a:latin typeface="Noto Sans JP"/>
                <a:ea typeface="Noto Sans JP"/>
                <a:cs typeface="Noto Sans JP"/>
              </a:rPr>
              <a:t>参考 [1] ｜出典は p.20</a:t>
            </a:r>
          </a:p>
        </p:txBody>
      </p:sp>
      <p:sp>
        <p:nvSpPr>
          <p:cNvPr id="11" name="TextBox 10"/>
          <p:cNvSpPr txBox="1"/>
          <p:nvPr/>
        </p:nvSpPr>
        <p:spPr>
          <a:xfrm>
            <a:off x="10668000" y="6419850"/>
            <a:ext cx="914400" cy="190500"/>
          </a:xfrm>
          <a:prstGeom prst="rect">
            <a:avLst/>
          </a:prstGeom>
          <a:noFill/>
        </p:spPr>
        <p:txBody>
          <a:bodyPr wrap="square" lIns="0" rIns="0" tIns="0" bIns="0" anchor="t">
            <a:spAutoFit/>
          </a:bodyPr>
          <a:lstStyle/>
          <a:p>
            <a:pPr algn="r">
              <a:lnSpc>
                <a:spcPct val="130000"/>
              </a:lnSpc>
            </a:pPr>
            <a:r>
              <a:rPr sz="1050" b="1">
                <a:solidFill>
                  <a:srgbClr val="767676"/>
                </a:solidFill>
                <a:latin typeface="Noto Sans JP"/>
                <a:ea typeface="Noto Sans JP"/>
                <a:cs typeface="Noto Sans JP"/>
              </a:rPr>
              <a:t>07 / 20</a:t>
            </a:r>
          </a:p>
        </p:txBody>
      </p:sp>
      <p:sp>
        <p:nvSpPr>
          <p:cNvPr id="12" name="Oval 11"/>
          <p:cNvSpPr/>
          <p:nvPr/>
        </p:nvSpPr>
        <p:spPr>
          <a:xfrm>
            <a:off x="609600" y="2209800"/>
            <a:ext cx="457200" cy="457200"/>
          </a:xfrm>
          <a:prstGeom prst="ellipse">
            <a:avLst/>
          </a:prstGeom>
          <a:solidFill>
            <a:srgbClr val="0017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9600" y="2209800"/>
            <a:ext cx="457200" cy="457200"/>
          </a:xfrm>
          <a:prstGeom prst="rect">
            <a:avLst/>
          </a:prstGeom>
          <a:noFill/>
        </p:spPr>
        <p:txBody>
          <a:bodyPr wrap="square" lIns="0" rIns="0" tIns="0" bIns="0" anchor="ctr">
            <a:spAutoFit/>
          </a:bodyPr>
          <a:lstStyle/>
          <a:p>
            <a:pPr algn="ctr">
              <a:lnSpc>
                <a:spcPct val="150000"/>
              </a:lnSpc>
            </a:pPr>
            <a:r>
              <a:rPr sz="1500" b="1">
                <a:solidFill>
                  <a:srgbClr val="FFFFFF"/>
                </a:solidFill>
                <a:latin typeface="Noto Sans JP"/>
                <a:ea typeface="Noto Sans JP"/>
                <a:cs typeface="Noto Sans JP"/>
              </a:rPr>
              <a:t>01</a:t>
            </a:r>
          </a:p>
        </p:txBody>
      </p:sp>
      <p:sp>
        <p:nvSpPr>
          <p:cNvPr id="14" name="TextBox 13"/>
          <p:cNvSpPr txBox="1"/>
          <p:nvPr/>
        </p:nvSpPr>
        <p:spPr>
          <a:xfrm>
            <a:off x="1295400" y="2095500"/>
            <a:ext cx="6096000" cy="381000"/>
          </a:xfrm>
          <a:prstGeom prst="rect">
            <a:avLst/>
          </a:prstGeom>
          <a:noFill/>
        </p:spPr>
        <p:txBody>
          <a:bodyPr wrap="square" lIns="0" rIns="0" tIns="0" bIns="0" anchor="t">
            <a:spAutoFit/>
          </a:bodyPr>
          <a:lstStyle/>
          <a:p>
            <a:pPr algn="l">
              <a:lnSpc>
                <a:spcPct val="150000"/>
              </a:lnSpc>
            </a:pPr>
            <a:r>
              <a:rPr sz="1800" b="1">
                <a:solidFill>
                  <a:srgbClr val="1A1A1A"/>
                </a:solidFill>
                <a:latin typeface="Noto Sans JP"/>
                <a:ea typeface="Noto Sans JP"/>
                <a:cs typeface="Noto Sans JP"/>
              </a:rPr>
              <a:t>タスク仕様</a:t>
            </a:r>
          </a:p>
        </p:txBody>
      </p:sp>
      <p:sp>
        <p:nvSpPr>
          <p:cNvPr id="15" name="TextBox 14"/>
          <p:cNvSpPr txBox="1"/>
          <p:nvPr/>
        </p:nvSpPr>
        <p:spPr>
          <a:xfrm>
            <a:off x="1295400" y="2552700"/>
            <a:ext cx="6096000" cy="381000"/>
          </a:xfrm>
          <a:prstGeom prst="rect">
            <a:avLst/>
          </a:prstGeom>
          <a:noFill/>
        </p:spPr>
        <p:txBody>
          <a:bodyPr wrap="square" lIns="0" rIns="0" tIns="0" bIns="0" anchor="t">
            <a:spAutoFit/>
          </a:bodyPr>
          <a:lstStyle/>
          <a:p>
            <a:pPr algn="l">
              <a:lnSpc>
                <a:spcPct val="150000"/>
              </a:lnSpc>
            </a:pPr>
            <a:r>
              <a:rPr sz="1500" b="0">
                <a:solidFill>
                  <a:srgbClr val="4D4D4D"/>
                </a:solidFill>
                <a:latin typeface="Noto Sans JP"/>
                <a:ea typeface="Noto Sans JP"/>
                <a:cs typeface="Noto Sans JP"/>
              </a:rPr>
              <a:t>目的・入出力・受け入れ条件・対象外</a:t>
            </a:r>
          </a:p>
        </p:txBody>
      </p:sp>
      <p:sp>
        <p:nvSpPr>
          <p:cNvPr id="16" name="Rectangle 15"/>
          <p:cNvSpPr/>
          <p:nvPr/>
        </p:nvSpPr>
        <p:spPr>
          <a:xfrm>
            <a:off x="1295400" y="3009900"/>
            <a:ext cx="5867400" cy="9525"/>
          </a:xfrm>
          <a:prstGeom prst="rect">
            <a:avLst/>
          </a:prstGeom>
          <a:solidFill>
            <a:srgbClr val="9494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Oval 16"/>
          <p:cNvSpPr/>
          <p:nvPr/>
        </p:nvSpPr>
        <p:spPr>
          <a:xfrm>
            <a:off x="609600" y="3352800"/>
            <a:ext cx="457200" cy="457200"/>
          </a:xfrm>
          <a:prstGeom prst="ellipse">
            <a:avLst/>
          </a:prstGeom>
          <a:solidFill>
            <a:srgbClr val="0017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09600" y="3352800"/>
            <a:ext cx="457200" cy="457200"/>
          </a:xfrm>
          <a:prstGeom prst="rect">
            <a:avLst/>
          </a:prstGeom>
          <a:noFill/>
        </p:spPr>
        <p:txBody>
          <a:bodyPr wrap="square" lIns="0" rIns="0" tIns="0" bIns="0" anchor="ctr">
            <a:spAutoFit/>
          </a:bodyPr>
          <a:lstStyle/>
          <a:p>
            <a:pPr algn="ctr">
              <a:lnSpc>
                <a:spcPct val="150000"/>
              </a:lnSpc>
            </a:pPr>
            <a:r>
              <a:rPr sz="1500" b="1">
                <a:solidFill>
                  <a:srgbClr val="FFFFFF"/>
                </a:solidFill>
                <a:latin typeface="Noto Sans JP"/>
                <a:ea typeface="Noto Sans JP"/>
                <a:cs typeface="Noto Sans JP"/>
              </a:rPr>
              <a:t>02</a:t>
            </a:r>
          </a:p>
        </p:txBody>
      </p:sp>
      <p:sp>
        <p:nvSpPr>
          <p:cNvPr id="19" name="TextBox 18"/>
          <p:cNvSpPr txBox="1"/>
          <p:nvPr/>
        </p:nvSpPr>
        <p:spPr>
          <a:xfrm>
            <a:off x="1295400" y="3238500"/>
            <a:ext cx="6096000" cy="381000"/>
          </a:xfrm>
          <a:prstGeom prst="rect">
            <a:avLst/>
          </a:prstGeom>
          <a:noFill/>
        </p:spPr>
        <p:txBody>
          <a:bodyPr wrap="square" lIns="0" rIns="0" tIns="0" bIns="0" anchor="t">
            <a:spAutoFit/>
          </a:bodyPr>
          <a:lstStyle/>
          <a:p>
            <a:pPr algn="l">
              <a:lnSpc>
                <a:spcPct val="150000"/>
              </a:lnSpc>
            </a:pPr>
            <a:r>
              <a:rPr sz="1800" b="1">
                <a:solidFill>
                  <a:srgbClr val="1A1A1A"/>
                </a:solidFill>
                <a:latin typeface="Noto Sans JP"/>
                <a:ea typeface="Noto Sans JP"/>
                <a:cs typeface="Noto Sans JP"/>
              </a:rPr>
              <a:t>リポジトリ</a:t>
            </a:r>
          </a:p>
        </p:txBody>
      </p:sp>
      <p:sp>
        <p:nvSpPr>
          <p:cNvPr id="20" name="TextBox 19"/>
          <p:cNvSpPr txBox="1"/>
          <p:nvPr/>
        </p:nvSpPr>
        <p:spPr>
          <a:xfrm>
            <a:off x="1295400" y="3695700"/>
            <a:ext cx="6096000" cy="381000"/>
          </a:xfrm>
          <a:prstGeom prst="rect">
            <a:avLst/>
          </a:prstGeom>
          <a:noFill/>
        </p:spPr>
        <p:txBody>
          <a:bodyPr wrap="square" lIns="0" rIns="0" tIns="0" bIns="0" anchor="t">
            <a:spAutoFit/>
          </a:bodyPr>
          <a:lstStyle/>
          <a:p>
            <a:pPr algn="l">
              <a:lnSpc>
                <a:spcPct val="150000"/>
              </a:lnSpc>
            </a:pPr>
            <a:r>
              <a:rPr sz="1500" b="0">
                <a:solidFill>
                  <a:srgbClr val="4D4D4D"/>
                </a:solidFill>
                <a:latin typeface="Noto Sans JP"/>
                <a:ea typeface="Noto Sans JP"/>
                <a:cs typeface="Noto Sans JP"/>
              </a:rPr>
              <a:t>関連ファイル・既存の実装例・設計判断</a:t>
            </a:r>
          </a:p>
        </p:txBody>
      </p:sp>
      <p:sp>
        <p:nvSpPr>
          <p:cNvPr id="21" name="Rectangle 20"/>
          <p:cNvSpPr/>
          <p:nvPr/>
        </p:nvSpPr>
        <p:spPr>
          <a:xfrm>
            <a:off x="1295400" y="4152900"/>
            <a:ext cx="5867400" cy="9525"/>
          </a:xfrm>
          <a:prstGeom prst="rect">
            <a:avLst/>
          </a:prstGeom>
          <a:solidFill>
            <a:srgbClr val="9494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609600" y="4495800"/>
            <a:ext cx="457200" cy="457200"/>
          </a:xfrm>
          <a:prstGeom prst="ellipse">
            <a:avLst/>
          </a:prstGeom>
          <a:solidFill>
            <a:srgbClr val="0017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09600" y="4495800"/>
            <a:ext cx="457200" cy="457200"/>
          </a:xfrm>
          <a:prstGeom prst="rect">
            <a:avLst/>
          </a:prstGeom>
          <a:noFill/>
        </p:spPr>
        <p:txBody>
          <a:bodyPr wrap="square" lIns="0" rIns="0" tIns="0" bIns="0" anchor="ctr">
            <a:spAutoFit/>
          </a:bodyPr>
          <a:lstStyle/>
          <a:p>
            <a:pPr algn="ctr">
              <a:lnSpc>
                <a:spcPct val="150000"/>
              </a:lnSpc>
            </a:pPr>
            <a:r>
              <a:rPr sz="1500" b="1">
                <a:solidFill>
                  <a:srgbClr val="FFFFFF"/>
                </a:solidFill>
                <a:latin typeface="Noto Sans JP"/>
                <a:ea typeface="Noto Sans JP"/>
                <a:cs typeface="Noto Sans JP"/>
              </a:rPr>
              <a:t>03</a:t>
            </a:r>
          </a:p>
        </p:txBody>
      </p:sp>
      <p:sp>
        <p:nvSpPr>
          <p:cNvPr id="24" name="TextBox 23"/>
          <p:cNvSpPr txBox="1"/>
          <p:nvPr/>
        </p:nvSpPr>
        <p:spPr>
          <a:xfrm>
            <a:off x="1295400" y="4381500"/>
            <a:ext cx="6096000" cy="381000"/>
          </a:xfrm>
          <a:prstGeom prst="rect">
            <a:avLst/>
          </a:prstGeom>
          <a:noFill/>
        </p:spPr>
        <p:txBody>
          <a:bodyPr wrap="square" lIns="0" rIns="0" tIns="0" bIns="0" anchor="t">
            <a:spAutoFit/>
          </a:bodyPr>
          <a:lstStyle/>
          <a:p>
            <a:pPr algn="l">
              <a:lnSpc>
                <a:spcPct val="150000"/>
              </a:lnSpc>
            </a:pPr>
            <a:r>
              <a:rPr sz="1800" b="1">
                <a:solidFill>
                  <a:srgbClr val="1A1A1A"/>
                </a:solidFill>
                <a:latin typeface="Noto Sans JP"/>
                <a:ea typeface="Noto Sans JP"/>
                <a:cs typeface="Noto Sans JP"/>
              </a:rPr>
              <a:t>実行環境</a:t>
            </a:r>
          </a:p>
        </p:txBody>
      </p:sp>
      <p:sp>
        <p:nvSpPr>
          <p:cNvPr id="25" name="TextBox 24"/>
          <p:cNvSpPr txBox="1"/>
          <p:nvPr/>
        </p:nvSpPr>
        <p:spPr>
          <a:xfrm>
            <a:off x="1295400" y="4838700"/>
            <a:ext cx="6096000" cy="381000"/>
          </a:xfrm>
          <a:prstGeom prst="rect">
            <a:avLst/>
          </a:prstGeom>
          <a:noFill/>
        </p:spPr>
        <p:txBody>
          <a:bodyPr wrap="square" lIns="0" rIns="0" tIns="0" bIns="0" anchor="t">
            <a:spAutoFit/>
          </a:bodyPr>
          <a:lstStyle/>
          <a:p>
            <a:pPr algn="l">
              <a:lnSpc>
                <a:spcPct val="150000"/>
              </a:lnSpc>
            </a:pPr>
            <a:r>
              <a:rPr sz="1500" b="0">
                <a:solidFill>
                  <a:srgbClr val="4D4D4D"/>
                </a:solidFill>
                <a:latin typeface="Noto Sans JP"/>
                <a:ea typeface="Noto Sans JP"/>
                <a:cs typeface="Noto Sans JP"/>
              </a:rPr>
              <a:t>セットアップ・テストコマンド・再現ログ</a:t>
            </a:r>
          </a:p>
        </p:txBody>
      </p:sp>
      <p:sp>
        <p:nvSpPr>
          <p:cNvPr id="26" name="Rectangle 25"/>
          <p:cNvSpPr/>
          <p:nvPr/>
        </p:nvSpPr>
        <p:spPr>
          <a:xfrm>
            <a:off x="1295400" y="5295900"/>
            <a:ext cx="5867400" cy="9525"/>
          </a:xfrm>
          <a:prstGeom prst="rect">
            <a:avLst/>
          </a:prstGeom>
          <a:solidFill>
            <a:srgbClr val="9494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7696200" y="1981200"/>
            <a:ext cx="3886200" cy="3314700"/>
          </a:xfrm>
          <a:prstGeom prst="rect">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8001000" y="2247900"/>
            <a:ext cx="3276600" cy="381000"/>
          </a:xfrm>
          <a:prstGeom prst="rect">
            <a:avLst/>
          </a:prstGeom>
          <a:noFill/>
        </p:spPr>
        <p:txBody>
          <a:bodyPr wrap="square" lIns="0" rIns="0" tIns="0" bIns="0" anchor="t">
            <a:spAutoFit/>
          </a:bodyPr>
          <a:lstStyle/>
          <a:p>
            <a:pPr algn="l">
              <a:lnSpc>
                <a:spcPct val="150000"/>
              </a:lnSpc>
            </a:pPr>
            <a:r>
              <a:rPr sz="1800" b="1">
                <a:solidFill>
                  <a:srgbClr val="00118F"/>
                </a:solidFill>
                <a:latin typeface="Noto Sans JP"/>
                <a:ea typeface="Noto Sans JP"/>
                <a:cs typeface="Noto Sans JP"/>
              </a:rPr>
              <a:t>参照のルール</a:t>
            </a:r>
          </a:p>
        </p:txBody>
      </p:sp>
      <p:sp>
        <p:nvSpPr>
          <p:cNvPr id="29" name="TextBox 28"/>
          <p:cNvSpPr txBox="1"/>
          <p:nvPr/>
        </p:nvSpPr>
        <p:spPr>
          <a:xfrm>
            <a:off x="8001000" y="2857500"/>
            <a:ext cx="3276600" cy="2057400"/>
          </a:xfrm>
          <a:prstGeom prst="rect">
            <a:avLst/>
          </a:prstGeom>
          <a:noFill/>
        </p:spPr>
        <p:txBody>
          <a:bodyPr wrap="square" lIns="0" rIns="0" tIns="0" bIns="0" anchor="t">
            <a:spAutoFit/>
          </a:bodyPr>
          <a:lstStyle/>
          <a:p>
            <a:pPr algn="l">
              <a:lnSpc>
                <a:spcPct val="150000"/>
              </a:lnSpc>
            </a:pPr>
            <a:r>
              <a:rPr sz="1650" b="1">
                <a:solidFill>
                  <a:srgbClr val="00118F"/>
                </a:solidFill>
                <a:latin typeface="Noto Sans JP"/>
                <a:ea typeface="Noto Sans JP"/>
                <a:cs typeface="Noto Sans JP"/>
              </a:rPr>
              <a:t>最新の仕様を明示する</a:t>
            </a:r>
          </a:p>
          <a:p>
            <a:pPr algn="l">
              <a:lnSpc>
                <a:spcPct val="150000"/>
              </a:lnSpc>
            </a:pPr>
            <a:r>
              <a:rPr sz="1650" b="1">
                <a:solidFill>
                  <a:srgbClr val="00118F"/>
                </a:solidFill>
                <a:latin typeface="Noto Sans JP"/>
                <a:ea typeface="Noto Sans JP"/>
                <a:cs typeface="Noto Sans JP"/>
              </a:rPr>
              <a:t>該当ファイルを絞る</a:t>
            </a:r>
          </a:p>
          <a:p>
            <a:pPr algn="l">
              <a:lnSpc>
                <a:spcPct val="150000"/>
              </a:lnSpc>
            </a:pPr>
            <a:r>
              <a:rPr sz="1650" b="1">
                <a:solidFill>
                  <a:srgbClr val="00118F"/>
                </a:solidFill>
                <a:latin typeface="Noto Sans JP"/>
                <a:ea typeface="Noto Sans JP"/>
                <a:cs typeface="Noto Sans JP"/>
              </a:rPr>
              <a:t>バージョンを伝える</a:t>
            </a:r>
          </a:p>
          <a:p>
            <a:pPr algn="l">
              <a:lnSpc>
                <a:spcPct val="150000"/>
              </a:lnSpc>
            </a:pPr>
            <a:r>
              <a:rPr sz="1650" b="1">
                <a:solidFill>
                  <a:srgbClr val="00118F"/>
                </a:solidFill>
                <a:latin typeface="Noto Sans JP"/>
                <a:ea typeface="Noto Sans JP"/>
                <a:cs typeface="Noto Sans JP"/>
              </a:rPr>
              <a:t>不明点は推測と区別する</a:t>
            </a:r>
          </a:p>
          <a:p>
            <a:pPr algn="l">
              <a:lnSpc>
                <a:spcPct val="150000"/>
              </a:lnSpc>
            </a:pPr>
            <a:r>
              <a:rPr sz="1650" b="1">
                <a:solidFill>
                  <a:srgbClr val="00118F"/>
                </a:solidFill>
                <a:latin typeface="Noto Sans JP"/>
                <a:ea typeface="Noto Sans JP"/>
                <a:cs typeface="Noto Sans JP"/>
              </a:rPr>
              <a:t>決定事項を更新する</a:t>
            </a:r>
          </a:p>
        </p:txBody>
      </p:sp>
      <p:sp>
        <p:nvSpPr>
          <p:cNvPr id="30" name="Rectangle 29"/>
          <p:cNvSpPr/>
          <p:nvPr/>
        </p:nvSpPr>
        <p:spPr>
          <a:xfrm>
            <a:off x="609600" y="5562600"/>
            <a:ext cx="10972800" cy="533400"/>
          </a:xfrm>
          <a:prstGeom prst="rect">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838200" y="5562600"/>
            <a:ext cx="10515600" cy="533400"/>
          </a:xfrm>
          <a:prstGeom prst="rect">
            <a:avLst/>
          </a:prstGeom>
          <a:noFill/>
        </p:spPr>
        <p:txBody>
          <a:bodyPr wrap="square" lIns="0" rIns="0" tIns="0" bIns="0" anchor="ctr">
            <a:spAutoFit/>
          </a:bodyPr>
          <a:lstStyle/>
          <a:p>
            <a:pPr algn="l">
              <a:lnSpc>
                <a:spcPct val="150000"/>
              </a:lnSpc>
            </a:pPr>
            <a:r>
              <a:rPr sz="1500" b="1">
                <a:solidFill>
                  <a:srgbClr val="00118F"/>
                </a:solidFill>
                <a:latin typeface="Noto Sans JP"/>
                <a:ea typeface="Noto Sans JP"/>
                <a:cs typeface="Noto Sans JP"/>
              </a:rPr>
              <a:t>長い作業では「決定事項・変更・検証済み・未解決」の4点を引き継ぐ。</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609600" y="495300"/>
            <a:ext cx="57150" cy="228600"/>
          </a:xfrm>
          <a:prstGeom prst="rect">
            <a:avLst/>
          </a:prstGeom>
          <a:solidFill>
            <a:srgbClr val="0017C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62000" y="495300"/>
            <a:ext cx="9334500" cy="228600"/>
          </a:xfrm>
          <a:prstGeom prst="rect">
            <a:avLst/>
          </a:prstGeom>
          <a:noFill/>
        </p:spPr>
        <p:txBody>
          <a:bodyPr wrap="square" lIns="0" rIns="0" tIns="0" bIns="0" anchor="ctr">
            <a:spAutoFit/>
          </a:bodyPr>
          <a:lstStyle/>
          <a:p>
            <a:pPr algn="l">
              <a:lnSpc>
                <a:spcPct val="100000"/>
              </a:lnSpc>
            </a:pPr>
            <a:r>
              <a:rPr sz="1050" b="1">
                <a:solidFill>
                  <a:srgbClr val="0017C1"/>
                </a:solidFill>
                <a:latin typeface="Noto Sans JP"/>
                <a:ea typeface="Noto Sans JP"/>
                <a:cs typeface="Noto Sans JP"/>
              </a:rPr>
              <a:t>02 / 依頼する</a:t>
            </a:r>
          </a:p>
        </p:txBody>
      </p:sp>
      <p:sp>
        <p:nvSpPr>
          <p:cNvPr id="5" name="TextBox 4"/>
          <p:cNvSpPr txBox="1"/>
          <p:nvPr/>
        </p:nvSpPr>
        <p:spPr>
          <a:xfrm>
            <a:off x="609600" y="800100"/>
            <a:ext cx="10972800" cy="457200"/>
          </a:xfrm>
          <a:prstGeom prst="rect">
            <a:avLst/>
          </a:prstGeom>
          <a:noFill/>
        </p:spPr>
        <p:txBody>
          <a:bodyPr wrap="square" lIns="0" rIns="0" tIns="0" bIns="0" anchor="t">
            <a:spAutoFit/>
          </a:bodyPr>
          <a:lstStyle/>
          <a:p>
            <a:pPr algn="l">
              <a:lnSpc>
                <a:spcPct val="150000"/>
              </a:lnSpc>
            </a:pPr>
            <a:r>
              <a:rPr sz="2400" b="1">
                <a:solidFill>
                  <a:srgbClr val="1A1A1A"/>
                </a:solidFill>
                <a:latin typeface="Noto Sans JP"/>
                <a:ea typeface="Noto Sans JP"/>
                <a:cs typeface="Noto Sans JP"/>
              </a:rPr>
              <a:t>依頼文は、目的・範囲・完了条件まで書く</a:t>
            </a:r>
          </a:p>
        </p:txBody>
      </p:sp>
      <p:sp>
        <p:nvSpPr>
          <p:cNvPr id="6" name="Rectangle 5"/>
          <p:cNvSpPr/>
          <p:nvPr/>
        </p:nvSpPr>
        <p:spPr>
          <a:xfrm>
            <a:off x="609600" y="1333500"/>
            <a:ext cx="10972800" cy="19050"/>
          </a:xfrm>
          <a:prstGeom prst="rect">
            <a:avLst/>
          </a:prstGeom>
          <a:solidFill>
            <a:srgbClr val="9494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09600" y="1447800"/>
            <a:ext cx="10972800" cy="304800"/>
          </a:xfrm>
          <a:prstGeom prst="rect">
            <a:avLst/>
          </a:prstGeom>
          <a:noFill/>
        </p:spPr>
        <p:txBody>
          <a:bodyPr wrap="square" lIns="0" rIns="0" tIns="0" bIns="0" anchor="t">
            <a:spAutoFit/>
          </a:bodyPr>
          <a:lstStyle/>
          <a:p>
            <a:pPr algn="l">
              <a:lnSpc>
                <a:spcPct val="160000"/>
              </a:lnSpc>
            </a:pPr>
            <a:r>
              <a:rPr sz="1350" b="0">
                <a:solidFill>
                  <a:srgbClr val="4D4D4D"/>
                </a:solidFill>
                <a:latin typeface="Noto Sans JP"/>
                <a:ea typeface="Noto Sans JP"/>
                <a:cs typeface="Noto Sans JP"/>
              </a:rPr>
              <a:t>コピーして使うテンプレート例：次ページの normalize_title を実装する。</a:t>
            </a:r>
          </a:p>
        </p:txBody>
      </p:sp>
      <p:sp>
        <p:nvSpPr>
          <p:cNvPr id="8" name="Rectangle 7"/>
          <p:cNvSpPr/>
          <p:nvPr/>
        </p:nvSpPr>
        <p:spPr>
          <a:xfrm>
            <a:off x="609600" y="6286500"/>
            <a:ext cx="10972800" cy="9525"/>
          </a:xfrm>
          <a:prstGeom prst="rect">
            <a:avLst/>
          </a:prstGeom>
          <a:solidFill>
            <a:srgbClr val="B3B3B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09600" y="6419850"/>
            <a:ext cx="4191000" cy="190500"/>
          </a:xfrm>
          <a:prstGeom prst="rect">
            <a:avLst/>
          </a:prstGeom>
          <a:noFill/>
        </p:spPr>
        <p:txBody>
          <a:bodyPr wrap="square" lIns="0" rIns="0" tIns="0" bIns="0" anchor="t">
            <a:spAutoFit/>
          </a:bodyPr>
          <a:lstStyle/>
          <a:p>
            <a:pPr algn="l">
              <a:lnSpc>
                <a:spcPct val="130000"/>
              </a:lnSpc>
            </a:pPr>
            <a:r>
              <a:rPr sz="1050" b="0">
                <a:solidFill>
                  <a:srgbClr val="767676"/>
                </a:solidFill>
                <a:latin typeface="Noto Sans JP"/>
                <a:ea typeface="Noto Sans JP"/>
                <a:cs typeface="Noto Sans JP"/>
              </a:rPr>
              <a:t>AI駆動開発ガイド</a:t>
            </a:r>
          </a:p>
        </p:txBody>
      </p:sp>
      <p:sp>
        <p:nvSpPr>
          <p:cNvPr id="10" name="TextBox 9"/>
          <p:cNvSpPr txBox="1"/>
          <p:nvPr/>
        </p:nvSpPr>
        <p:spPr>
          <a:xfrm>
            <a:off x="4953000" y="6419850"/>
            <a:ext cx="5334000" cy="190500"/>
          </a:xfrm>
          <a:prstGeom prst="rect">
            <a:avLst/>
          </a:prstGeom>
          <a:noFill/>
        </p:spPr>
        <p:txBody>
          <a:bodyPr wrap="square" lIns="0" rIns="0" tIns="0" bIns="0" anchor="t">
            <a:spAutoFit/>
          </a:bodyPr>
          <a:lstStyle/>
          <a:p>
            <a:pPr algn="r">
              <a:lnSpc>
                <a:spcPct val="130000"/>
              </a:lnSpc>
            </a:pPr>
            <a:r>
              <a:rPr sz="1050" b="0">
                <a:solidFill>
                  <a:srgbClr val="767676"/>
                </a:solidFill>
                <a:latin typeface="Noto Sans JP"/>
                <a:ea typeface="Noto Sans JP"/>
                <a:cs typeface="Noto Sans JP"/>
              </a:rPr>
              <a:t>参考 [1] ｜出典は p.20</a:t>
            </a:r>
          </a:p>
        </p:txBody>
      </p:sp>
      <p:sp>
        <p:nvSpPr>
          <p:cNvPr id="11" name="TextBox 10"/>
          <p:cNvSpPr txBox="1"/>
          <p:nvPr/>
        </p:nvSpPr>
        <p:spPr>
          <a:xfrm>
            <a:off x="10668000" y="6419850"/>
            <a:ext cx="914400" cy="190500"/>
          </a:xfrm>
          <a:prstGeom prst="rect">
            <a:avLst/>
          </a:prstGeom>
          <a:noFill/>
        </p:spPr>
        <p:txBody>
          <a:bodyPr wrap="square" lIns="0" rIns="0" tIns="0" bIns="0" anchor="t">
            <a:spAutoFit/>
          </a:bodyPr>
          <a:lstStyle/>
          <a:p>
            <a:pPr algn="r">
              <a:lnSpc>
                <a:spcPct val="130000"/>
              </a:lnSpc>
            </a:pPr>
            <a:r>
              <a:rPr sz="1050" b="1">
                <a:solidFill>
                  <a:srgbClr val="767676"/>
                </a:solidFill>
                <a:latin typeface="Noto Sans JP"/>
                <a:ea typeface="Noto Sans JP"/>
                <a:cs typeface="Noto Sans JP"/>
              </a:rPr>
              <a:t>08 / 20</a:t>
            </a:r>
          </a:p>
        </p:txBody>
      </p:sp>
      <p:sp>
        <p:nvSpPr>
          <p:cNvPr id="12" name="Rectangle 11"/>
          <p:cNvSpPr/>
          <p:nvPr/>
        </p:nvSpPr>
        <p:spPr>
          <a:xfrm>
            <a:off x="609600" y="1943100"/>
            <a:ext cx="7543800" cy="41529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38200" y="2133600"/>
            <a:ext cx="1524000" cy="285750"/>
          </a:xfrm>
          <a:prstGeom prst="rect">
            <a:avLst/>
          </a:prstGeom>
          <a:noFill/>
        </p:spPr>
        <p:txBody>
          <a:bodyPr wrap="square" lIns="0" rIns="0" tIns="0" bIns="0" anchor="t">
            <a:spAutoFit/>
          </a:bodyPr>
          <a:lstStyle/>
          <a:p>
            <a:pPr algn="l">
              <a:lnSpc>
                <a:spcPct val="160000"/>
              </a:lnSpc>
            </a:pPr>
            <a:r>
              <a:rPr sz="1350" b="1">
                <a:solidFill>
                  <a:srgbClr val="0017C1"/>
                </a:solidFill>
                <a:latin typeface="Noto Sans JP"/>
                <a:ea typeface="Noto Sans JP"/>
                <a:cs typeface="Noto Sans JP"/>
              </a:rPr>
              <a:t>目的</a:t>
            </a:r>
          </a:p>
        </p:txBody>
      </p:sp>
      <p:sp>
        <p:nvSpPr>
          <p:cNvPr id="14" name="TextBox 13"/>
          <p:cNvSpPr txBox="1"/>
          <p:nvPr/>
        </p:nvSpPr>
        <p:spPr>
          <a:xfrm>
            <a:off x="2514600" y="2133600"/>
            <a:ext cx="5410200" cy="514350"/>
          </a:xfrm>
          <a:prstGeom prst="rect">
            <a:avLst/>
          </a:prstGeom>
          <a:noFill/>
        </p:spPr>
        <p:txBody>
          <a:bodyPr wrap="square" lIns="0" rIns="0" tIns="0" bIns="0" anchor="t">
            <a:spAutoFit/>
          </a:bodyPr>
          <a:lstStyle/>
          <a:p>
            <a:pPr algn="l">
              <a:lnSpc>
                <a:spcPct val="150000"/>
              </a:lnSpc>
            </a:pPr>
            <a:r>
              <a:rPr sz="1500" b="0">
                <a:solidFill>
                  <a:srgbClr val="1A1A1A"/>
                </a:solidFill>
                <a:latin typeface="Noto Sans JP"/>
                <a:ea typeface="Noto Sans JP"/>
                <a:cs typeface="Noto Sans JP"/>
              </a:rPr>
              <a:t>申請メモのタイトルを、保存前に整える。</a:t>
            </a:r>
          </a:p>
        </p:txBody>
      </p:sp>
      <p:sp>
        <p:nvSpPr>
          <p:cNvPr id="15" name="TextBox 14"/>
          <p:cNvSpPr txBox="1"/>
          <p:nvPr/>
        </p:nvSpPr>
        <p:spPr>
          <a:xfrm>
            <a:off x="838200" y="2762250"/>
            <a:ext cx="1524000" cy="285750"/>
          </a:xfrm>
          <a:prstGeom prst="rect">
            <a:avLst/>
          </a:prstGeom>
          <a:noFill/>
        </p:spPr>
        <p:txBody>
          <a:bodyPr wrap="square" lIns="0" rIns="0" tIns="0" bIns="0" anchor="t">
            <a:spAutoFit/>
          </a:bodyPr>
          <a:lstStyle/>
          <a:p>
            <a:pPr algn="l">
              <a:lnSpc>
                <a:spcPct val="160000"/>
              </a:lnSpc>
            </a:pPr>
            <a:r>
              <a:rPr sz="1350" b="1">
                <a:solidFill>
                  <a:srgbClr val="0017C1"/>
                </a:solidFill>
                <a:latin typeface="Noto Sans JP"/>
                <a:ea typeface="Noto Sans JP"/>
                <a:cs typeface="Noto Sans JP"/>
              </a:rPr>
              <a:t>対象・仕様</a:t>
            </a:r>
          </a:p>
        </p:txBody>
      </p:sp>
      <p:sp>
        <p:nvSpPr>
          <p:cNvPr id="16" name="TextBox 15"/>
          <p:cNvSpPr txBox="1"/>
          <p:nvPr/>
        </p:nvSpPr>
        <p:spPr>
          <a:xfrm>
            <a:off x="2514600" y="2762250"/>
            <a:ext cx="5410200" cy="514350"/>
          </a:xfrm>
          <a:prstGeom prst="rect">
            <a:avLst/>
          </a:prstGeom>
          <a:noFill/>
        </p:spPr>
        <p:txBody>
          <a:bodyPr wrap="square" lIns="0" rIns="0" tIns="0" bIns="0" anchor="t">
            <a:spAutoFit/>
          </a:bodyPr>
          <a:lstStyle/>
          <a:p>
            <a:pPr algn="l">
              <a:lnSpc>
                <a:spcPct val="150000"/>
              </a:lnSpc>
            </a:pPr>
            <a:r>
              <a:rPr sz="1500" b="0">
                <a:solidFill>
                  <a:srgbClr val="1A1A1A"/>
                </a:solidFill>
                <a:latin typeface="Noto Sans JP"/>
                <a:ea typeface="Noto Sans JP"/>
                <a:cs typeface="Noto Sans JP"/>
              </a:rPr>
              <a:t>src/title.py とテスト。条件は p.09 に従う。</a:t>
            </a:r>
          </a:p>
        </p:txBody>
      </p:sp>
      <p:sp>
        <p:nvSpPr>
          <p:cNvPr id="17" name="TextBox 16"/>
          <p:cNvSpPr txBox="1"/>
          <p:nvPr/>
        </p:nvSpPr>
        <p:spPr>
          <a:xfrm>
            <a:off x="838200" y="3390900"/>
            <a:ext cx="1524000" cy="285750"/>
          </a:xfrm>
          <a:prstGeom prst="rect">
            <a:avLst/>
          </a:prstGeom>
          <a:noFill/>
        </p:spPr>
        <p:txBody>
          <a:bodyPr wrap="square" lIns="0" rIns="0" tIns="0" bIns="0" anchor="t">
            <a:spAutoFit/>
          </a:bodyPr>
          <a:lstStyle/>
          <a:p>
            <a:pPr algn="l">
              <a:lnSpc>
                <a:spcPct val="160000"/>
              </a:lnSpc>
            </a:pPr>
            <a:r>
              <a:rPr sz="1350" b="1">
                <a:solidFill>
                  <a:srgbClr val="0017C1"/>
                </a:solidFill>
                <a:latin typeface="Noto Sans JP"/>
                <a:ea typeface="Noto Sans JP"/>
                <a:cs typeface="Noto Sans JP"/>
              </a:rPr>
              <a:t>参照・制約</a:t>
            </a:r>
          </a:p>
        </p:txBody>
      </p:sp>
      <p:sp>
        <p:nvSpPr>
          <p:cNvPr id="18" name="TextBox 17"/>
          <p:cNvSpPr txBox="1"/>
          <p:nvPr/>
        </p:nvSpPr>
        <p:spPr>
          <a:xfrm>
            <a:off x="2514600" y="3390900"/>
            <a:ext cx="5410200" cy="514350"/>
          </a:xfrm>
          <a:prstGeom prst="rect">
            <a:avLst/>
          </a:prstGeom>
          <a:noFill/>
        </p:spPr>
        <p:txBody>
          <a:bodyPr wrap="square" lIns="0" rIns="0" tIns="0" bIns="0" anchor="t">
            <a:spAutoFit/>
          </a:bodyPr>
          <a:lstStyle/>
          <a:p>
            <a:pPr algn="l">
              <a:lnSpc>
                <a:spcPct val="150000"/>
              </a:lnSpc>
            </a:pPr>
            <a:r>
              <a:rPr sz="1500" b="0">
                <a:solidFill>
                  <a:srgbClr val="1A1A1A"/>
                </a:solidFill>
                <a:latin typeface="Noto Sans JP"/>
                <a:ea typeface="Noto Sans JP"/>
                <a:cs typeface="Noto Sans JP"/>
              </a:rPr>
              <a:t>既存の実装に合わせる。公開APIと依存は維持。</a:t>
            </a:r>
          </a:p>
        </p:txBody>
      </p:sp>
      <p:sp>
        <p:nvSpPr>
          <p:cNvPr id="19" name="TextBox 18"/>
          <p:cNvSpPr txBox="1"/>
          <p:nvPr/>
        </p:nvSpPr>
        <p:spPr>
          <a:xfrm>
            <a:off x="838200" y="4019550"/>
            <a:ext cx="1524000" cy="285750"/>
          </a:xfrm>
          <a:prstGeom prst="rect">
            <a:avLst/>
          </a:prstGeom>
          <a:noFill/>
        </p:spPr>
        <p:txBody>
          <a:bodyPr wrap="square" lIns="0" rIns="0" tIns="0" bIns="0" anchor="t">
            <a:spAutoFit/>
          </a:bodyPr>
          <a:lstStyle/>
          <a:p>
            <a:pPr algn="l">
              <a:lnSpc>
                <a:spcPct val="160000"/>
              </a:lnSpc>
            </a:pPr>
            <a:r>
              <a:rPr sz="1350" b="1">
                <a:solidFill>
                  <a:srgbClr val="0017C1"/>
                </a:solidFill>
                <a:latin typeface="Noto Sans JP"/>
                <a:ea typeface="Noto Sans JP"/>
                <a:cs typeface="Noto Sans JP"/>
              </a:rPr>
              <a:t>進め方</a:t>
            </a:r>
          </a:p>
        </p:txBody>
      </p:sp>
      <p:sp>
        <p:nvSpPr>
          <p:cNvPr id="20" name="TextBox 19"/>
          <p:cNvSpPr txBox="1"/>
          <p:nvPr/>
        </p:nvSpPr>
        <p:spPr>
          <a:xfrm>
            <a:off x="2514600" y="4019550"/>
            <a:ext cx="5410200" cy="514350"/>
          </a:xfrm>
          <a:prstGeom prst="rect">
            <a:avLst/>
          </a:prstGeom>
          <a:noFill/>
        </p:spPr>
        <p:txBody>
          <a:bodyPr wrap="square" lIns="0" rIns="0" tIns="0" bIns="0" anchor="t">
            <a:spAutoFit/>
          </a:bodyPr>
          <a:lstStyle/>
          <a:p>
            <a:pPr algn="l">
              <a:lnSpc>
                <a:spcPct val="150000"/>
              </a:lnSpc>
            </a:pPr>
            <a:r>
              <a:rPr sz="1500" b="0">
                <a:solidFill>
                  <a:srgbClr val="1A1A1A"/>
                </a:solidFill>
                <a:latin typeface="Noto Sans JP"/>
                <a:ea typeface="Noto Sans JP"/>
                <a:cs typeface="Noto Sans JP"/>
              </a:rPr>
              <a:t>関連箇所を確認し、短い計画を示して実装。</a:t>
            </a:r>
          </a:p>
        </p:txBody>
      </p:sp>
      <p:sp>
        <p:nvSpPr>
          <p:cNvPr id="21" name="TextBox 20"/>
          <p:cNvSpPr txBox="1"/>
          <p:nvPr/>
        </p:nvSpPr>
        <p:spPr>
          <a:xfrm>
            <a:off x="838200" y="4648200"/>
            <a:ext cx="1524000" cy="285750"/>
          </a:xfrm>
          <a:prstGeom prst="rect">
            <a:avLst/>
          </a:prstGeom>
          <a:noFill/>
        </p:spPr>
        <p:txBody>
          <a:bodyPr wrap="square" lIns="0" rIns="0" tIns="0" bIns="0" anchor="t">
            <a:spAutoFit/>
          </a:bodyPr>
          <a:lstStyle/>
          <a:p>
            <a:pPr algn="l">
              <a:lnSpc>
                <a:spcPct val="160000"/>
              </a:lnSpc>
            </a:pPr>
            <a:r>
              <a:rPr sz="1350" b="1">
                <a:solidFill>
                  <a:srgbClr val="0017C1"/>
                </a:solidFill>
                <a:latin typeface="Noto Sans JP"/>
                <a:ea typeface="Noto Sans JP"/>
                <a:cs typeface="Noto Sans JP"/>
              </a:rPr>
              <a:t>完了条件</a:t>
            </a:r>
          </a:p>
        </p:txBody>
      </p:sp>
      <p:sp>
        <p:nvSpPr>
          <p:cNvPr id="22" name="TextBox 21"/>
          <p:cNvSpPr txBox="1"/>
          <p:nvPr/>
        </p:nvSpPr>
        <p:spPr>
          <a:xfrm>
            <a:off x="2514600" y="4648200"/>
            <a:ext cx="5410200" cy="514350"/>
          </a:xfrm>
          <a:prstGeom prst="rect">
            <a:avLst/>
          </a:prstGeom>
          <a:noFill/>
        </p:spPr>
        <p:txBody>
          <a:bodyPr wrap="square" lIns="0" rIns="0" tIns="0" bIns="0" anchor="t">
            <a:spAutoFit/>
          </a:bodyPr>
          <a:lstStyle/>
          <a:p>
            <a:pPr algn="l">
              <a:lnSpc>
                <a:spcPct val="150000"/>
              </a:lnSpc>
            </a:pPr>
            <a:r>
              <a:rPr sz="1500" b="0">
                <a:solidFill>
                  <a:srgbClr val="1A1A1A"/>
                </a:solidFill>
                <a:latin typeface="Noto Sans JP"/>
                <a:ea typeface="Noto Sans JP"/>
                <a:cs typeface="Noto Sans JP"/>
              </a:rPr>
              <a:t>対象テストと既存テストを実行して確認。</a:t>
            </a:r>
          </a:p>
        </p:txBody>
      </p:sp>
      <p:sp>
        <p:nvSpPr>
          <p:cNvPr id="23" name="TextBox 22"/>
          <p:cNvSpPr txBox="1"/>
          <p:nvPr/>
        </p:nvSpPr>
        <p:spPr>
          <a:xfrm>
            <a:off x="838200" y="5276850"/>
            <a:ext cx="1524000" cy="285750"/>
          </a:xfrm>
          <a:prstGeom prst="rect">
            <a:avLst/>
          </a:prstGeom>
          <a:noFill/>
        </p:spPr>
        <p:txBody>
          <a:bodyPr wrap="square" lIns="0" rIns="0" tIns="0" bIns="0" anchor="t">
            <a:spAutoFit/>
          </a:bodyPr>
          <a:lstStyle/>
          <a:p>
            <a:pPr algn="l">
              <a:lnSpc>
                <a:spcPct val="160000"/>
              </a:lnSpc>
            </a:pPr>
            <a:r>
              <a:rPr sz="1350" b="1">
                <a:solidFill>
                  <a:srgbClr val="0017C1"/>
                </a:solidFill>
                <a:latin typeface="Noto Sans JP"/>
                <a:ea typeface="Noto Sans JP"/>
                <a:cs typeface="Noto Sans JP"/>
              </a:rPr>
              <a:t>報告形式</a:t>
            </a:r>
          </a:p>
        </p:txBody>
      </p:sp>
      <p:sp>
        <p:nvSpPr>
          <p:cNvPr id="24" name="TextBox 23"/>
          <p:cNvSpPr txBox="1"/>
          <p:nvPr/>
        </p:nvSpPr>
        <p:spPr>
          <a:xfrm>
            <a:off x="2514600" y="5276850"/>
            <a:ext cx="5410200" cy="514350"/>
          </a:xfrm>
          <a:prstGeom prst="rect">
            <a:avLst/>
          </a:prstGeom>
          <a:noFill/>
        </p:spPr>
        <p:txBody>
          <a:bodyPr wrap="square" lIns="0" rIns="0" tIns="0" bIns="0" anchor="t">
            <a:spAutoFit/>
          </a:bodyPr>
          <a:lstStyle/>
          <a:p>
            <a:pPr algn="l">
              <a:lnSpc>
                <a:spcPct val="150000"/>
              </a:lnSpc>
            </a:pPr>
            <a:r>
              <a:rPr sz="1500" b="0">
                <a:solidFill>
                  <a:srgbClr val="1A1A1A"/>
                </a:solidFill>
                <a:latin typeface="Noto Sans JP"/>
                <a:ea typeface="Noto Sans JP"/>
                <a:cs typeface="Noto Sans JP"/>
              </a:rPr>
              <a:t>差分の要点／実行コマンドと結果／未検証事項。</a:t>
            </a:r>
          </a:p>
        </p:txBody>
      </p:sp>
      <p:sp>
        <p:nvSpPr>
          <p:cNvPr id="25" name="Rectangle 24"/>
          <p:cNvSpPr/>
          <p:nvPr/>
        </p:nvSpPr>
        <p:spPr>
          <a:xfrm>
            <a:off x="8458200" y="1943100"/>
            <a:ext cx="3124200" cy="4152900"/>
          </a:xfrm>
          <a:prstGeom prst="rect">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8686800" y="2171700"/>
            <a:ext cx="2667000" cy="800100"/>
          </a:xfrm>
          <a:prstGeom prst="rect">
            <a:avLst/>
          </a:prstGeom>
          <a:noFill/>
        </p:spPr>
        <p:txBody>
          <a:bodyPr wrap="square" lIns="0" rIns="0" tIns="0" bIns="0" anchor="t">
            <a:spAutoFit/>
          </a:bodyPr>
          <a:lstStyle/>
          <a:p>
            <a:pPr algn="l">
              <a:lnSpc>
                <a:spcPct val="150000"/>
              </a:lnSpc>
            </a:pPr>
            <a:r>
              <a:rPr sz="1800" b="1">
                <a:solidFill>
                  <a:srgbClr val="00118F"/>
                </a:solidFill>
                <a:latin typeface="Noto Sans JP"/>
                <a:ea typeface="Noto Sans JP"/>
                <a:cs typeface="Noto Sans JP"/>
              </a:rPr>
              <a:t>「できた」を</a:t>
            </a:r>
          </a:p>
          <a:p>
            <a:pPr algn="l">
              <a:lnSpc>
                <a:spcPct val="150000"/>
              </a:lnSpc>
            </a:pPr>
            <a:r>
              <a:rPr sz="1800" b="1">
                <a:solidFill>
                  <a:srgbClr val="00118F"/>
                </a:solidFill>
                <a:latin typeface="Noto Sans JP"/>
                <a:ea typeface="Noto Sans JP"/>
                <a:cs typeface="Noto Sans JP"/>
              </a:rPr>
              <a:t>判定できる依頼に</a:t>
            </a:r>
          </a:p>
        </p:txBody>
      </p:sp>
      <p:sp>
        <p:nvSpPr>
          <p:cNvPr id="27" name="TextBox 26"/>
          <p:cNvSpPr txBox="1"/>
          <p:nvPr/>
        </p:nvSpPr>
        <p:spPr>
          <a:xfrm>
            <a:off x="8686800" y="3200400"/>
            <a:ext cx="2667000" cy="419100"/>
          </a:xfrm>
          <a:prstGeom prst="rect">
            <a:avLst/>
          </a:prstGeom>
          <a:noFill/>
        </p:spPr>
        <p:txBody>
          <a:bodyPr wrap="square" lIns="0" rIns="0" tIns="0" bIns="0" anchor="t">
            <a:spAutoFit/>
          </a:bodyPr>
          <a:lstStyle/>
          <a:p>
            <a:pPr algn="l">
              <a:lnSpc>
                <a:spcPct val="150000"/>
              </a:lnSpc>
            </a:pPr>
            <a:r>
              <a:rPr sz="1650" b="1">
                <a:solidFill>
                  <a:srgbClr val="00118F"/>
                </a:solidFill>
                <a:latin typeface="Noto Sans JP"/>
                <a:ea typeface="Noto Sans JP"/>
                <a:cs typeface="Noto Sans JP"/>
              </a:rPr>
              <a:t>何が変わるか</a:t>
            </a:r>
          </a:p>
        </p:txBody>
      </p:sp>
      <p:sp>
        <p:nvSpPr>
          <p:cNvPr id="28" name="TextBox 27"/>
          <p:cNvSpPr txBox="1"/>
          <p:nvPr/>
        </p:nvSpPr>
        <p:spPr>
          <a:xfrm>
            <a:off x="8686800" y="3810000"/>
            <a:ext cx="2667000" cy="419100"/>
          </a:xfrm>
          <a:prstGeom prst="rect">
            <a:avLst/>
          </a:prstGeom>
          <a:noFill/>
        </p:spPr>
        <p:txBody>
          <a:bodyPr wrap="square" lIns="0" rIns="0" tIns="0" bIns="0" anchor="t">
            <a:spAutoFit/>
          </a:bodyPr>
          <a:lstStyle/>
          <a:p>
            <a:pPr algn="l">
              <a:lnSpc>
                <a:spcPct val="150000"/>
              </a:lnSpc>
            </a:pPr>
            <a:r>
              <a:rPr sz="1650" b="1">
                <a:solidFill>
                  <a:srgbClr val="00118F"/>
                </a:solidFill>
                <a:latin typeface="Noto Sans JP"/>
                <a:ea typeface="Noto Sans JP"/>
                <a:cs typeface="Noto Sans JP"/>
              </a:rPr>
              <a:t>どこまで変えるか</a:t>
            </a:r>
          </a:p>
        </p:txBody>
      </p:sp>
      <p:sp>
        <p:nvSpPr>
          <p:cNvPr id="29" name="TextBox 28"/>
          <p:cNvSpPr txBox="1"/>
          <p:nvPr/>
        </p:nvSpPr>
        <p:spPr>
          <a:xfrm>
            <a:off x="8686800" y="4419600"/>
            <a:ext cx="2667000" cy="419100"/>
          </a:xfrm>
          <a:prstGeom prst="rect">
            <a:avLst/>
          </a:prstGeom>
          <a:noFill/>
        </p:spPr>
        <p:txBody>
          <a:bodyPr wrap="square" lIns="0" rIns="0" tIns="0" bIns="0" anchor="t">
            <a:spAutoFit/>
          </a:bodyPr>
          <a:lstStyle/>
          <a:p>
            <a:pPr algn="l">
              <a:lnSpc>
                <a:spcPct val="150000"/>
              </a:lnSpc>
            </a:pPr>
            <a:r>
              <a:rPr sz="1650" b="1">
                <a:solidFill>
                  <a:srgbClr val="00118F"/>
                </a:solidFill>
                <a:latin typeface="Noto Sans JP"/>
                <a:ea typeface="Noto Sans JP"/>
                <a:cs typeface="Noto Sans JP"/>
              </a:rPr>
              <a:t>何を実行するか</a:t>
            </a:r>
          </a:p>
        </p:txBody>
      </p:sp>
      <p:sp>
        <p:nvSpPr>
          <p:cNvPr id="30" name="TextBox 29"/>
          <p:cNvSpPr txBox="1"/>
          <p:nvPr/>
        </p:nvSpPr>
        <p:spPr>
          <a:xfrm>
            <a:off x="8686800" y="5029200"/>
            <a:ext cx="2667000" cy="419100"/>
          </a:xfrm>
          <a:prstGeom prst="rect">
            <a:avLst/>
          </a:prstGeom>
          <a:noFill/>
        </p:spPr>
        <p:txBody>
          <a:bodyPr wrap="square" lIns="0" rIns="0" tIns="0" bIns="0" anchor="t">
            <a:spAutoFit/>
          </a:bodyPr>
          <a:lstStyle/>
          <a:p>
            <a:pPr algn="l">
              <a:lnSpc>
                <a:spcPct val="150000"/>
              </a:lnSpc>
            </a:pPr>
            <a:r>
              <a:rPr sz="1650" b="1">
                <a:solidFill>
                  <a:srgbClr val="00118F"/>
                </a:solidFill>
                <a:latin typeface="Noto Sans JP"/>
                <a:ea typeface="Noto Sans JP"/>
                <a:cs typeface="Noto Sans JP"/>
              </a:rPr>
              <a:t>何を提出するか</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609600" y="495300"/>
            <a:ext cx="57150" cy="228600"/>
          </a:xfrm>
          <a:prstGeom prst="rect">
            <a:avLst/>
          </a:prstGeom>
          <a:solidFill>
            <a:srgbClr val="0017C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62000" y="495300"/>
            <a:ext cx="9334500" cy="228600"/>
          </a:xfrm>
          <a:prstGeom prst="rect">
            <a:avLst/>
          </a:prstGeom>
          <a:noFill/>
        </p:spPr>
        <p:txBody>
          <a:bodyPr wrap="square" lIns="0" rIns="0" tIns="0" bIns="0" anchor="ctr">
            <a:spAutoFit/>
          </a:bodyPr>
          <a:lstStyle/>
          <a:p>
            <a:pPr algn="l">
              <a:lnSpc>
                <a:spcPct val="100000"/>
              </a:lnSpc>
            </a:pPr>
            <a:r>
              <a:rPr sz="1050" b="1">
                <a:solidFill>
                  <a:srgbClr val="0017C1"/>
                </a:solidFill>
                <a:latin typeface="Noto Sans JP"/>
                <a:ea typeface="Noto Sans JP"/>
                <a:cs typeface="Noto Sans JP"/>
              </a:rPr>
              <a:t>03 / つくって確かめる</a:t>
            </a:r>
          </a:p>
        </p:txBody>
      </p:sp>
      <p:sp>
        <p:nvSpPr>
          <p:cNvPr id="5" name="TextBox 4"/>
          <p:cNvSpPr txBox="1"/>
          <p:nvPr/>
        </p:nvSpPr>
        <p:spPr>
          <a:xfrm>
            <a:off x="609600" y="800100"/>
            <a:ext cx="10972800" cy="457200"/>
          </a:xfrm>
          <a:prstGeom prst="rect">
            <a:avLst/>
          </a:prstGeom>
          <a:noFill/>
        </p:spPr>
        <p:txBody>
          <a:bodyPr wrap="square" lIns="0" rIns="0" tIns="0" bIns="0" anchor="t">
            <a:spAutoFit/>
          </a:bodyPr>
          <a:lstStyle/>
          <a:p>
            <a:pPr algn="l">
              <a:lnSpc>
                <a:spcPct val="150000"/>
              </a:lnSpc>
            </a:pPr>
            <a:r>
              <a:rPr sz="2400" b="1">
                <a:solidFill>
                  <a:srgbClr val="1A1A1A"/>
                </a:solidFill>
                <a:latin typeface="Noto Sans JP"/>
                <a:ea typeface="Noto Sans JP"/>
                <a:cs typeface="Noto Sans JP"/>
              </a:rPr>
              <a:t>受け入れ条件は、入力と期待結果で決める</a:t>
            </a:r>
          </a:p>
        </p:txBody>
      </p:sp>
      <p:sp>
        <p:nvSpPr>
          <p:cNvPr id="6" name="Rectangle 5"/>
          <p:cNvSpPr/>
          <p:nvPr/>
        </p:nvSpPr>
        <p:spPr>
          <a:xfrm>
            <a:off x="609600" y="1333500"/>
            <a:ext cx="10972800" cy="19050"/>
          </a:xfrm>
          <a:prstGeom prst="rect">
            <a:avLst/>
          </a:prstGeom>
          <a:solidFill>
            <a:srgbClr val="9494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09600" y="1447800"/>
            <a:ext cx="10972800" cy="304800"/>
          </a:xfrm>
          <a:prstGeom prst="rect">
            <a:avLst/>
          </a:prstGeom>
          <a:noFill/>
        </p:spPr>
        <p:txBody>
          <a:bodyPr wrap="square" lIns="0" rIns="0" tIns="0" bIns="0" anchor="t">
            <a:spAutoFit/>
          </a:bodyPr>
          <a:lstStyle/>
          <a:p>
            <a:pPr algn="l">
              <a:lnSpc>
                <a:spcPct val="160000"/>
              </a:lnSpc>
            </a:pPr>
            <a:r>
              <a:rPr sz="1350" b="0">
                <a:solidFill>
                  <a:srgbClr val="4D4D4D"/>
                </a:solidFill>
                <a:latin typeface="Noto Sans JP"/>
                <a:ea typeface="Noto Sans JP"/>
                <a:cs typeface="Noto Sans JP"/>
              </a:rPr>
              <a:t>題材：normalize_title(value) — 申請メモのタイトルを保存前に整える関数。</a:t>
            </a:r>
          </a:p>
        </p:txBody>
      </p:sp>
      <p:sp>
        <p:nvSpPr>
          <p:cNvPr id="8" name="Rectangle 7"/>
          <p:cNvSpPr/>
          <p:nvPr/>
        </p:nvSpPr>
        <p:spPr>
          <a:xfrm>
            <a:off x="609600" y="6286500"/>
            <a:ext cx="10972800" cy="9525"/>
          </a:xfrm>
          <a:prstGeom prst="rect">
            <a:avLst/>
          </a:prstGeom>
          <a:solidFill>
            <a:srgbClr val="B3B3B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09600" y="6419850"/>
            <a:ext cx="4191000" cy="190500"/>
          </a:xfrm>
          <a:prstGeom prst="rect">
            <a:avLst/>
          </a:prstGeom>
          <a:noFill/>
        </p:spPr>
        <p:txBody>
          <a:bodyPr wrap="square" lIns="0" rIns="0" tIns="0" bIns="0" anchor="t">
            <a:spAutoFit/>
          </a:bodyPr>
          <a:lstStyle/>
          <a:p>
            <a:pPr algn="l">
              <a:lnSpc>
                <a:spcPct val="130000"/>
              </a:lnSpc>
            </a:pPr>
            <a:r>
              <a:rPr sz="1050" b="0">
                <a:solidFill>
                  <a:srgbClr val="767676"/>
                </a:solidFill>
                <a:latin typeface="Noto Sans JP"/>
                <a:ea typeface="Noto Sans JP"/>
                <a:cs typeface="Noto Sans JP"/>
              </a:rPr>
              <a:t>AI駆動開発ガイド</a:t>
            </a:r>
          </a:p>
        </p:txBody>
      </p:sp>
      <p:sp>
        <p:nvSpPr>
          <p:cNvPr id="10" name="TextBox 9"/>
          <p:cNvSpPr txBox="1"/>
          <p:nvPr/>
        </p:nvSpPr>
        <p:spPr>
          <a:xfrm>
            <a:off x="10668000" y="6419850"/>
            <a:ext cx="914400" cy="190500"/>
          </a:xfrm>
          <a:prstGeom prst="rect">
            <a:avLst/>
          </a:prstGeom>
          <a:noFill/>
        </p:spPr>
        <p:txBody>
          <a:bodyPr wrap="square" lIns="0" rIns="0" tIns="0" bIns="0" anchor="t">
            <a:spAutoFit/>
          </a:bodyPr>
          <a:lstStyle/>
          <a:p>
            <a:pPr algn="r">
              <a:lnSpc>
                <a:spcPct val="130000"/>
              </a:lnSpc>
            </a:pPr>
            <a:r>
              <a:rPr sz="1050" b="1">
                <a:solidFill>
                  <a:srgbClr val="767676"/>
                </a:solidFill>
                <a:latin typeface="Noto Sans JP"/>
                <a:ea typeface="Noto Sans JP"/>
                <a:cs typeface="Noto Sans JP"/>
              </a:rPr>
              <a:t>09 / 20</a:t>
            </a:r>
          </a:p>
        </p:txBody>
      </p:sp>
      <p:sp>
        <p:nvSpPr>
          <p:cNvPr id="11" name="Rectangle 10"/>
          <p:cNvSpPr/>
          <p:nvPr/>
        </p:nvSpPr>
        <p:spPr>
          <a:xfrm>
            <a:off x="609600" y="1943100"/>
            <a:ext cx="10972800" cy="457200"/>
          </a:xfrm>
          <a:prstGeom prst="rect">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762000" y="1943100"/>
            <a:ext cx="2247900" cy="457200"/>
          </a:xfrm>
          <a:prstGeom prst="rect">
            <a:avLst/>
          </a:prstGeom>
          <a:noFill/>
        </p:spPr>
        <p:txBody>
          <a:bodyPr wrap="square" lIns="0" rIns="0" tIns="0" bIns="0" anchor="ctr">
            <a:spAutoFit/>
          </a:bodyPr>
          <a:lstStyle/>
          <a:p>
            <a:pPr algn="l">
              <a:lnSpc>
                <a:spcPct val="160000"/>
              </a:lnSpc>
            </a:pPr>
            <a:r>
              <a:rPr sz="1350" b="1">
                <a:solidFill>
                  <a:srgbClr val="0017C1"/>
                </a:solidFill>
                <a:latin typeface="Noto Sans JP"/>
                <a:ea typeface="Noto Sans JP"/>
                <a:cs typeface="Noto Sans JP"/>
              </a:rPr>
              <a:t>観点</a:t>
            </a:r>
          </a:p>
        </p:txBody>
      </p:sp>
      <p:sp>
        <p:nvSpPr>
          <p:cNvPr id="13" name="TextBox 12"/>
          <p:cNvSpPr txBox="1"/>
          <p:nvPr/>
        </p:nvSpPr>
        <p:spPr>
          <a:xfrm>
            <a:off x="3314700" y="1943100"/>
            <a:ext cx="3581400" cy="457200"/>
          </a:xfrm>
          <a:prstGeom prst="rect">
            <a:avLst/>
          </a:prstGeom>
          <a:noFill/>
        </p:spPr>
        <p:txBody>
          <a:bodyPr wrap="square" lIns="0" rIns="0" tIns="0" bIns="0" anchor="ctr">
            <a:spAutoFit/>
          </a:bodyPr>
          <a:lstStyle/>
          <a:p>
            <a:pPr algn="l">
              <a:lnSpc>
                <a:spcPct val="160000"/>
              </a:lnSpc>
            </a:pPr>
            <a:r>
              <a:rPr sz="1350" b="1">
                <a:solidFill>
                  <a:srgbClr val="0017C1"/>
                </a:solidFill>
                <a:latin typeface="Noto Sans JP"/>
                <a:ea typeface="Noto Sans JP"/>
                <a:cs typeface="Noto Sans JP"/>
              </a:rPr>
              <a:t>受け入れ条件</a:t>
            </a:r>
          </a:p>
        </p:txBody>
      </p:sp>
      <p:sp>
        <p:nvSpPr>
          <p:cNvPr id="14" name="TextBox 13"/>
          <p:cNvSpPr txBox="1"/>
          <p:nvPr/>
        </p:nvSpPr>
        <p:spPr>
          <a:xfrm>
            <a:off x="7200900" y="1943100"/>
            <a:ext cx="4229100" cy="457200"/>
          </a:xfrm>
          <a:prstGeom prst="rect">
            <a:avLst/>
          </a:prstGeom>
          <a:noFill/>
        </p:spPr>
        <p:txBody>
          <a:bodyPr wrap="square" lIns="0" rIns="0" tIns="0" bIns="0" anchor="ctr">
            <a:spAutoFit/>
          </a:bodyPr>
          <a:lstStyle/>
          <a:p>
            <a:pPr algn="l">
              <a:lnSpc>
                <a:spcPct val="160000"/>
              </a:lnSpc>
            </a:pPr>
            <a:r>
              <a:rPr sz="1350" b="1">
                <a:solidFill>
                  <a:srgbClr val="0017C1"/>
                </a:solidFill>
                <a:latin typeface="Noto Sans JP"/>
                <a:ea typeface="Noto Sans JP"/>
                <a:cs typeface="Noto Sans JP"/>
              </a:rPr>
              <a:t>入力 → 期待結果</a:t>
            </a:r>
          </a:p>
        </p:txBody>
      </p:sp>
      <p:sp>
        <p:nvSpPr>
          <p:cNvPr id="15" name="Rectangle 14"/>
          <p:cNvSpPr/>
          <p:nvPr/>
        </p:nvSpPr>
        <p:spPr>
          <a:xfrm>
            <a:off x="609600" y="2400300"/>
            <a:ext cx="10972800" cy="19050"/>
          </a:xfrm>
          <a:prstGeom prst="rect">
            <a:avLst/>
          </a:prstGeom>
          <a:solidFill>
            <a:srgbClr val="0017C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762000" y="2457450"/>
            <a:ext cx="2247900" cy="609600"/>
          </a:xfrm>
          <a:prstGeom prst="rect">
            <a:avLst/>
          </a:prstGeom>
          <a:noFill/>
        </p:spPr>
        <p:txBody>
          <a:bodyPr wrap="square" lIns="0" rIns="0" tIns="0" bIns="0" anchor="ctr">
            <a:spAutoFit/>
          </a:bodyPr>
          <a:lstStyle/>
          <a:p>
            <a:pPr algn="l">
              <a:lnSpc>
                <a:spcPct val="150000"/>
              </a:lnSpc>
            </a:pPr>
            <a:r>
              <a:rPr sz="1500" b="1">
                <a:solidFill>
                  <a:srgbClr val="1A1A1A"/>
                </a:solidFill>
                <a:latin typeface="Noto Sans JP"/>
                <a:ea typeface="Noto Sans JP"/>
                <a:cs typeface="Noto Sans JP"/>
              </a:rPr>
              <a:t>前後の空白</a:t>
            </a:r>
          </a:p>
        </p:txBody>
      </p:sp>
      <p:sp>
        <p:nvSpPr>
          <p:cNvPr id="17" name="TextBox 16"/>
          <p:cNvSpPr txBox="1"/>
          <p:nvPr/>
        </p:nvSpPr>
        <p:spPr>
          <a:xfrm>
            <a:off x="3314700" y="2457450"/>
            <a:ext cx="3581400" cy="609600"/>
          </a:xfrm>
          <a:prstGeom prst="rect">
            <a:avLst/>
          </a:prstGeom>
          <a:noFill/>
        </p:spPr>
        <p:txBody>
          <a:bodyPr wrap="square" lIns="0" rIns="0" tIns="0" bIns="0" anchor="ctr">
            <a:spAutoFit/>
          </a:bodyPr>
          <a:lstStyle/>
          <a:p>
            <a:pPr algn="l">
              <a:lnSpc>
                <a:spcPct val="150000"/>
              </a:lnSpc>
            </a:pPr>
            <a:r>
              <a:rPr sz="1500" b="0">
                <a:solidFill>
                  <a:srgbClr val="4D4D4D"/>
                </a:solidFill>
                <a:latin typeface="Noto Sans JP"/>
                <a:ea typeface="Noto Sans JP"/>
                <a:cs typeface="Noto Sans JP"/>
              </a:rPr>
              <a:t>前後を除去し、内部は保つ</a:t>
            </a:r>
          </a:p>
        </p:txBody>
      </p:sp>
      <p:sp>
        <p:nvSpPr>
          <p:cNvPr id="18" name="TextBox 17"/>
          <p:cNvSpPr txBox="1"/>
          <p:nvPr/>
        </p:nvSpPr>
        <p:spPr>
          <a:xfrm>
            <a:off x="7200900" y="2457450"/>
            <a:ext cx="4229100" cy="609600"/>
          </a:xfrm>
          <a:prstGeom prst="rect">
            <a:avLst/>
          </a:prstGeom>
          <a:noFill/>
        </p:spPr>
        <p:txBody>
          <a:bodyPr wrap="square" lIns="0" rIns="0" tIns="0" bIns="0" anchor="ctr">
            <a:spAutoFit/>
          </a:bodyPr>
          <a:lstStyle/>
          <a:p>
            <a:pPr algn="l">
              <a:lnSpc>
                <a:spcPct val="150000"/>
              </a:lnSpc>
            </a:pPr>
            <a:r>
              <a:rPr sz="1500" b="0">
                <a:solidFill>
                  <a:srgbClr val="4D4D4D"/>
                </a:solidFill>
                <a:latin typeface="Noto Sans JP"/>
                <a:ea typeface="Noto Sans JP"/>
                <a:cs typeface="Noto Sans JP"/>
              </a:rPr>
              <a:t>「  申請 メモ  」→「申請 メモ」</a:t>
            </a:r>
          </a:p>
        </p:txBody>
      </p:sp>
      <p:sp>
        <p:nvSpPr>
          <p:cNvPr id="19" name="Rectangle 18"/>
          <p:cNvSpPr/>
          <p:nvPr/>
        </p:nvSpPr>
        <p:spPr>
          <a:xfrm>
            <a:off x="609600" y="3105150"/>
            <a:ext cx="10972800" cy="9525"/>
          </a:xfrm>
          <a:prstGeom prst="rect">
            <a:avLst/>
          </a:prstGeom>
          <a:solidFill>
            <a:srgbClr val="9494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762000" y="3152775"/>
            <a:ext cx="2247900" cy="609600"/>
          </a:xfrm>
          <a:prstGeom prst="rect">
            <a:avLst/>
          </a:prstGeom>
          <a:noFill/>
        </p:spPr>
        <p:txBody>
          <a:bodyPr wrap="square" lIns="0" rIns="0" tIns="0" bIns="0" anchor="ctr">
            <a:spAutoFit/>
          </a:bodyPr>
          <a:lstStyle/>
          <a:p>
            <a:pPr algn="l">
              <a:lnSpc>
                <a:spcPct val="150000"/>
              </a:lnSpc>
            </a:pPr>
            <a:r>
              <a:rPr sz="1500" b="1">
                <a:solidFill>
                  <a:srgbClr val="1A1A1A"/>
                </a:solidFill>
                <a:latin typeface="Noto Sans JP"/>
                <a:ea typeface="Noto Sans JP"/>
                <a:cs typeface="Noto Sans JP"/>
              </a:rPr>
              <a:t>必須入力</a:t>
            </a:r>
          </a:p>
        </p:txBody>
      </p:sp>
      <p:sp>
        <p:nvSpPr>
          <p:cNvPr id="21" name="TextBox 20"/>
          <p:cNvSpPr txBox="1"/>
          <p:nvPr/>
        </p:nvSpPr>
        <p:spPr>
          <a:xfrm>
            <a:off x="3314700" y="3152775"/>
            <a:ext cx="3581400" cy="609600"/>
          </a:xfrm>
          <a:prstGeom prst="rect">
            <a:avLst/>
          </a:prstGeom>
          <a:noFill/>
        </p:spPr>
        <p:txBody>
          <a:bodyPr wrap="square" lIns="0" rIns="0" tIns="0" bIns="0" anchor="ctr">
            <a:spAutoFit/>
          </a:bodyPr>
          <a:lstStyle/>
          <a:p>
            <a:pPr algn="l">
              <a:lnSpc>
                <a:spcPct val="150000"/>
              </a:lnSpc>
            </a:pPr>
            <a:r>
              <a:rPr sz="1500" b="0">
                <a:solidFill>
                  <a:srgbClr val="4D4D4D"/>
                </a:solidFill>
                <a:latin typeface="Noto Sans JP"/>
                <a:ea typeface="Noto Sans JP"/>
                <a:cs typeface="Noto Sans JP"/>
              </a:rPr>
              <a:t>空文字・空白のみはエラー</a:t>
            </a:r>
          </a:p>
        </p:txBody>
      </p:sp>
      <p:sp>
        <p:nvSpPr>
          <p:cNvPr id="22" name="TextBox 21"/>
          <p:cNvSpPr txBox="1"/>
          <p:nvPr/>
        </p:nvSpPr>
        <p:spPr>
          <a:xfrm>
            <a:off x="7200900" y="3152775"/>
            <a:ext cx="4229100" cy="609600"/>
          </a:xfrm>
          <a:prstGeom prst="rect">
            <a:avLst/>
          </a:prstGeom>
          <a:noFill/>
        </p:spPr>
        <p:txBody>
          <a:bodyPr wrap="square" lIns="0" rIns="0" tIns="0" bIns="0" anchor="ctr">
            <a:spAutoFit/>
          </a:bodyPr>
          <a:lstStyle/>
          <a:p>
            <a:pPr algn="l">
              <a:lnSpc>
                <a:spcPct val="150000"/>
              </a:lnSpc>
            </a:pPr>
            <a:r>
              <a:rPr sz="1500" b="0">
                <a:solidFill>
                  <a:srgbClr val="4D4D4D"/>
                </a:solidFill>
                <a:latin typeface="Noto Sans JP"/>
                <a:ea typeface="Noto Sans JP"/>
                <a:cs typeface="Noto Sans JP"/>
              </a:rPr>
              <a:t>「   」→ ValueError</a:t>
            </a:r>
          </a:p>
        </p:txBody>
      </p:sp>
      <p:sp>
        <p:nvSpPr>
          <p:cNvPr id="23" name="Rectangle 22"/>
          <p:cNvSpPr/>
          <p:nvPr/>
        </p:nvSpPr>
        <p:spPr>
          <a:xfrm>
            <a:off x="609600" y="3800475"/>
            <a:ext cx="10972800" cy="9525"/>
          </a:xfrm>
          <a:prstGeom prst="rect">
            <a:avLst/>
          </a:prstGeom>
          <a:solidFill>
            <a:srgbClr val="9494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762000" y="3848100"/>
            <a:ext cx="2247900" cy="609600"/>
          </a:xfrm>
          <a:prstGeom prst="rect">
            <a:avLst/>
          </a:prstGeom>
          <a:noFill/>
        </p:spPr>
        <p:txBody>
          <a:bodyPr wrap="square" lIns="0" rIns="0" tIns="0" bIns="0" anchor="ctr">
            <a:spAutoFit/>
          </a:bodyPr>
          <a:lstStyle/>
          <a:p>
            <a:pPr algn="l">
              <a:lnSpc>
                <a:spcPct val="150000"/>
              </a:lnSpc>
            </a:pPr>
            <a:r>
              <a:rPr sz="1500" b="1">
                <a:solidFill>
                  <a:srgbClr val="1A1A1A"/>
                </a:solidFill>
                <a:latin typeface="Noto Sans JP"/>
                <a:ea typeface="Noto Sans JP"/>
                <a:cs typeface="Noto Sans JP"/>
              </a:rPr>
              <a:t>最大長</a:t>
            </a:r>
          </a:p>
        </p:txBody>
      </p:sp>
      <p:sp>
        <p:nvSpPr>
          <p:cNvPr id="25" name="TextBox 24"/>
          <p:cNvSpPr txBox="1"/>
          <p:nvPr/>
        </p:nvSpPr>
        <p:spPr>
          <a:xfrm>
            <a:off x="3314700" y="3848100"/>
            <a:ext cx="3581400" cy="609600"/>
          </a:xfrm>
          <a:prstGeom prst="rect">
            <a:avLst/>
          </a:prstGeom>
          <a:noFill/>
        </p:spPr>
        <p:txBody>
          <a:bodyPr wrap="square" lIns="0" rIns="0" tIns="0" bIns="0" anchor="ctr">
            <a:spAutoFit/>
          </a:bodyPr>
          <a:lstStyle/>
          <a:p>
            <a:pPr algn="l">
              <a:lnSpc>
                <a:spcPct val="150000"/>
              </a:lnSpc>
            </a:pPr>
            <a:r>
              <a:rPr sz="1500" b="0">
                <a:solidFill>
                  <a:srgbClr val="4D4D4D"/>
                </a:solidFill>
                <a:latin typeface="Noto Sans JP"/>
                <a:ea typeface="Noto Sans JP"/>
                <a:cs typeface="Noto Sans JP"/>
              </a:rPr>
              <a:t>除去後の長さは1〜50</a:t>
            </a:r>
          </a:p>
        </p:txBody>
      </p:sp>
      <p:sp>
        <p:nvSpPr>
          <p:cNvPr id="26" name="TextBox 25"/>
          <p:cNvSpPr txBox="1"/>
          <p:nvPr/>
        </p:nvSpPr>
        <p:spPr>
          <a:xfrm>
            <a:off x="7200900" y="3848100"/>
            <a:ext cx="4229100" cy="609600"/>
          </a:xfrm>
          <a:prstGeom prst="rect">
            <a:avLst/>
          </a:prstGeom>
          <a:noFill/>
        </p:spPr>
        <p:txBody>
          <a:bodyPr wrap="square" lIns="0" rIns="0" tIns="0" bIns="0" anchor="ctr">
            <a:spAutoFit/>
          </a:bodyPr>
          <a:lstStyle/>
          <a:p>
            <a:pPr algn="l">
              <a:lnSpc>
                <a:spcPct val="150000"/>
              </a:lnSpc>
            </a:pPr>
            <a:r>
              <a:rPr sz="1500" b="0">
                <a:solidFill>
                  <a:srgbClr val="4D4D4D"/>
                </a:solidFill>
                <a:latin typeface="Noto Sans JP"/>
                <a:ea typeface="Noto Sans JP"/>
                <a:cs typeface="Noto Sans JP"/>
              </a:rPr>
              <a:t>50文字 → 成功／51文字 → エラー</a:t>
            </a:r>
          </a:p>
        </p:txBody>
      </p:sp>
      <p:sp>
        <p:nvSpPr>
          <p:cNvPr id="27" name="Rectangle 26"/>
          <p:cNvSpPr/>
          <p:nvPr/>
        </p:nvSpPr>
        <p:spPr>
          <a:xfrm>
            <a:off x="609600" y="4495800"/>
            <a:ext cx="10972800" cy="9525"/>
          </a:xfrm>
          <a:prstGeom prst="rect">
            <a:avLst/>
          </a:prstGeom>
          <a:solidFill>
            <a:srgbClr val="9494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762000" y="4543425"/>
            <a:ext cx="2247900" cy="609600"/>
          </a:xfrm>
          <a:prstGeom prst="rect">
            <a:avLst/>
          </a:prstGeom>
          <a:noFill/>
        </p:spPr>
        <p:txBody>
          <a:bodyPr wrap="square" lIns="0" rIns="0" tIns="0" bIns="0" anchor="ctr">
            <a:spAutoFit/>
          </a:bodyPr>
          <a:lstStyle/>
          <a:p>
            <a:pPr algn="l">
              <a:lnSpc>
                <a:spcPct val="150000"/>
              </a:lnSpc>
            </a:pPr>
            <a:r>
              <a:rPr sz="1500" b="1">
                <a:solidFill>
                  <a:srgbClr val="1A1A1A"/>
                </a:solidFill>
                <a:latin typeface="Noto Sans JP"/>
                <a:ea typeface="Noto Sans JP"/>
                <a:cs typeface="Noto Sans JP"/>
              </a:rPr>
              <a:t>型</a:t>
            </a:r>
          </a:p>
        </p:txBody>
      </p:sp>
      <p:sp>
        <p:nvSpPr>
          <p:cNvPr id="29" name="TextBox 28"/>
          <p:cNvSpPr txBox="1"/>
          <p:nvPr/>
        </p:nvSpPr>
        <p:spPr>
          <a:xfrm>
            <a:off x="3314700" y="4543425"/>
            <a:ext cx="3581400" cy="609600"/>
          </a:xfrm>
          <a:prstGeom prst="rect">
            <a:avLst/>
          </a:prstGeom>
          <a:noFill/>
        </p:spPr>
        <p:txBody>
          <a:bodyPr wrap="square" lIns="0" rIns="0" tIns="0" bIns="0" anchor="ctr">
            <a:spAutoFit/>
          </a:bodyPr>
          <a:lstStyle/>
          <a:p>
            <a:pPr algn="l">
              <a:lnSpc>
                <a:spcPct val="150000"/>
              </a:lnSpc>
            </a:pPr>
            <a:r>
              <a:rPr sz="1500" b="0">
                <a:solidFill>
                  <a:srgbClr val="4D4D4D"/>
                </a:solidFill>
                <a:latin typeface="Noto Sans JP"/>
                <a:ea typeface="Noto Sans JP"/>
                <a:cs typeface="Noto Sans JP"/>
              </a:rPr>
              <a:t>文字列以外はエラー</a:t>
            </a:r>
          </a:p>
        </p:txBody>
      </p:sp>
      <p:sp>
        <p:nvSpPr>
          <p:cNvPr id="30" name="TextBox 29"/>
          <p:cNvSpPr txBox="1"/>
          <p:nvPr/>
        </p:nvSpPr>
        <p:spPr>
          <a:xfrm>
            <a:off x="7200900" y="4543425"/>
            <a:ext cx="4229100" cy="609600"/>
          </a:xfrm>
          <a:prstGeom prst="rect">
            <a:avLst/>
          </a:prstGeom>
          <a:noFill/>
        </p:spPr>
        <p:txBody>
          <a:bodyPr wrap="square" lIns="0" rIns="0" tIns="0" bIns="0" anchor="ctr">
            <a:spAutoFit/>
          </a:bodyPr>
          <a:lstStyle/>
          <a:p>
            <a:pPr algn="l">
              <a:lnSpc>
                <a:spcPct val="150000"/>
              </a:lnSpc>
            </a:pPr>
            <a:r>
              <a:rPr sz="1500" b="0">
                <a:solidFill>
                  <a:srgbClr val="4D4D4D"/>
                </a:solidFill>
                <a:latin typeface="Noto Sans JP"/>
                <a:ea typeface="Noto Sans JP"/>
                <a:cs typeface="Noto Sans JP"/>
              </a:rPr>
              <a:t>123、None → TypeError</a:t>
            </a:r>
          </a:p>
        </p:txBody>
      </p:sp>
      <p:sp>
        <p:nvSpPr>
          <p:cNvPr id="31" name="Rectangle 30"/>
          <p:cNvSpPr/>
          <p:nvPr/>
        </p:nvSpPr>
        <p:spPr>
          <a:xfrm>
            <a:off x="609600" y="5191125"/>
            <a:ext cx="10972800" cy="9525"/>
          </a:xfrm>
          <a:prstGeom prst="rect">
            <a:avLst/>
          </a:prstGeom>
          <a:solidFill>
            <a:srgbClr val="9494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609600" y="5486400"/>
            <a:ext cx="10972800" cy="609600"/>
          </a:xfrm>
          <a:prstGeom prst="rect">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838200" y="5486400"/>
            <a:ext cx="10515600" cy="609600"/>
          </a:xfrm>
          <a:prstGeom prst="rect">
            <a:avLst/>
          </a:prstGeom>
          <a:noFill/>
        </p:spPr>
        <p:txBody>
          <a:bodyPr wrap="square" lIns="0" rIns="0" tIns="0" bIns="0" anchor="ctr">
            <a:spAutoFit/>
          </a:bodyPr>
          <a:lstStyle/>
          <a:p>
            <a:pPr algn="l">
              <a:lnSpc>
                <a:spcPct val="150000"/>
              </a:lnSpc>
            </a:pPr>
            <a:r>
              <a:rPr sz="1500" b="1">
                <a:solidFill>
                  <a:srgbClr val="00118F"/>
                </a:solidFill>
                <a:latin typeface="Noto Sans JP"/>
                <a:ea typeface="Noto Sans JP"/>
                <a:cs typeface="Noto Sans JP"/>
              </a:rPr>
              <a:t>数え方も仕様にする：ここでは Python の len() を使う。DB保存・画面表示は対象外。</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609600" y="495300"/>
            <a:ext cx="57150" cy="228600"/>
          </a:xfrm>
          <a:prstGeom prst="rect">
            <a:avLst/>
          </a:prstGeom>
          <a:solidFill>
            <a:srgbClr val="0017C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62000" y="495300"/>
            <a:ext cx="9334500" cy="228600"/>
          </a:xfrm>
          <a:prstGeom prst="rect">
            <a:avLst/>
          </a:prstGeom>
          <a:noFill/>
        </p:spPr>
        <p:txBody>
          <a:bodyPr wrap="square" lIns="0" rIns="0" tIns="0" bIns="0" anchor="ctr">
            <a:spAutoFit/>
          </a:bodyPr>
          <a:lstStyle/>
          <a:p>
            <a:pPr algn="l">
              <a:lnSpc>
                <a:spcPct val="100000"/>
              </a:lnSpc>
            </a:pPr>
            <a:r>
              <a:rPr sz="1050" b="1">
                <a:solidFill>
                  <a:srgbClr val="0017C1"/>
                </a:solidFill>
                <a:latin typeface="Noto Sans JP"/>
                <a:ea typeface="Noto Sans JP"/>
                <a:cs typeface="Noto Sans JP"/>
              </a:rPr>
              <a:t>03 / つくって確かめる</a:t>
            </a:r>
          </a:p>
        </p:txBody>
      </p:sp>
      <p:sp>
        <p:nvSpPr>
          <p:cNvPr id="5" name="TextBox 4"/>
          <p:cNvSpPr txBox="1"/>
          <p:nvPr/>
        </p:nvSpPr>
        <p:spPr>
          <a:xfrm>
            <a:off x="609600" y="800100"/>
            <a:ext cx="10972800" cy="457200"/>
          </a:xfrm>
          <a:prstGeom prst="rect">
            <a:avLst/>
          </a:prstGeom>
          <a:noFill/>
        </p:spPr>
        <p:txBody>
          <a:bodyPr wrap="square" lIns="0" rIns="0" tIns="0" bIns="0" anchor="t">
            <a:spAutoFit/>
          </a:bodyPr>
          <a:lstStyle/>
          <a:p>
            <a:pPr algn="l">
              <a:lnSpc>
                <a:spcPct val="150000"/>
              </a:lnSpc>
            </a:pPr>
            <a:r>
              <a:rPr sz="2400" b="1">
                <a:solidFill>
                  <a:srgbClr val="1A1A1A"/>
                </a:solidFill>
                <a:latin typeface="Noto Sans JP"/>
                <a:ea typeface="Noto Sans JP"/>
                <a:cs typeface="Noto Sans JP"/>
              </a:rPr>
              <a:t>変更は、レビューできる小ささに保つ</a:t>
            </a:r>
          </a:p>
        </p:txBody>
      </p:sp>
      <p:sp>
        <p:nvSpPr>
          <p:cNvPr id="6" name="Rectangle 5"/>
          <p:cNvSpPr/>
          <p:nvPr/>
        </p:nvSpPr>
        <p:spPr>
          <a:xfrm>
            <a:off x="609600" y="1333500"/>
            <a:ext cx="10972800" cy="19050"/>
          </a:xfrm>
          <a:prstGeom prst="rect">
            <a:avLst/>
          </a:prstGeom>
          <a:solidFill>
            <a:srgbClr val="9494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09600" y="1447800"/>
            <a:ext cx="10972800" cy="304800"/>
          </a:xfrm>
          <a:prstGeom prst="rect">
            <a:avLst/>
          </a:prstGeom>
          <a:noFill/>
        </p:spPr>
        <p:txBody>
          <a:bodyPr wrap="square" lIns="0" rIns="0" tIns="0" bIns="0" anchor="t">
            <a:spAutoFit/>
          </a:bodyPr>
          <a:lstStyle/>
          <a:p>
            <a:pPr algn="l">
              <a:lnSpc>
                <a:spcPct val="160000"/>
              </a:lnSpc>
            </a:pPr>
            <a:r>
              <a:rPr sz="1350" b="0">
                <a:solidFill>
                  <a:srgbClr val="4D4D4D"/>
                </a:solidFill>
                <a:latin typeface="Noto Sans JP"/>
                <a:ea typeface="Noto Sans JP"/>
                <a:cs typeface="Noto Sans JP"/>
              </a:rPr>
              <a:t>受け入れ条件に必要な差分をつくり、途中で変更範囲を確かめる。</a:t>
            </a:r>
          </a:p>
        </p:txBody>
      </p:sp>
      <p:sp>
        <p:nvSpPr>
          <p:cNvPr id="8" name="Rectangle 7"/>
          <p:cNvSpPr/>
          <p:nvPr/>
        </p:nvSpPr>
        <p:spPr>
          <a:xfrm>
            <a:off x="609600" y="6286500"/>
            <a:ext cx="10972800" cy="9525"/>
          </a:xfrm>
          <a:prstGeom prst="rect">
            <a:avLst/>
          </a:prstGeom>
          <a:solidFill>
            <a:srgbClr val="B3B3B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09600" y="6419850"/>
            <a:ext cx="4191000" cy="190500"/>
          </a:xfrm>
          <a:prstGeom prst="rect">
            <a:avLst/>
          </a:prstGeom>
          <a:noFill/>
        </p:spPr>
        <p:txBody>
          <a:bodyPr wrap="square" lIns="0" rIns="0" tIns="0" bIns="0" anchor="t">
            <a:spAutoFit/>
          </a:bodyPr>
          <a:lstStyle/>
          <a:p>
            <a:pPr algn="l">
              <a:lnSpc>
                <a:spcPct val="130000"/>
              </a:lnSpc>
            </a:pPr>
            <a:r>
              <a:rPr sz="1050" b="0">
                <a:solidFill>
                  <a:srgbClr val="767676"/>
                </a:solidFill>
                <a:latin typeface="Noto Sans JP"/>
                <a:ea typeface="Noto Sans JP"/>
                <a:cs typeface="Noto Sans JP"/>
              </a:rPr>
              <a:t>AI駆動開発ガイド</a:t>
            </a:r>
          </a:p>
        </p:txBody>
      </p:sp>
      <p:sp>
        <p:nvSpPr>
          <p:cNvPr id="10" name="TextBox 9"/>
          <p:cNvSpPr txBox="1"/>
          <p:nvPr/>
        </p:nvSpPr>
        <p:spPr>
          <a:xfrm>
            <a:off x="10668000" y="6419850"/>
            <a:ext cx="914400" cy="190500"/>
          </a:xfrm>
          <a:prstGeom prst="rect">
            <a:avLst/>
          </a:prstGeom>
          <a:noFill/>
        </p:spPr>
        <p:txBody>
          <a:bodyPr wrap="square" lIns="0" rIns="0" tIns="0" bIns="0" anchor="t">
            <a:spAutoFit/>
          </a:bodyPr>
          <a:lstStyle/>
          <a:p>
            <a:pPr algn="r">
              <a:lnSpc>
                <a:spcPct val="130000"/>
              </a:lnSpc>
            </a:pPr>
            <a:r>
              <a:rPr sz="1050" b="1">
                <a:solidFill>
                  <a:srgbClr val="767676"/>
                </a:solidFill>
                <a:latin typeface="Noto Sans JP"/>
                <a:ea typeface="Noto Sans JP"/>
                <a:cs typeface="Noto Sans JP"/>
              </a:rPr>
              <a:t>10 / 20</a:t>
            </a:r>
          </a:p>
        </p:txBody>
      </p:sp>
      <p:sp>
        <p:nvSpPr>
          <p:cNvPr id="11" name="Oval 10"/>
          <p:cNvSpPr/>
          <p:nvPr/>
        </p:nvSpPr>
        <p:spPr>
          <a:xfrm>
            <a:off x="609600" y="2057400"/>
            <a:ext cx="457200" cy="457200"/>
          </a:xfrm>
          <a:prstGeom prst="ellipse">
            <a:avLst/>
          </a:prstGeom>
          <a:solidFill>
            <a:srgbClr val="0017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9600" y="2057400"/>
            <a:ext cx="457200" cy="457200"/>
          </a:xfrm>
          <a:prstGeom prst="rect">
            <a:avLst/>
          </a:prstGeom>
          <a:noFill/>
        </p:spPr>
        <p:txBody>
          <a:bodyPr wrap="square" lIns="0" rIns="0" tIns="0" bIns="0" anchor="ctr">
            <a:spAutoFit/>
          </a:bodyPr>
          <a:lstStyle/>
          <a:p>
            <a:pPr algn="ctr">
              <a:lnSpc>
                <a:spcPct val="150000"/>
              </a:lnSpc>
            </a:pPr>
            <a:r>
              <a:rPr sz="1500" b="1">
                <a:solidFill>
                  <a:srgbClr val="FFFFFF"/>
                </a:solidFill>
                <a:latin typeface="Noto Sans JP"/>
                <a:ea typeface="Noto Sans JP"/>
                <a:cs typeface="Noto Sans JP"/>
              </a:rPr>
              <a:t>01</a:t>
            </a:r>
          </a:p>
        </p:txBody>
      </p:sp>
      <p:sp>
        <p:nvSpPr>
          <p:cNvPr id="13" name="TextBox 12"/>
          <p:cNvSpPr txBox="1"/>
          <p:nvPr/>
        </p:nvSpPr>
        <p:spPr>
          <a:xfrm>
            <a:off x="1295400" y="1981200"/>
            <a:ext cx="5638800" cy="381000"/>
          </a:xfrm>
          <a:prstGeom prst="rect">
            <a:avLst/>
          </a:prstGeom>
          <a:noFill/>
        </p:spPr>
        <p:txBody>
          <a:bodyPr wrap="square" lIns="0" rIns="0" tIns="0" bIns="0" anchor="t">
            <a:spAutoFit/>
          </a:bodyPr>
          <a:lstStyle/>
          <a:p>
            <a:pPr algn="l">
              <a:lnSpc>
                <a:spcPct val="150000"/>
              </a:lnSpc>
            </a:pPr>
            <a:r>
              <a:rPr sz="1800" b="1">
                <a:solidFill>
                  <a:srgbClr val="1A1A1A"/>
                </a:solidFill>
                <a:latin typeface="Noto Sans JP"/>
                <a:ea typeface="Noto Sans JP"/>
                <a:cs typeface="Noto Sans JP"/>
              </a:rPr>
              <a:t>既存の実装を読む</a:t>
            </a:r>
          </a:p>
        </p:txBody>
      </p:sp>
      <p:sp>
        <p:nvSpPr>
          <p:cNvPr id="14" name="TextBox 13"/>
          <p:cNvSpPr txBox="1"/>
          <p:nvPr/>
        </p:nvSpPr>
        <p:spPr>
          <a:xfrm>
            <a:off x="1295400" y="2400300"/>
            <a:ext cx="5867400" cy="342900"/>
          </a:xfrm>
          <a:prstGeom prst="rect">
            <a:avLst/>
          </a:prstGeom>
          <a:noFill/>
        </p:spPr>
        <p:txBody>
          <a:bodyPr wrap="square" lIns="0" rIns="0" tIns="0" bIns="0" anchor="t">
            <a:spAutoFit/>
          </a:bodyPr>
          <a:lstStyle/>
          <a:p>
            <a:pPr algn="l">
              <a:lnSpc>
                <a:spcPct val="150000"/>
              </a:lnSpc>
            </a:pPr>
            <a:r>
              <a:rPr sz="1500" b="0">
                <a:solidFill>
                  <a:srgbClr val="4D4D4D"/>
                </a:solidFill>
                <a:latin typeface="Noto Sans JP"/>
                <a:ea typeface="Noto Sans JP"/>
                <a:cs typeface="Noto Sans JP"/>
              </a:rPr>
              <a:t>同じ責務の処理・例外・テストを確認</a:t>
            </a:r>
          </a:p>
        </p:txBody>
      </p:sp>
      <p:sp>
        <p:nvSpPr>
          <p:cNvPr id="15" name="Oval 14"/>
          <p:cNvSpPr/>
          <p:nvPr/>
        </p:nvSpPr>
        <p:spPr>
          <a:xfrm>
            <a:off x="609600" y="3009900"/>
            <a:ext cx="457200" cy="457200"/>
          </a:xfrm>
          <a:prstGeom prst="ellipse">
            <a:avLst/>
          </a:prstGeom>
          <a:solidFill>
            <a:srgbClr val="0017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09600" y="3009900"/>
            <a:ext cx="457200" cy="457200"/>
          </a:xfrm>
          <a:prstGeom prst="rect">
            <a:avLst/>
          </a:prstGeom>
          <a:noFill/>
        </p:spPr>
        <p:txBody>
          <a:bodyPr wrap="square" lIns="0" rIns="0" tIns="0" bIns="0" anchor="ctr">
            <a:spAutoFit/>
          </a:bodyPr>
          <a:lstStyle/>
          <a:p>
            <a:pPr algn="ctr">
              <a:lnSpc>
                <a:spcPct val="150000"/>
              </a:lnSpc>
            </a:pPr>
            <a:r>
              <a:rPr sz="1500" b="1">
                <a:solidFill>
                  <a:srgbClr val="FFFFFF"/>
                </a:solidFill>
                <a:latin typeface="Noto Sans JP"/>
                <a:ea typeface="Noto Sans JP"/>
                <a:cs typeface="Noto Sans JP"/>
              </a:rPr>
              <a:t>02</a:t>
            </a:r>
          </a:p>
        </p:txBody>
      </p:sp>
      <p:sp>
        <p:nvSpPr>
          <p:cNvPr id="17" name="TextBox 16"/>
          <p:cNvSpPr txBox="1"/>
          <p:nvPr/>
        </p:nvSpPr>
        <p:spPr>
          <a:xfrm>
            <a:off x="1295400" y="2933700"/>
            <a:ext cx="5638800" cy="381000"/>
          </a:xfrm>
          <a:prstGeom prst="rect">
            <a:avLst/>
          </a:prstGeom>
          <a:noFill/>
        </p:spPr>
        <p:txBody>
          <a:bodyPr wrap="square" lIns="0" rIns="0" tIns="0" bIns="0" anchor="t">
            <a:spAutoFit/>
          </a:bodyPr>
          <a:lstStyle/>
          <a:p>
            <a:pPr algn="l">
              <a:lnSpc>
                <a:spcPct val="150000"/>
              </a:lnSpc>
            </a:pPr>
            <a:r>
              <a:rPr sz="1800" b="1">
                <a:solidFill>
                  <a:srgbClr val="1A1A1A"/>
                </a:solidFill>
                <a:latin typeface="Noto Sans JP"/>
                <a:ea typeface="Noto Sans JP"/>
                <a:cs typeface="Noto Sans JP"/>
              </a:rPr>
              <a:t>変更範囲を示す</a:t>
            </a:r>
          </a:p>
        </p:txBody>
      </p:sp>
      <p:sp>
        <p:nvSpPr>
          <p:cNvPr id="18" name="TextBox 17"/>
          <p:cNvSpPr txBox="1"/>
          <p:nvPr/>
        </p:nvSpPr>
        <p:spPr>
          <a:xfrm>
            <a:off x="1295400" y="3352800"/>
            <a:ext cx="5867400" cy="342900"/>
          </a:xfrm>
          <a:prstGeom prst="rect">
            <a:avLst/>
          </a:prstGeom>
          <a:noFill/>
        </p:spPr>
        <p:txBody>
          <a:bodyPr wrap="square" lIns="0" rIns="0" tIns="0" bIns="0" anchor="t">
            <a:spAutoFit/>
          </a:bodyPr>
          <a:lstStyle/>
          <a:p>
            <a:pPr algn="l">
              <a:lnSpc>
                <a:spcPct val="150000"/>
              </a:lnSpc>
            </a:pPr>
            <a:r>
              <a:rPr sz="1500" b="0">
                <a:solidFill>
                  <a:srgbClr val="4D4D4D"/>
                </a:solidFill>
                <a:latin typeface="Noto Sans JP"/>
                <a:ea typeface="Noto Sans JP"/>
                <a:cs typeface="Noto Sans JP"/>
              </a:rPr>
              <a:t>関数とテストの対象ファイルを列挙</a:t>
            </a:r>
          </a:p>
        </p:txBody>
      </p:sp>
      <p:sp>
        <p:nvSpPr>
          <p:cNvPr id="19" name="Oval 18"/>
          <p:cNvSpPr/>
          <p:nvPr/>
        </p:nvSpPr>
        <p:spPr>
          <a:xfrm>
            <a:off x="609600" y="3962400"/>
            <a:ext cx="457200" cy="457200"/>
          </a:xfrm>
          <a:prstGeom prst="ellipse">
            <a:avLst/>
          </a:prstGeom>
          <a:solidFill>
            <a:srgbClr val="0017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09600" y="3962400"/>
            <a:ext cx="457200" cy="457200"/>
          </a:xfrm>
          <a:prstGeom prst="rect">
            <a:avLst/>
          </a:prstGeom>
          <a:noFill/>
        </p:spPr>
        <p:txBody>
          <a:bodyPr wrap="square" lIns="0" rIns="0" tIns="0" bIns="0" anchor="ctr">
            <a:spAutoFit/>
          </a:bodyPr>
          <a:lstStyle/>
          <a:p>
            <a:pPr algn="ctr">
              <a:lnSpc>
                <a:spcPct val="150000"/>
              </a:lnSpc>
            </a:pPr>
            <a:r>
              <a:rPr sz="1500" b="1">
                <a:solidFill>
                  <a:srgbClr val="FFFFFF"/>
                </a:solidFill>
                <a:latin typeface="Noto Sans JP"/>
                <a:ea typeface="Noto Sans JP"/>
                <a:cs typeface="Noto Sans JP"/>
              </a:rPr>
              <a:t>03</a:t>
            </a:r>
          </a:p>
        </p:txBody>
      </p:sp>
      <p:sp>
        <p:nvSpPr>
          <p:cNvPr id="21" name="TextBox 20"/>
          <p:cNvSpPr txBox="1"/>
          <p:nvPr/>
        </p:nvSpPr>
        <p:spPr>
          <a:xfrm>
            <a:off x="1295400" y="3886200"/>
            <a:ext cx="5638800" cy="381000"/>
          </a:xfrm>
          <a:prstGeom prst="rect">
            <a:avLst/>
          </a:prstGeom>
          <a:noFill/>
        </p:spPr>
        <p:txBody>
          <a:bodyPr wrap="square" lIns="0" rIns="0" tIns="0" bIns="0" anchor="t">
            <a:spAutoFit/>
          </a:bodyPr>
          <a:lstStyle/>
          <a:p>
            <a:pPr algn="l">
              <a:lnSpc>
                <a:spcPct val="150000"/>
              </a:lnSpc>
            </a:pPr>
            <a:r>
              <a:rPr sz="1800" b="1">
                <a:solidFill>
                  <a:srgbClr val="1A1A1A"/>
                </a:solidFill>
                <a:latin typeface="Noto Sans JP"/>
                <a:ea typeface="Noto Sans JP"/>
                <a:cs typeface="Noto Sans JP"/>
              </a:rPr>
              <a:t>1つの仕様を実装する</a:t>
            </a:r>
          </a:p>
        </p:txBody>
      </p:sp>
      <p:sp>
        <p:nvSpPr>
          <p:cNvPr id="22" name="TextBox 21"/>
          <p:cNvSpPr txBox="1"/>
          <p:nvPr/>
        </p:nvSpPr>
        <p:spPr>
          <a:xfrm>
            <a:off x="1295400" y="4305300"/>
            <a:ext cx="5867400" cy="342900"/>
          </a:xfrm>
          <a:prstGeom prst="rect">
            <a:avLst/>
          </a:prstGeom>
          <a:noFill/>
        </p:spPr>
        <p:txBody>
          <a:bodyPr wrap="square" lIns="0" rIns="0" tIns="0" bIns="0" anchor="t">
            <a:spAutoFit/>
          </a:bodyPr>
          <a:lstStyle/>
          <a:p>
            <a:pPr algn="l">
              <a:lnSpc>
                <a:spcPct val="150000"/>
              </a:lnSpc>
            </a:pPr>
            <a:r>
              <a:rPr sz="1500" b="0">
                <a:solidFill>
                  <a:srgbClr val="4D4D4D"/>
                </a:solidFill>
                <a:latin typeface="Noto Sans JP"/>
                <a:ea typeface="Noto Sans JP"/>
                <a:cs typeface="Noto Sans JP"/>
              </a:rPr>
              <a:t>型 → 空白除去 → 必須 → 最大長の順</a:t>
            </a:r>
          </a:p>
        </p:txBody>
      </p:sp>
      <p:sp>
        <p:nvSpPr>
          <p:cNvPr id="23" name="Oval 22"/>
          <p:cNvSpPr/>
          <p:nvPr/>
        </p:nvSpPr>
        <p:spPr>
          <a:xfrm>
            <a:off x="609600" y="4914900"/>
            <a:ext cx="457200" cy="457200"/>
          </a:xfrm>
          <a:prstGeom prst="ellipse">
            <a:avLst/>
          </a:prstGeom>
          <a:solidFill>
            <a:srgbClr val="0017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09600" y="4914900"/>
            <a:ext cx="457200" cy="457200"/>
          </a:xfrm>
          <a:prstGeom prst="rect">
            <a:avLst/>
          </a:prstGeom>
          <a:noFill/>
        </p:spPr>
        <p:txBody>
          <a:bodyPr wrap="square" lIns="0" rIns="0" tIns="0" bIns="0" anchor="ctr">
            <a:spAutoFit/>
          </a:bodyPr>
          <a:lstStyle/>
          <a:p>
            <a:pPr algn="ctr">
              <a:lnSpc>
                <a:spcPct val="150000"/>
              </a:lnSpc>
            </a:pPr>
            <a:r>
              <a:rPr sz="1500" b="1">
                <a:solidFill>
                  <a:srgbClr val="FFFFFF"/>
                </a:solidFill>
                <a:latin typeface="Noto Sans JP"/>
                <a:ea typeface="Noto Sans JP"/>
                <a:cs typeface="Noto Sans JP"/>
              </a:rPr>
              <a:t>04</a:t>
            </a:r>
          </a:p>
        </p:txBody>
      </p:sp>
      <p:sp>
        <p:nvSpPr>
          <p:cNvPr id="25" name="TextBox 24"/>
          <p:cNvSpPr txBox="1"/>
          <p:nvPr/>
        </p:nvSpPr>
        <p:spPr>
          <a:xfrm>
            <a:off x="1295400" y="4838700"/>
            <a:ext cx="5638800" cy="381000"/>
          </a:xfrm>
          <a:prstGeom prst="rect">
            <a:avLst/>
          </a:prstGeom>
          <a:noFill/>
        </p:spPr>
        <p:txBody>
          <a:bodyPr wrap="square" lIns="0" rIns="0" tIns="0" bIns="0" anchor="t">
            <a:spAutoFit/>
          </a:bodyPr>
          <a:lstStyle/>
          <a:p>
            <a:pPr algn="l">
              <a:lnSpc>
                <a:spcPct val="150000"/>
              </a:lnSpc>
            </a:pPr>
            <a:r>
              <a:rPr sz="1800" b="1">
                <a:solidFill>
                  <a:srgbClr val="1A1A1A"/>
                </a:solidFill>
                <a:latin typeface="Noto Sans JP"/>
                <a:ea typeface="Noto Sans JP"/>
                <a:cs typeface="Noto Sans JP"/>
              </a:rPr>
              <a:t>差分と実行結果を確認</a:t>
            </a:r>
          </a:p>
        </p:txBody>
      </p:sp>
      <p:sp>
        <p:nvSpPr>
          <p:cNvPr id="26" name="TextBox 25"/>
          <p:cNvSpPr txBox="1"/>
          <p:nvPr/>
        </p:nvSpPr>
        <p:spPr>
          <a:xfrm>
            <a:off x="1295400" y="5257800"/>
            <a:ext cx="5867400" cy="342900"/>
          </a:xfrm>
          <a:prstGeom prst="rect">
            <a:avLst/>
          </a:prstGeom>
          <a:noFill/>
        </p:spPr>
        <p:txBody>
          <a:bodyPr wrap="square" lIns="0" rIns="0" tIns="0" bIns="0" anchor="t">
            <a:spAutoFit/>
          </a:bodyPr>
          <a:lstStyle/>
          <a:p>
            <a:pPr algn="l">
              <a:lnSpc>
                <a:spcPct val="150000"/>
              </a:lnSpc>
            </a:pPr>
            <a:r>
              <a:rPr sz="1500" b="0">
                <a:solidFill>
                  <a:srgbClr val="4D4D4D"/>
                </a:solidFill>
                <a:latin typeface="Noto Sans JP"/>
                <a:ea typeface="Noto Sans JP"/>
                <a:cs typeface="Noto Sans JP"/>
              </a:rPr>
              <a:t>無関係な修正がないかも読む</a:t>
            </a:r>
          </a:p>
        </p:txBody>
      </p:sp>
      <p:sp>
        <p:nvSpPr>
          <p:cNvPr id="27" name="Rectangle 26"/>
          <p:cNvSpPr/>
          <p:nvPr/>
        </p:nvSpPr>
        <p:spPr>
          <a:xfrm>
            <a:off x="7772400" y="1981200"/>
            <a:ext cx="3810000" cy="3848100"/>
          </a:xfrm>
          <a:prstGeom prst="rect">
            <a:avLst/>
          </a:prstGeom>
          <a:solidFill>
            <a:srgbClr val="0011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8039100" y="2286000"/>
            <a:ext cx="3276600" cy="457200"/>
          </a:xfrm>
          <a:prstGeom prst="rect">
            <a:avLst/>
          </a:prstGeom>
          <a:noFill/>
        </p:spPr>
        <p:txBody>
          <a:bodyPr wrap="square" lIns="0" rIns="0" tIns="0" bIns="0" anchor="t">
            <a:spAutoFit/>
          </a:bodyPr>
          <a:lstStyle/>
          <a:p>
            <a:pPr algn="l">
              <a:lnSpc>
                <a:spcPct val="150000"/>
              </a:lnSpc>
            </a:pPr>
            <a:r>
              <a:rPr sz="1800" b="1">
                <a:solidFill>
                  <a:srgbClr val="FFFFFF"/>
                </a:solidFill>
                <a:latin typeface="Noto Sans JP"/>
                <a:ea typeface="Noto Sans JP"/>
                <a:cs typeface="Noto Sans JP"/>
              </a:rPr>
              <a:t>変更の単位</a:t>
            </a:r>
          </a:p>
        </p:txBody>
      </p:sp>
      <p:sp>
        <p:nvSpPr>
          <p:cNvPr id="29" name="TextBox 28"/>
          <p:cNvSpPr txBox="1"/>
          <p:nvPr/>
        </p:nvSpPr>
        <p:spPr>
          <a:xfrm>
            <a:off x="8039100" y="3086100"/>
            <a:ext cx="3276600" cy="1333500"/>
          </a:xfrm>
          <a:prstGeom prst="rect">
            <a:avLst/>
          </a:prstGeom>
          <a:noFill/>
        </p:spPr>
        <p:txBody>
          <a:bodyPr wrap="square" lIns="0" rIns="0" tIns="0" bIns="0" anchor="t">
            <a:spAutoFit/>
          </a:bodyPr>
          <a:lstStyle/>
          <a:p>
            <a:pPr algn="l">
              <a:lnSpc>
                <a:spcPct val="150000"/>
              </a:lnSpc>
            </a:pPr>
            <a:r>
              <a:rPr sz="1800" b="1">
                <a:solidFill>
                  <a:srgbClr val="FFFFFF"/>
                </a:solidFill>
                <a:latin typeface="Noto Sans JP"/>
                <a:ea typeface="Noto Sans JP"/>
                <a:cs typeface="Noto Sans JP"/>
              </a:rPr>
              <a:t>1つの目的</a:t>
            </a:r>
          </a:p>
          <a:p>
            <a:pPr algn="l">
              <a:lnSpc>
                <a:spcPct val="150000"/>
              </a:lnSpc>
            </a:pPr>
            <a:r>
              <a:rPr sz="1800" b="1">
                <a:solidFill>
                  <a:srgbClr val="FFFFFF"/>
                </a:solidFill>
                <a:latin typeface="Noto Sans JP"/>
                <a:ea typeface="Noto Sans JP"/>
                <a:cs typeface="Noto Sans JP"/>
              </a:rPr>
              <a:t>1つの確認可能な結果</a:t>
            </a:r>
          </a:p>
          <a:p>
            <a:pPr algn="l">
              <a:lnSpc>
                <a:spcPct val="150000"/>
              </a:lnSpc>
            </a:pPr>
            <a:r>
              <a:rPr sz="1800" b="1">
                <a:solidFill>
                  <a:srgbClr val="FFFFFF"/>
                </a:solidFill>
                <a:latin typeface="Noto Sans JP"/>
                <a:ea typeface="Noto Sans JP"/>
                <a:cs typeface="Noto Sans JP"/>
              </a:rPr>
              <a:t>1つの説明できる差分</a:t>
            </a:r>
          </a:p>
        </p:txBody>
      </p:sp>
      <p:sp>
        <p:nvSpPr>
          <p:cNvPr id="30" name="TextBox 29"/>
          <p:cNvSpPr txBox="1"/>
          <p:nvPr/>
        </p:nvSpPr>
        <p:spPr>
          <a:xfrm>
            <a:off x="8039100" y="4953000"/>
            <a:ext cx="3276600" cy="609600"/>
          </a:xfrm>
          <a:prstGeom prst="rect">
            <a:avLst/>
          </a:prstGeom>
          <a:noFill/>
        </p:spPr>
        <p:txBody>
          <a:bodyPr wrap="square" lIns="0" rIns="0" tIns="0" bIns="0" anchor="t">
            <a:spAutoFit/>
          </a:bodyPr>
          <a:lstStyle/>
          <a:p>
            <a:pPr algn="l">
              <a:lnSpc>
                <a:spcPct val="150000"/>
              </a:lnSpc>
            </a:pPr>
            <a:r>
              <a:rPr sz="1500" b="0">
                <a:solidFill>
                  <a:srgbClr val="FFFFFF"/>
                </a:solidFill>
                <a:latin typeface="Noto Sans JP"/>
                <a:ea typeface="Noto Sans JP"/>
                <a:cs typeface="Noto Sans JP"/>
              </a:rPr>
              <a:t>複雑なら、先に分割する。</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609600" y="495300"/>
            <a:ext cx="57150" cy="228600"/>
          </a:xfrm>
          <a:prstGeom prst="rect">
            <a:avLst/>
          </a:prstGeom>
          <a:solidFill>
            <a:srgbClr val="0017C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62000" y="495300"/>
            <a:ext cx="9334500" cy="228600"/>
          </a:xfrm>
          <a:prstGeom prst="rect">
            <a:avLst/>
          </a:prstGeom>
          <a:noFill/>
        </p:spPr>
        <p:txBody>
          <a:bodyPr wrap="square" lIns="0" rIns="0" tIns="0" bIns="0" anchor="ctr">
            <a:spAutoFit/>
          </a:bodyPr>
          <a:lstStyle/>
          <a:p>
            <a:pPr algn="l">
              <a:lnSpc>
                <a:spcPct val="100000"/>
              </a:lnSpc>
            </a:pPr>
            <a:r>
              <a:rPr sz="1050" b="1">
                <a:solidFill>
                  <a:srgbClr val="0017C1"/>
                </a:solidFill>
                <a:latin typeface="Noto Sans JP"/>
                <a:ea typeface="Noto Sans JP"/>
                <a:cs typeface="Noto Sans JP"/>
              </a:rPr>
              <a:t>03 / つくって確かめる</a:t>
            </a:r>
          </a:p>
        </p:txBody>
      </p:sp>
      <p:sp>
        <p:nvSpPr>
          <p:cNvPr id="5" name="TextBox 4"/>
          <p:cNvSpPr txBox="1"/>
          <p:nvPr/>
        </p:nvSpPr>
        <p:spPr>
          <a:xfrm>
            <a:off x="609600" y="800100"/>
            <a:ext cx="10972800" cy="457200"/>
          </a:xfrm>
          <a:prstGeom prst="rect">
            <a:avLst/>
          </a:prstGeom>
          <a:noFill/>
        </p:spPr>
        <p:txBody>
          <a:bodyPr wrap="square" lIns="0" rIns="0" tIns="0" bIns="0" anchor="t">
            <a:spAutoFit/>
          </a:bodyPr>
          <a:lstStyle/>
          <a:p>
            <a:pPr algn="l">
              <a:lnSpc>
                <a:spcPct val="150000"/>
              </a:lnSpc>
            </a:pPr>
            <a:r>
              <a:rPr sz="2400" b="1">
                <a:solidFill>
                  <a:srgbClr val="1A1A1A"/>
                </a:solidFill>
                <a:latin typeface="Noto Sans JP"/>
                <a:ea typeface="Noto Sans JP"/>
                <a:cs typeface="Noto Sans JP"/>
              </a:rPr>
              <a:t>テストの期待値は、受け入れ条件から決める</a:t>
            </a:r>
          </a:p>
        </p:txBody>
      </p:sp>
      <p:sp>
        <p:nvSpPr>
          <p:cNvPr id="6" name="Rectangle 5"/>
          <p:cNvSpPr/>
          <p:nvPr/>
        </p:nvSpPr>
        <p:spPr>
          <a:xfrm>
            <a:off x="609600" y="1333500"/>
            <a:ext cx="10972800" cy="19050"/>
          </a:xfrm>
          <a:prstGeom prst="rect">
            <a:avLst/>
          </a:prstGeom>
          <a:solidFill>
            <a:srgbClr val="9494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09600" y="1447800"/>
            <a:ext cx="10972800" cy="304800"/>
          </a:xfrm>
          <a:prstGeom prst="rect">
            <a:avLst/>
          </a:prstGeom>
          <a:noFill/>
        </p:spPr>
        <p:txBody>
          <a:bodyPr wrap="square" lIns="0" rIns="0" tIns="0" bIns="0" anchor="t">
            <a:spAutoFit/>
          </a:bodyPr>
          <a:lstStyle/>
          <a:p>
            <a:pPr algn="l">
              <a:lnSpc>
                <a:spcPct val="160000"/>
              </a:lnSpc>
            </a:pPr>
            <a:r>
              <a:rPr sz="1350" b="0">
                <a:solidFill>
                  <a:srgbClr val="4D4D4D"/>
                </a:solidFill>
                <a:latin typeface="Noto Sans JP"/>
                <a:ea typeface="Noto Sans JP"/>
                <a:cs typeface="Noto Sans JP"/>
              </a:rPr>
              <a:t>AIが書いた実装とテストが、同じ誤解を共有する可能性を考える。</a:t>
            </a:r>
          </a:p>
        </p:txBody>
      </p:sp>
      <p:sp>
        <p:nvSpPr>
          <p:cNvPr id="8" name="Rectangle 7"/>
          <p:cNvSpPr/>
          <p:nvPr/>
        </p:nvSpPr>
        <p:spPr>
          <a:xfrm>
            <a:off x="609600" y="6286500"/>
            <a:ext cx="10972800" cy="9525"/>
          </a:xfrm>
          <a:prstGeom prst="rect">
            <a:avLst/>
          </a:prstGeom>
          <a:solidFill>
            <a:srgbClr val="B3B3B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09600" y="6419850"/>
            <a:ext cx="4191000" cy="190500"/>
          </a:xfrm>
          <a:prstGeom prst="rect">
            <a:avLst/>
          </a:prstGeom>
          <a:noFill/>
        </p:spPr>
        <p:txBody>
          <a:bodyPr wrap="square" lIns="0" rIns="0" tIns="0" bIns="0" anchor="t">
            <a:spAutoFit/>
          </a:bodyPr>
          <a:lstStyle/>
          <a:p>
            <a:pPr algn="l">
              <a:lnSpc>
                <a:spcPct val="130000"/>
              </a:lnSpc>
            </a:pPr>
            <a:r>
              <a:rPr sz="1050" b="0">
                <a:solidFill>
                  <a:srgbClr val="767676"/>
                </a:solidFill>
                <a:latin typeface="Noto Sans JP"/>
                <a:ea typeface="Noto Sans JP"/>
                <a:cs typeface="Noto Sans JP"/>
              </a:rPr>
              <a:t>AI駆動開発ガイド</a:t>
            </a:r>
          </a:p>
        </p:txBody>
      </p:sp>
      <p:sp>
        <p:nvSpPr>
          <p:cNvPr id="10" name="TextBox 9"/>
          <p:cNvSpPr txBox="1"/>
          <p:nvPr/>
        </p:nvSpPr>
        <p:spPr>
          <a:xfrm>
            <a:off x="4953000" y="6419850"/>
            <a:ext cx="5334000" cy="190500"/>
          </a:xfrm>
          <a:prstGeom prst="rect">
            <a:avLst/>
          </a:prstGeom>
          <a:noFill/>
        </p:spPr>
        <p:txBody>
          <a:bodyPr wrap="square" lIns="0" rIns="0" tIns="0" bIns="0" anchor="t">
            <a:spAutoFit/>
          </a:bodyPr>
          <a:lstStyle/>
          <a:p>
            <a:pPr algn="r">
              <a:lnSpc>
                <a:spcPct val="130000"/>
              </a:lnSpc>
            </a:pPr>
            <a:r>
              <a:rPr sz="1050" b="0">
                <a:solidFill>
                  <a:srgbClr val="767676"/>
                </a:solidFill>
                <a:latin typeface="Noto Sans JP"/>
                <a:ea typeface="Noto Sans JP"/>
                <a:cs typeface="Noto Sans JP"/>
              </a:rPr>
              <a:t>参考 [2] ｜出典は p.20</a:t>
            </a:r>
          </a:p>
        </p:txBody>
      </p:sp>
      <p:sp>
        <p:nvSpPr>
          <p:cNvPr id="11" name="TextBox 10"/>
          <p:cNvSpPr txBox="1"/>
          <p:nvPr/>
        </p:nvSpPr>
        <p:spPr>
          <a:xfrm>
            <a:off x="10668000" y="6419850"/>
            <a:ext cx="914400" cy="190500"/>
          </a:xfrm>
          <a:prstGeom prst="rect">
            <a:avLst/>
          </a:prstGeom>
          <a:noFill/>
        </p:spPr>
        <p:txBody>
          <a:bodyPr wrap="square" lIns="0" rIns="0" tIns="0" bIns="0" anchor="t">
            <a:spAutoFit/>
          </a:bodyPr>
          <a:lstStyle/>
          <a:p>
            <a:pPr algn="r">
              <a:lnSpc>
                <a:spcPct val="130000"/>
              </a:lnSpc>
            </a:pPr>
            <a:r>
              <a:rPr sz="1050" b="1">
                <a:solidFill>
                  <a:srgbClr val="767676"/>
                </a:solidFill>
                <a:latin typeface="Noto Sans JP"/>
                <a:ea typeface="Noto Sans JP"/>
                <a:cs typeface="Noto Sans JP"/>
              </a:rPr>
              <a:t>11 / 20</a:t>
            </a:r>
          </a:p>
        </p:txBody>
      </p:sp>
      <p:sp>
        <p:nvSpPr>
          <p:cNvPr id="12" name="Rectangle 11"/>
          <p:cNvSpPr/>
          <p:nvPr/>
        </p:nvSpPr>
        <p:spPr>
          <a:xfrm>
            <a:off x="609600" y="1943100"/>
            <a:ext cx="10972800" cy="457200"/>
          </a:xfrm>
          <a:prstGeom prst="rect">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762000" y="1943100"/>
            <a:ext cx="1866900" cy="457200"/>
          </a:xfrm>
          <a:prstGeom prst="rect">
            <a:avLst/>
          </a:prstGeom>
          <a:noFill/>
        </p:spPr>
        <p:txBody>
          <a:bodyPr wrap="square" lIns="0" rIns="0" tIns="0" bIns="0" anchor="ctr">
            <a:spAutoFit/>
          </a:bodyPr>
          <a:lstStyle/>
          <a:p>
            <a:pPr algn="l">
              <a:lnSpc>
                <a:spcPct val="160000"/>
              </a:lnSpc>
            </a:pPr>
            <a:r>
              <a:rPr sz="1350" b="1">
                <a:solidFill>
                  <a:srgbClr val="0017C1"/>
                </a:solidFill>
                <a:latin typeface="Noto Sans JP"/>
                <a:ea typeface="Noto Sans JP"/>
                <a:cs typeface="Noto Sans JP"/>
              </a:rPr>
              <a:t>種類</a:t>
            </a:r>
          </a:p>
        </p:txBody>
      </p:sp>
      <p:sp>
        <p:nvSpPr>
          <p:cNvPr id="14" name="TextBox 13"/>
          <p:cNvSpPr txBox="1"/>
          <p:nvPr/>
        </p:nvSpPr>
        <p:spPr>
          <a:xfrm>
            <a:off x="2933700" y="1943100"/>
            <a:ext cx="4495800" cy="457200"/>
          </a:xfrm>
          <a:prstGeom prst="rect">
            <a:avLst/>
          </a:prstGeom>
          <a:noFill/>
        </p:spPr>
        <p:txBody>
          <a:bodyPr wrap="square" lIns="0" rIns="0" tIns="0" bIns="0" anchor="ctr">
            <a:spAutoFit/>
          </a:bodyPr>
          <a:lstStyle/>
          <a:p>
            <a:pPr algn="l">
              <a:lnSpc>
                <a:spcPct val="160000"/>
              </a:lnSpc>
            </a:pPr>
            <a:r>
              <a:rPr sz="1350" b="1">
                <a:solidFill>
                  <a:srgbClr val="0017C1"/>
                </a:solidFill>
                <a:latin typeface="Noto Sans JP"/>
                <a:ea typeface="Noto Sans JP"/>
                <a:cs typeface="Noto Sans JP"/>
              </a:rPr>
              <a:t>テスト入力の例</a:t>
            </a:r>
          </a:p>
        </p:txBody>
      </p:sp>
      <p:sp>
        <p:nvSpPr>
          <p:cNvPr id="15" name="TextBox 14"/>
          <p:cNvSpPr txBox="1"/>
          <p:nvPr/>
        </p:nvSpPr>
        <p:spPr>
          <a:xfrm>
            <a:off x="7734300" y="1943100"/>
            <a:ext cx="3695700" cy="457200"/>
          </a:xfrm>
          <a:prstGeom prst="rect">
            <a:avLst/>
          </a:prstGeom>
          <a:noFill/>
        </p:spPr>
        <p:txBody>
          <a:bodyPr wrap="square" lIns="0" rIns="0" tIns="0" bIns="0" anchor="ctr">
            <a:spAutoFit/>
          </a:bodyPr>
          <a:lstStyle/>
          <a:p>
            <a:pPr algn="l">
              <a:lnSpc>
                <a:spcPct val="160000"/>
              </a:lnSpc>
            </a:pPr>
            <a:r>
              <a:rPr sz="1350" b="1">
                <a:solidFill>
                  <a:srgbClr val="0017C1"/>
                </a:solidFill>
                <a:latin typeface="Noto Sans JP"/>
                <a:ea typeface="Noto Sans JP"/>
                <a:cs typeface="Noto Sans JP"/>
              </a:rPr>
              <a:t>期待する結果</a:t>
            </a:r>
          </a:p>
        </p:txBody>
      </p:sp>
      <p:sp>
        <p:nvSpPr>
          <p:cNvPr id="16" name="Rectangle 15"/>
          <p:cNvSpPr/>
          <p:nvPr/>
        </p:nvSpPr>
        <p:spPr>
          <a:xfrm>
            <a:off x="609600" y="2400300"/>
            <a:ext cx="10972800" cy="19050"/>
          </a:xfrm>
          <a:prstGeom prst="rect">
            <a:avLst/>
          </a:prstGeom>
          <a:solidFill>
            <a:srgbClr val="0017C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762000" y="2457450"/>
            <a:ext cx="1866900" cy="552450"/>
          </a:xfrm>
          <a:prstGeom prst="rect">
            <a:avLst/>
          </a:prstGeom>
          <a:noFill/>
        </p:spPr>
        <p:txBody>
          <a:bodyPr wrap="square" lIns="0" rIns="0" tIns="0" bIns="0" anchor="ctr">
            <a:spAutoFit/>
          </a:bodyPr>
          <a:lstStyle/>
          <a:p>
            <a:pPr algn="l">
              <a:lnSpc>
                <a:spcPct val="150000"/>
              </a:lnSpc>
            </a:pPr>
            <a:r>
              <a:rPr sz="1500" b="1">
                <a:solidFill>
                  <a:srgbClr val="1A1A1A"/>
                </a:solidFill>
                <a:latin typeface="Noto Sans JP"/>
                <a:ea typeface="Noto Sans JP"/>
                <a:cs typeface="Noto Sans JP"/>
              </a:rPr>
              <a:t>正常系</a:t>
            </a:r>
          </a:p>
        </p:txBody>
      </p:sp>
      <p:sp>
        <p:nvSpPr>
          <p:cNvPr id="18" name="TextBox 17"/>
          <p:cNvSpPr txBox="1"/>
          <p:nvPr/>
        </p:nvSpPr>
        <p:spPr>
          <a:xfrm>
            <a:off x="2933700" y="2457450"/>
            <a:ext cx="4495800" cy="552450"/>
          </a:xfrm>
          <a:prstGeom prst="rect">
            <a:avLst/>
          </a:prstGeom>
          <a:noFill/>
        </p:spPr>
        <p:txBody>
          <a:bodyPr wrap="square" lIns="0" rIns="0" tIns="0" bIns="0" anchor="ctr">
            <a:spAutoFit/>
          </a:bodyPr>
          <a:lstStyle/>
          <a:p>
            <a:pPr algn="l">
              <a:lnSpc>
                <a:spcPct val="150000"/>
              </a:lnSpc>
            </a:pPr>
            <a:r>
              <a:rPr sz="1500" b="0">
                <a:solidFill>
                  <a:srgbClr val="4D4D4D"/>
                </a:solidFill>
                <a:latin typeface="Noto Sans JP"/>
                <a:ea typeface="Noto Sans JP"/>
                <a:cs typeface="Noto Sans JP"/>
              </a:rPr>
              <a:t>「  申請 メモ  」</a:t>
            </a:r>
          </a:p>
        </p:txBody>
      </p:sp>
      <p:sp>
        <p:nvSpPr>
          <p:cNvPr id="19" name="TextBox 18"/>
          <p:cNvSpPr txBox="1"/>
          <p:nvPr/>
        </p:nvSpPr>
        <p:spPr>
          <a:xfrm>
            <a:off x="7734300" y="2457450"/>
            <a:ext cx="3695700" cy="552450"/>
          </a:xfrm>
          <a:prstGeom prst="rect">
            <a:avLst/>
          </a:prstGeom>
          <a:noFill/>
        </p:spPr>
        <p:txBody>
          <a:bodyPr wrap="square" lIns="0" rIns="0" tIns="0" bIns="0" anchor="ctr">
            <a:spAutoFit/>
          </a:bodyPr>
          <a:lstStyle/>
          <a:p>
            <a:pPr algn="l">
              <a:lnSpc>
                <a:spcPct val="150000"/>
              </a:lnSpc>
            </a:pPr>
            <a:r>
              <a:rPr sz="1500" b="0">
                <a:solidFill>
                  <a:srgbClr val="4D4D4D"/>
                </a:solidFill>
                <a:latin typeface="Noto Sans JP"/>
                <a:ea typeface="Noto Sans JP"/>
                <a:cs typeface="Noto Sans JP"/>
              </a:rPr>
              <a:t>「申請 メモ」</a:t>
            </a:r>
          </a:p>
        </p:txBody>
      </p:sp>
      <p:sp>
        <p:nvSpPr>
          <p:cNvPr id="20" name="Rectangle 19"/>
          <p:cNvSpPr/>
          <p:nvPr/>
        </p:nvSpPr>
        <p:spPr>
          <a:xfrm>
            <a:off x="609600" y="3048000"/>
            <a:ext cx="10972800" cy="9525"/>
          </a:xfrm>
          <a:prstGeom prst="rect">
            <a:avLst/>
          </a:prstGeom>
          <a:solidFill>
            <a:srgbClr val="9494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762000" y="3095625"/>
            <a:ext cx="1866900" cy="552450"/>
          </a:xfrm>
          <a:prstGeom prst="rect">
            <a:avLst/>
          </a:prstGeom>
          <a:noFill/>
        </p:spPr>
        <p:txBody>
          <a:bodyPr wrap="square" lIns="0" rIns="0" tIns="0" bIns="0" anchor="ctr">
            <a:spAutoFit/>
          </a:bodyPr>
          <a:lstStyle/>
          <a:p>
            <a:pPr algn="l">
              <a:lnSpc>
                <a:spcPct val="150000"/>
              </a:lnSpc>
            </a:pPr>
            <a:r>
              <a:rPr sz="1500" b="1">
                <a:solidFill>
                  <a:srgbClr val="1A1A1A"/>
                </a:solidFill>
                <a:latin typeface="Noto Sans JP"/>
                <a:ea typeface="Noto Sans JP"/>
                <a:cs typeface="Noto Sans JP"/>
              </a:rPr>
              <a:t>境界値</a:t>
            </a:r>
          </a:p>
        </p:txBody>
      </p:sp>
      <p:sp>
        <p:nvSpPr>
          <p:cNvPr id="22" name="TextBox 21"/>
          <p:cNvSpPr txBox="1"/>
          <p:nvPr/>
        </p:nvSpPr>
        <p:spPr>
          <a:xfrm>
            <a:off x="2933700" y="3095625"/>
            <a:ext cx="4495800" cy="552450"/>
          </a:xfrm>
          <a:prstGeom prst="rect">
            <a:avLst/>
          </a:prstGeom>
          <a:noFill/>
        </p:spPr>
        <p:txBody>
          <a:bodyPr wrap="square" lIns="0" rIns="0" tIns="0" bIns="0" anchor="ctr">
            <a:spAutoFit/>
          </a:bodyPr>
          <a:lstStyle/>
          <a:p>
            <a:pPr algn="l">
              <a:lnSpc>
                <a:spcPct val="150000"/>
              </a:lnSpc>
            </a:pPr>
            <a:r>
              <a:rPr sz="1500" b="0">
                <a:solidFill>
                  <a:srgbClr val="4D4D4D"/>
                </a:solidFill>
                <a:latin typeface="Noto Sans JP"/>
                <a:ea typeface="Noto Sans JP"/>
                <a:cs typeface="Noto Sans JP"/>
              </a:rPr>
              <a:t>「あ」× 1、50、51</a:t>
            </a:r>
          </a:p>
        </p:txBody>
      </p:sp>
      <p:sp>
        <p:nvSpPr>
          <p:cNvPr id="23" name="TextBox 22"/>
          <p:cNvSpPr txBox="1"/>
          <p:nvPr/>
        </p:nvSpPr>
        <p:spPr>
          <a:xfrm>
            <a:off x="7734300" y="3095625"/>
            <a:ext cx="3695700" cy="552450"/>
          </a:xfrm>
          <a:prstGeom prst="rect">
            <a:avLst/>
          </a:prstGeom>
          <a:noFill/>
        </p:spPr>
        <p:txBody>
          <a:bodyPr wrap="square" lIns="0" rIns="0" tIns="0" bIns="0" anchor="ctr">
            <a:spAutoFit/>
          </a:bodyPr>
          <a:lstStyle/>
          <a:p>
            <a:pPr algn="l">
              <a:lnSpc>
                <a:spcPct val="150000"/>
              </a:lnSpc>
            </a:pPr>
            <a:r>
              <a:rPr sz="1500" b="0">
                <a:solidFill>
                  <a:srgbClr val="4D4D4D"/>
                </a:solidFill>
                <a:latin typeface="Noto Sans JP"/>
                <a:ea typeface="Noto Sans JP"/>
                <a:cs typeface="Noto Sans JP"/>
              </a:rPr>
              <a:t>1・50は成功、51は ValueError</a:t>
            </a:r>
          </a:p>
        </p:txBody>
      </p:sp>
      <p:sp>
        <p:nvSpPr>
          <p:cNvPr id="24" name="Rectangle 23"/>
          <p:cNvSpPr/>
          <p:nvPr/>
        </p:nvSpPr>
        <p:spPr>
          <a:xfrm>
            <a:off x="609600" y="3686175"/>
            <a:ext cx="10972800" cy="9525"/>
          </a:xfrm>
          <a:prstGeom prst="rect">
            <a:avLst/>
          </a:prstGeom>
          <a:solidFill>
            <a:srgbClr val="9494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762000" y="3733800"/>
            <a:ext cx="1866900" cy="552450"/>
          </a:xfrm>
          <a:prstGeom prst="rect">
            <a:avLst/>
          </a:prstGeom>
          <a:noFill/>
        </p:spPr>
        <p:txBody>
          <a:bodyPr wrap="square" lIns="0" rIns="0" tIns="0" bIns="0" anchor="ctr">
            <a:spAutoFit/>
          </a:bodyPr>
          <a:lstStyle/>
          <a:p>
            <a:pPr algn="l">
              <a:lnSpc>
                <a:spcPct val="150000"/>
              </a:lnSpc>
            </a:pPr>
            <a:r>
              <a:rPr sz="1500" b="1">
                <a:solidFill>
                  <a:srgbClr val="1A1A1A"/>
                </a:solidFill>
                <a:latin typeface="Noto Sans JP"/>
                <a:ea typeface="Noto Sans JP"/>
                <a:cs typeface="Noto Sans JP"/>
              </a:rPr>
              <a:t>異常系</a:t>
            </a:r>
          </a:p>
        </p:txBody>
      </p:sp>
      <p:sp>
        <p:nvSpPr>
          <p:cNvPr id="26" name="TextBox 25"/>
          <p:cNvSpPr txBox="1"/>
          <p:nvPr/>
        </p:nvSpPr>
        <p:spPr>
          <a:xfrm>
            <a:off x="2933700" y="3733800"/>
            <a:ext cx="4495800" cy="552450"/>
          </a:xfrm>
          <a:prstGeom prst="rect">
            <a:avLst/>
          </a:prstGeom>
          <a:noFill/>
        </p:spPr>
        <p:txBody>
          <a:bodyPr wrap="square" lIns="0" rIns="0" tIns="0" bIns="0" anchor="ctr">
            <a:spAutoFit/>
          </a:bodyPr>
          <a:lstStyle/>
          <a:p>
            <a:pPr algn="l">
              <a:lnSpc>
                <a:spcPct val="150000"/>
              </a:lnSpc>
            </a:pPr>
            <a:r>
              <a:rPr sz="1500" b="0">
                <a:solidFill>
                  <a:srgbClr val="4D4D4D"/>
                </a:solidFill>
                <a:latin typeface="Noto Sans JP"/>
                <a:ea typeface="Noto Sans JP"/>
                <a:cs typeface="Noto Sans JP"/>
              </a:rPr>
              <a:t>空文字、半角空白のみ</a:t>
            </a:r>
          </a:p>
        </p:txBody>
      </p:sp>
      <p:sp>
        <p:nvSpPr>
          <p:cNvPr id="27" name="TextBox 26"/>
          <p:cNvSpPr txBox="1"/>
          <p:nvPr/>
        </p:nvSpPr>
        <p:spPr>
          <a:xfrm>
            <a:off x="7734300" y="3733800"/>
            <a:ext cx="3695700" cy="552450"/>
          </a:xfrm>
          <a:prstGeom prst="rect">
            <a:avLst/>
          </a:prstGeom>
          <a:noFill/>
        </p:spPr>
        <p:txBody>
          <a:bodyPr wrap="square" lIns="0" rIns="0" tIns="0" bIns="0" anchor="ctr">
            <a:spAutoFit/>
          </a:bodyPr>
          <a:lstStyle/>
          <a:p>
            <a:pPr algn="l">
              <a:lnSpc>
                <a:spcPct val="150000"/>
              </a:lnSpc>
            </a:pPr>
            <a:r>
              <a:rPr sz="1500" b="0">
                <a:solidFill>
                  <a:srgbClr val="4D4D4D"/>
                </a:solidFill>
                <a:latin typeface="Noto Sans JP"/>
                <a:ea typeface="Noto Sans JP"/>
                <a:cs typeface="Noto Sans JP"/>
              </a:rPr>
              <a:t>ValueError</a:t>
            </a:r>
          </a:p>
        </p:txBody>
      </p:sp>
      <p:sp>
        <p:nvSpPr>
          <p:cNvPr id="28" name="Rectangle 27"/>
          <p:cNvSpPr/>
          <p:nvPr/>
        </p:nvSpPr>
        <p:spPr>
          <a:xfrm>
            <a:off x="609600" y="4324350"/>
            <a:ext cx="10972800" cy="9525"/>
          </a:xfrm>
          <a:prstGeom prst="rect">
            <a:avLst/>
          </a:prstGeom>
          <a:solidFill>
            <a:srgbClr val="9494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762000" y="4371975"/>
            <a:ext cx="1866900" cy="552450"/>
          </a:xfrm>
          <a:prstGeom prst="rect">
            <a:avLst/>
          </a:prstGeom>
          <a:noFill/>
        </p:spPr>
        <p:txBody>
          <a:bodyPr wrap="square" lIns="0" rIns="0" tIns="0" bIns="0" anchor="ctr">
            <a:spAutoFit/>
          </a:bodyPr>
          <a:lstStyle/>
          <a:p>
            <a:pPr algn="l">
              <a:lnSpc>
                <a:spcPct val="150000"/>
              </a:lnSpc>
            </a:pPr>
            <a:r>
              <a:rPr sz="1500" b="1">
                <a:solidFill>
                  <a:srgbClr val="1A1A1A"/>
                </a:solidFill>
                <a:latin typeface="Noto Sans JP"/>
                <a:ea typeface="Noto Sans JP"/>
                <a:cs typeface="Noto Sans JP"/>
              </a:rPr>
              <a:t>型違い</a:t>
            </a:r>
          </a:p>
        </p:txBody>
      </p:sp>
      <p:sp>
        <p:nvSpPr>
          <p:cNvPr id="30" name="TextBox 29"/>
          <p:cNvSpPr txBox="1"/>
          <p:nvPr/>
        </p:nvSpPr>
        <p:spPr>
          <a:xfrm>
            <a:off x="2933700" y="4371975"/>
            <a:ext cx="4495800" cy="552450"/>
          </a:xfrm>
          <a:prstGeom prst="rect">
            <a:avLst/>
          </a:prstGeom>
          <a:noFill/>
        </p:spPr>
        <p:txBody>
          <a:bodyPr wrap="square" lIns="0" rIns="0" tIns="0" bIns="0" anchor="ctr">
            <a:spAutoFit/>
          </a:bodyPr>
          <a:lstStyle/>
          <a:p>
            <a:pPr algn="l">
              <a:lnSpc>
                <a:spcPct val="150000"/>
              </a:lnSpc>
            </a:pPr>
            <a:r>
              <a:rPr sz="1500" b="0">
                <a:solidFill>
                  <a:srgbClr val="4D4D4D"/>
                </a:solidFill>
                <a:latin typeface="Noto Sans JP"/>
                <a:ea typeface="Noto Sans JP"/>
                <a:cs typeface="Noto Sans JP"/>
              </a:rPr>
              <a:t>123、None</a:t>
            </a:r>
          </a:p>
        </p:txBody>
      </p:sp>
      <p:sp>
        <p:nvSpPr>
          <p:cNvPr id="31" name="TextBox 30"/>
          <p:cNvSpPr txBox="1"/>
          <p:nvPr/>
        </p:nvSpPr>
        <p:spPr>
          <a:xfrm>
            <a:off x="7734300" y="4371975"/>
            <a:ext cx="3695700" cy="552450"/>
          </a:xfrm>
          <a:prstGeom prst="rect">
            <a:avLst/>
          </a:prstGeom>
          <a:noFill/>
        </p:spPr>
        <p:txBody>
          <a:bodyPr wrap="square" lIns="0" rIns="0" tIns="0" bIns="0" anchor="ctr">
            <a:spAutoFit/>
          </a:bodyPr>
          <a:lstStyle/>
          <a:p>
            <a:pPr algn="l">
              <a:lnSpc>
                <a:spcPct val="150000"/>
              </a:lnSpc>
            </a:pPr>
            <a:r>
              <a:rPr sz="1500" b="0">
                <a:solidFill>
                  <a:srgbClr val="4D4D4D"/>
                </a:solidFill>
                <a:latin typeface="Noto Sans JP"/>
                <a:ea typeface="Noto Sans JP"/>
                <a:cs typeface="Noto Sans JP"/>
              </a:rPr>
              <a:t>TypeError</a:t>
            </a:r>
          </a:p>
        </p:txBody>
      </p:sp>
      <p:sp>
        <p:nvSpPr>
          <p:cNvPr id="32" name="Rectangle 31"/>
          <p:cNvSpPr/>
          <p:nvPr/>
        </p:nvSpPr>
        <p:spPr>
          <a:xfrm>
            <a:off x="609600" y="4962525"/>
            <a:ext cx="10972800" cy="9525"/>
          </a:xfrm>
          <a:prstGeom prst="rect">
            <a:avLst/>
          </a:prstGeom>
          <a:solidFill>
            <a:srgbClr val="9494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609600" y="5257800"/>
            <a:ext cx="10972800" cy="838200"/>
          </a:xfrm>
          <a:prstGeom prst="rect">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838200" y="5372100"/>
            <a:ext cx="10515600" cy="304800"/>
          </a:xfrm>
          <a:prstGeom prst="rect">
            <a:avLst/>
          </a:prstGeom>
          <a:noFill/>
        </p:spPr>
        <p:txBody>
          <a:bodyPr wrap="square" lIns="0" rIns="0" tIns="0" bIns="0" anchor="t">
            <a:spAutoFit/>
          </a:bodyPr>
          <a:lstStyle/>
          <a:p>
            <a:pPr algn="l">
              <a:lnSpc>
                <a:spcPct val="150000"/>
              </a:lnSpc>
            </a:pPr>
            <a:r>
              <a:rPr sz="1500" b="1">
                <a:solidFill>
                  <a:srgbClr val="00118F"/>
                </a:solidFill>
                <a:latin typeface="Noto Sans JP"/>
                <a:ea typeface="Noto Sans JP"/>
                <a:cs typeface="Noto Sans JP"/>
              </a:rPr>
              <a:t>提出する証拠：対象テスト＋既存テストのコマンド、結果、未実行の範囲。</a:t>
            </a:r>
          </a:p>
        </p:txBody>
      </p:sp>
      <p:sp>
        <p:nvSpPr>
          <p:cNvPr id="35" name="TextBox 34"/>
          <p:cNvSpPr txBox="1"/>
          <p:nvPr/>
        </p:nvSpPr>
        <p:spPr>
          <a:xfrm>
            <a:off x="838200" y="5734050"/>
            <a:ext cx="10515600" cy="266700"/>
          </a:xfrm>
          <a:prstGeom prst="rect">
            <a:avLst/>
          </a:prstGeom>
          <a:noFill/>
        </p:spPr>
        <p:txBody>
          <a:bodyPr wrap="square" lIns="0" rIns="0" tIns="0" bIns="0" anchor="t">
            <a:spAutoFit/>
          </a:bodyPr>
          <a:lstStyle/>
          <a:p>
            <a:pPr algn="l">
              <a:lnSpc>
                <a:spcPct val="160000"/>
              </a:lnSpc>
            </a:pPr>
            <a:r>
              <a:rPr sz="1350" b="0">
                <a:solidFill>
                  <a:srgbClr val="00118F"/>
                </a:solidFill>
                <a:latin typeface="Noto Sans JP"/>
                <a:ea typeface="Noto Sans JP"/>
                <a:cs typeface="Noto Sans JP"/>
              </a:rPr>
              <a:t>修正タスクでは、再現テストが「修正前に失敗 → 修正後に成功」することも確認する。</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609600" y="495300"/>
            <a:ext cx="57150" cy="228600"/>
          </a:xfrm>
          <a:prstGeom prst="rect">
            <a:avLst/>
          </a:prstGeom>
          <a:solidFill>
            <a:srgbClr val="0017C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62000" y="495300"/>
            <a:ext cx="9334500" cy="228600"/>
          </a:xfrm>
          <a:prstGeom prst="rect">
            <a:avLst/>
          </a:prstGeom>
          <a:noFill/>
        </p:spPr>
        <p:txBody>
          <a:bodyPr wrap="square" lIns="0" rIns="0" tIns="0" bIns="0" anchor="ctr">
            <a:spAutoFit/>
          </a:bodyPr>
          <a:lstStyle/>
          <a:p>
            <a:pPr algn="l">
              <a:lnSpc>
                <a:spcPct val="100000"/>
              </a:lnSpc>
            </a:pPr>
            <a:r>
              <a:rPr sz="1050" b="1">
                <a:solidFill>
                  <a:srgbClr val="0017C1"/>
                </a:solidFill>
                <a:latin typeface="Noto Sans JP"/>
                <a:ea typeface="Noto Sans JP"/>
                <a:cs typeface="Noto Sans JP"/>
              </a:rPr>
              <a:t>03 / つくって確かめる</a:t>
            </a:r>
          </a:p>
        </p:txBody>
      </p:sp>
      <p:sp>
        <p:nvSpPr>
          <p:cNvPr id="5" name="TextBox 4"/>
          <p:cNvSpPr txBox="1"/>
          <p:nvPr/>
        </p:nvSpPr>
        <p:spPr>
          <a:xfrm>
            <a:off x="609600" y="800100"/>
            <a:ext cx="10972800" cy="457200"/>
          </a:xfrm>
          <a:prstGeom prst="rect">
            <a:avLst/>
          </a:prstGeom>
          <a:noFill/>
        </p:spPr>
        <p:txBody>
          <a:bodyPr wrap="square" lIns="0" rIns="0" tIns="0" bIns="0" anchor="t">
            <a:spAutoFit/>
          </a:bodyPr>
          <a:lstStyle/>
          <a:p>
            <a:pPr algn="l">
              <a:lnSpc>
                <a:spcPct val="150000"/>
              </a:lnSpc>
            </a:pPr>
            <a:r>
              <a:rPr sz="2400" b="1">
                <a:solidFill>
                  <a:srgbClr val="1A1A1A"/>
                </a:solidFill>
                <a:latin typeface="Noto Sans JP"/>
                <a:ea typeface="Noto Sans JP"/>
                <a:cs typeface="Noto Sans JP"/>
              </a:rPr>
              <a:t>行き詰まったら、再現条件に戻る</a:t>
            </a:r>
          </a:p>
        </p:txBody>
      </p:sp>
      <p:sp>
        <p:nvSpPr>
          <p:cNvPr id="6" name="Rectangle 5"/>
          <p:cNvSpPr/>
          <p:nvPr/>
        </p:nvSpPr>
        <p:spPr>
          <a:xfrm>
            <a:off x="609600" y="1333500"/>
            <a:ext cx="10972800" cy="19050"/>
          </a:xfrm>
          <a:prstGeom prst="rect">
            <a:avLst/>
          </a:prstGeom>
          <a:solidFill>
            <a:srgbClr val="9494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09600" y="1447800"/>
            <a:ext cx="10972800" cy="304800"/>
          </a:xfrm>
          <a:prstGeom prst="rect">
            <a:avLst/>
          </a:prstGeom>
          <a:noFill/>
        </p:spPr>
        <p:txBody>
          <a:bodyPr wrap="square" lIns="0" rIns="0" tIns="0" bIns="0" anchor="t">
            <a:spAutoFit/>
          </a:bodyPr>
          <a:lstStyle/>
          <a:p>
            <a:pPr algn="l">
              <a:lnSpc>
                <a:spcPct val="160000"/>
              </a:lnSpc>
            </a:pPr>
            <a:r>
              <a:rPr sz="1350" b="0">
                <a:solidFill>
                  <a:srgbClr val="4D4D4D"/>
                </a:solidFill>
                <a:latin typeface="Noto Sans JP"/>
                <a:ea typeface="Noto Sans JP"/>
                <a:cs typeface="Noto Sans JP"/>
              </a:rPr>
              <a:t>修正を重ねる前に、観測した事実と原因の仮説を分ける。</a:t>
            </a:r>
          </a:p>
        </p:txBody>
      </p:sp>
      <p:sp>
        <p:nvSpPr>
          <p:cNvPr id="8" name="Rectangle 7"/>
          <p:cNvSpPr/>
          <p:nvPr/>
        </p:nvSpPr>
        <p:spPr>
          <a:xfrm>
            <a:off x="609600" y="6286500"/>
            <a:ext cx="10972800" cy="9525"/>
          </a:xfrm>
          <a:prstGeom prst="rect">
            <a:avLst/>
          </a:prstGeom>
          <a:solidFill>
            <a:srgbClr val="B3B3B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09600" y="6419850"/>
            <a:ext cx="4191000" cy="190500"/>
          </a:xfrm>
          <a:prstGeom prst="rect">
            <a:avLst/>
          </a:prstGeom>
          <a:noFill/>
        </p:spPr>
        <p:txBody>
          <a:bodyPr wrap="square" lIns="0" rIns="0" tIns="0" bIns="0" anchor="t">
            <a:spAutoFit/>
          </a:bodyPr>
          <a:lstStyle/>
          <a:p>
            <a:pPr algn="l">
              <a:lnSpc>
                <a:spcPct val="130000"/>
              </a:lnSpc>
            </a:pPr>
            <a:r>
              <a:rPr sz="1050" b="0">
                <a:solidFill>
                  <a:srgbClr val="767676"/>
                </a:solidFill>
                <a:latin typeface="Noto Sans JP"/>
                <a:ea typeface="Noto Sans JP"/>
                <a:cs typeface="Noto Sans JP"/>
              </a:rPr>
              <a:t>AI駆動開発ガイド</a:t>
            </a:r>
          </a:p>
        </p:txBody>
      </p:sp>
      <p:sp>
        <p:nvSpPr>
          <p:cNvPr id="10" name="TextBox 9"/>
          <p:cNvSpPr txBox="1"/>
          <p:nvPr/>
        </p:nvSpPr>
        <p:spPr>
          <a:xfrm>
            <a:off x="10668000" y="6419850"/>
            <a:ext cx="914400" cy="190500"/>
          </a:xfrm>
          <a:prstGeom prst="rect">
            <a:avLst/>
          </a:prstGeom>
          <a:noFill/>
        </p:spPr>
        <p:txBody>
          <a:bodyPr wrap="square" lIns="0" rIns="0" tIns="0" bIns="0" anchor="t">
            <a:spAutoFit/>
          </a:bodyPr>
          <a:lstStyle/>
          <a:p>
            <a:pPr algn="r">
              <a:lnSpc>
                <a:spcPct val="130000"/>
              </a:lnSpc>
            </a:pPr>
            <a:r>
              <a:rPr sz="1050" b="1">
                <a:solidFill>
                  <a:srgbClr val="767676"/>
                </a:solidFill>
                <a:latin typeface="Noto Sans JP"/>
                <a:ea typeface="Noto Sans JP"/>
                <a:cs typeface="Noto Sans JP"/>
              </a:rPr>
              <a:t>12 / 20</a:t>
            </a:r>
          </a:p>
        </p:txBody>
      </p:sp>
      <p:sp>
        <p:nvSpPr>
          <p:cNvPr id="11" name="Rectangle 10"/>
          <p:cNvSpPr/>
          <p:nvPr/>
        </p:nvSpPr>
        <p:spPr>
          <a:xfrm>
            <a:off x="609600" y="1981200"/>
            <a:ext cx="5257800" cy="33909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38200" y="2209800"/>
            <a:ext cx="4800600" cy="381000"/>
          </a:xfrm>
          <a:prstGeom prst="rect">
            <a:avLst/>
          </a:prstGeom>
          <a:noFill/>
        </p:spPr>
        <p:txBody>
          <a:bodyPr wrap="square" lIns="0" rIns="0" tIns="0" bIns="0" anchor="t">
            <a:spAutoFit/>
          </a:bodyPr>
          <a:lstStyle/>
          <a:p>
            <a:pPr algn="l">
              <a:lnSpc>
                <a:spcPct val="150000"/>
              </a:lnSpc>
            </a:pPr>
            <a:r>
              <a:rPr sz="1800" b="1">
                <a:solidFill>
                  <a:srgbClr val="1A1A1A"/>
                </a:solidFill>
                <a:latin typeface="Noto Sans JP"/>
                <a:ea typeface="Noto Sans JP"/>
                <a:cs typeface="Noto Sans JP"/>
              </a:rPr>
              <a:t>AIに渡す調査メモ</a:t>
            </a:r>
          </a:p>
        </p:txBody>
      </p:sp>
      <p:sp>
        <p:nvSpPr>
          <p:cNvPr id="13" name="TextBox 12"/>
          <p:cNvSpPr txBox="1"/>
          <p:nvPr/>
        </p:nvSpPr>
        <p:spPr>
          <a:xfrm>
            <a:off x="838200" y="2819400"/>
            <a:ext cx="4800600" cy="381000"/>
          </a:xfrm>
          <a:prstGeom prst="rect">
            <a:avLst/>
          </a:prstGeom>
          <a:noFill/>
        </p:spPr>
        <p:txBody>
          <a:bodyPr wrap="square" lIns="0" rIns="0" tIns="0" bIns="0" anchor="t">
            <a:spAutoFit/>
          </a:bodyPr>
          <a:lstStyle/>
          <a:p>
            <a:pPr algn="l">
              <a:lnSpc>
                <a:spcPct val="150000"/>
              </a:lnSpc>
            </a:pPr>
            <a:r>
              <a:rPr sz="1500" b="0">
                <a:solidFill>
                  <a:srgbClr val="4D4D4D"/>
                </a:solidFill>
                <a:latin typeface="Noto Sans JP"/>
                <a:ea typeface="Noto Sans JP"/>
                <a:cs typeface="Noto Sans JP"/>
              </a:rPr>
              <a:t>期待：50文字のタイトルを受け付ける</a:t>
            </a:r>
          </a:p>
        </p:txBody>
      </p:sp>
      <p:sp>
        <p:nvSpPr>
          <p:cNvPr id="14" name="TextBox 13"/>
          <p:cNvSpPr txBox="1"/>
          <p:nvPr/>
        </p:nvSpPr>
        <p:spPr>
          <a:xfrm>
            <a:off x="838200" y="3276600"/>
            <a:ext cx="4800600" cy="381000"/>
          </a:xfrm>
          <a:prstGeom prst="rect">
            <a:avLst/>
          </a:prstGeom>
          <a:noFill/>
        </p:spPr>
        <p:txBody>
          <a:bodyPr wrap="square" lIns="0" rIns="0" tIns="0" bIns="0" anchor="t">
            <a:spAutoFit/>
          </a:bodyPr>
          <a:lstStyle/>
          <a:p>
            <a:pPr algn="l">
              <a:lnSpc>
                <a:spcPct val="150000"/>
              </a:lnSpc>
            </a:pPr>
            <a:r>
              <a:rPr sz="1500" b="0">
                <a:solidFill>
                  <a:srgbClr val="4D4D4D"/>
                </a:solidFill>
                <a:latin typeface="Noto Sans JP"/>
                <a:ea typeface="Noto Sans JP"/>
                <a:cs typeface="Noto Sans JP"/>
              </a:rPr>
              <a:t>実際：入力によって ValueError になる</a:t>
            </a:r>
          </a:p>
        </p:txBody>
      </p:sp>
      <p:sp>
        <p:nvSpPr>
          <p:cNvPr id="15" name="TextBox 14"/>
          <p:cNvSpPr txBox="1"/>
          <p:nvPr/>
        </p:nvSpPr>
        <p:spPr>
          <a:xfrm>
            <a:off x="838200" y="3733800"/>
            <a:ext cx="4800600" cy="381000"/>
          </a:xfrm>
          <a:prstGeom prst="rect">
            <a:avLst/>
          </a:prstGeom>
          <a:noFill/>
        </p:spPr>
        <p:txBody>
          <a:bodyPr wrap="square" lIns="0" rIns="0" tIns="0" bIns="0" anchor="t">
            <a:spAutoFit/>
          </a:bodyPr>
          <a:lstStyle/>
          <a:p>
            <a:pPr algn="l">
              <a:lnSpc>
                <a:spcPct val="150000"/>
              </a:lnSpc>
            </a:pPr>
            <a:r>
              <a:rPr sz="1500" b="0">
                <a:solidFill>
                  <a:srgbClr val="4D4D4D"/>
                </a:solidFill>
                <a:latin typeface="Noto Sans JP"/>
                <a:ea typeface="Noto Sans JP"/>
                <a:cs typeface="Noto Sans JP"/>
              </a:rPr>
              <a:t>条件：入力値・操作手順・バージョン</a:t>
            </a:r>
          </a:p>
        </p:txBody>
      </p:sp>
      <p:sp>
        <p:nvSpPr>
          <p:cNvPr id="16" name="TextBox 15"/>
          <p:cNvSpPr txBox="1"/>
          <p:nvPr/>
        </p:nvSpPr>
        <p:spPr>
          <a:xfrm>
            <a:off x="838200" y="4191000"/>
            <a:ext cx="4800600" cy="381000"/>
          </a:xfrm>
          <a:prstGeom prst="rect">
            <a:avLst/>
          </a:prstGeom>
          <a:noFill/>
        </p:spPr>
        <p:txBody>
          <a:bodyPr wrap="square" lIns="0" rIns="0" tIns="0" bIns="0" anchor="t">
            <a:spAutoFit/>
          </a:bodyPr>
          <a:lstStyle/>
          <a:p>
            <a:pPr algn="l">
              <a:lnSpc>
                <a:spcPct val="150000"/>
              </a:lnSpc>
            </a:pPr>
            <a:r>
              <a:rPr sz="1500" b="0">
                <a:solidFill>
                  <a:srgbClr val="4D4D4D"/>
                </a:solidFill>
                <a:latin typeface="Noto Sans JP"/>
                <a:ea typeface="Noto Sans JP"/>
                <a:cs typeface="Noto Sans JP"/>
              </a:rPr>
              <a:t>証拠：エラー全文・関連ログ・差分</a:t>
            </a:r>
          </a:p>
        </p:txBody>
      </p:sp>
      <p:sp>
        <p:nvSpPr>
          <p:cNvPr id="17" name="TextBox 16"/>
          <p:cNvSpPr txBox="1"/>
          <p:nvPr/>
        </p:nvSpPr>
        <p:spPr>
          <a:xfrm>
            <a:off x="838200" y="4648200"/>
            <a:ext cx="4800600" cy="381000"/>
          </a:xfrm>
          <a:prstGeom prst="rect">
            <a:avLst/>
          </a:prstGeom>
          <a:noFill/>
        </p:spPr>
        <p:txBody>
          <a:bodyPr wrap="square" lIns="0" rIns="0" tIns="0" bIns="0" anchor="t">
            <a:spAutoFit/>
          </a:bodyPr>
          <a:lstStyle/>
          <a:p>
            <a:pPr algn="l">
              <a:lnSpc>
                <a:spcPct val="150000"/>
              </a:lnSpc>
            </a:pPr>
            <a:r>
              <a:rPr sz="1500" b="0">
                <a:solidFill>
                  <a:srgbClr val="4D4D4D"/>
                </a:solidFill>
                <a:latin typeface="Noto Sans JP"/>
                <a:ea typeface="Noto Sans JP"/>
                <a:cs typeface="Noto Sans JP"/>
              </a:rPr>
              <a:t>依頼：仮説と確認方法を提示する</a:t>
            </a:r>
          </a:p>
        </p:txBody>
      </p:sp>
      <p:sp>
        <p:nvSpPr>
          <p:cNvPr id="18" name="Oval 17"/>
          <p:cNvSpPr/>
          <p:nvPr/>
        </p:nvSpPr>
        <p:spPr>
          <a:xfrm>
            <a:off x="6324600" y="2057400"/>
            <a:ext cx="457200" cy="457200"/>
          </a:xfrm>
          <a:prstGeom prst="ellipse">
            <a:avLst/>
          </a:prstGeom>
          <a:solidFill>
            <a:srgbClr val="0017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24600" y="2057400"/>
            <a:ext cx="457200" cy="457200"/>
          </a:xfrm>
          <a:prstGeom prst="rect">
            <a:avLst/>
          </a:prstGeom>
          <a:noFill/>
        </p:spPr>
        <p:txBody>
          <a:bodyPr wrap="square" lIns="0" rIns="0" tIns="0" bIns="0" anchor="ctr">
            <a:spAutoFit/>
          </a:bodyPr>
          <a:lstStyle/>
          <a:p>
            <a:pPr algn="ctr">
              <a:lnSpc>
                <a:spcPct val="150000"/>
              </a:lnSpc>
            </a:pPr>
            <a:r>
              <a:rPr sz="1500" b="1">
                <a:solidFill>
                  <a:srgbClr val="FFFFFF"/>
                </a:solidFill>
                <a:latin typeface="Noto Sans JP"/>
                <a:ea typeface="Noto Sans JP"/>
                <a:cs typeface="Noto Sans JP"/>
              </a:rPr>
              <a:t>01</a:t>
            </a:r>
          </a:p>
        </p:txBody>
      </p:sp>
      <p:sp>
        <p:nvSpPr>
          <p:cNvPr id="20" name="TextBox 19"/>
          <p:cNvSpPr txBox="1"/>
          <p:nvPr/>
        </p:nvSpPr>
        <p:spPr>
          <a:xfrm>
            <a:off x="7010400" y="2057400"/>
            <a:ext cx="4572000" cy="400050"/>
          </a:xfrm>
          <a:prstGeom prst="rect">
            <a:avLst/>
          </a:prstGeom>
          <a:noFill/>
        </p:spPr>
        <p:txBody>
          <a:bodyPr wrap="square" lIns="0" rIns="0" tIns="0" bIns="0" anchor="t">
            <a:spAutoFit/>
          </a:bodyPr>
          <a:lstStyle/>
          <a:p>
            <a:pPr algn="l">
              <a:lnSpc>
                <a:spcPct val="150000"/>
              </a:lnSpc>
            </a:pPr>
            <a:r>
              <a:rPr sz="1800" b="1">
                <a:solidFill>
                  <a:srgbClr val="1A1A1A"/>
                </a:solidFill>
                <a:latin typeface="Noto Sans JP"/>
                <a:ea typeface="Noto Sans JP"/>
                <a:cs typeface="Noto Sans JP"/>
              </a:rPr>
              <a:t>再現する</a:t>
            </a:r>
          </a:p>
        </p:txBody>
      </p:sp>
      <p:sp>
        <p:nvSpPr>
          <p:cNvPr id="21" name="TextBox 20"/>
          <p:cNvSpPr txBox="1"/>
          <p:nvPr/>
        </p:nvSpPr>
        <p:spPr>
          <a:xfrm>
            <a:off x="7010400" y="2514600"/>
            <a:ext cx="4572000" cy="400050"/>
          </a:xfrm>
          <a:prstGeom prst="rect">
            <a:avLst/>
          </a:prstGeom>
          <a:noFill/>
        </p:spPr>
        <p:txBody>
          <a:bodyPr wrap="square" lIns="0" rIns="0" tIns="0" bIns="0" anchor="t">
            <a:spAutoFit/>
          </a:bodyPr>
          <a:lstStyle/>
          <a:p>
            <a:pPr algn="l">
              <a:lnSpc>
                <a:spcPct val="150000"/>
              </a:lnSpc>
            </a:pPr>
            <a:r>
              <a:rPr sz="1500" b="0">
                <a:solidFill>
                  <a:srgbClr val="4D4D4D"/>
                </a:solidFill>
                <a:latin typeface="Noto Sans JP"/>
                <a:ea typeface="Noto Sans JP"/>
                <a:cs typeface="Noto Sans JP"/>
              </a:rPr>
              <a:t>最小の入力と手順に絞る</a:t>
            </a:r>
          </a:p>
        </p:txBody>
      </p:sp>
      <p:sp>
        <p:nvSpPr>
          <p:cNvPr id="22" name="Oval 21"/>
          <p:cNvSpPr/>
          <p:nvPr/>
        </p:nvSpPr>
        <p:spPr>
          <a:xfrm>
            <a:off x="6324600" y="3162300"/>
            <a:ext cx="457200" cy="457200"/>
          </a:xfrm>
          <a:prstGeom prst="ellipse">
            <a:avLst/>
          </a:prstGeom>
          <a:solidFill>
            <a:srgbClr val="0017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24600" y="3162300"/>
            <a:ext cx="457200" cy="457200"/>
          </a:xfrm>
          <a:prstGeom prst="rect">
            <a:avLst/>
          </a:prstGeom>
          <a:noFill/>
        </p:spPr>
        <p:txBody>
          <a:bodyPr wrap="square" lIns="0" rIns="0" tIns="0" bIns="0" anchor="ctr">
            <a:spAutoFit/>
          </a:bodyPr>
          <a:lstStyle/>
          <a:p>
            <a:pPr algn="ctr">
              <a:lnSpc>
                <a:spcPct val="150000"/>
              </a:lnSpc>
            </a:pPr>
            <a:r>
              <a:rPr sz="1500" b="1">
                <a:solidFill>
                  <a:srgbClr val="FFFFFF"/>
                </a:solidFill>
                <a:latin typeface="Noto Sans JP"/>
                <a:ea typeface="Noto Sans JP"/>
                <a:cs typeface="Noto Sans JP"/>
              </a:rPr>
              <a:t>02</a:t>
            </a:r>
          </a:p>
        </p:txBody>
      </p:sp>
      <p:sp>
        <p:nvSpPr>
          <p:cNvPr id="24" name="TextBox 23"/>
          <p:cNvSpPr txBox="1"/>
          <p:nvPr/>
        </p:nvSpPr>
        <p:spPr>
          <a:xfrm>
            <a:off x="7010400" y="3162300"/>
            <a:ext cx="4572000" cy="400050"/>
          </a:xfrm>
          <a:prstGeom prst="rect">
            <a:avLst/>
          </a:prstGeom>
          <a:noFill/>
        </p:spPr>
        <p:txBody>
          <a:bodyPr wrap="square" lIns="0" rIns="0" tIns="0" bIns="0" anchor="t">
            <a:spAutoFit/>
          </a:bodyPr>
          <a:lstStyle/>
          <a:p>
            <a:pPr algn="l">
              <a:lnSpc>
                <a:spcPct val="150000"/>
              </a:lnSpc>
            </a:pPr>
            <a:r>
              <a:rPr sz="1800" b="1">
                <a:solidFill>
                  <a:srgbClr val="1A1A1A"/>
                </a:solidFill>
                <a:latin typeface="Noto Sans JP"/>
                <a:ea typeface="Noto Sans JP"/>
                <a:cs typeface="Noto Sans JP"/>
              </a:rPr>
              <a:t>仮説を確かめる</a:t>
            </a:r>
          </a:p>
        </p:txBody>
      </p:sp>
      <p:sp>
        <p:nvSpPr>
          <p:cNvPr id="25" name="TextBox 24"/>
          <p:cNvSpPr txBox="1"/>
          <p:nvPr/>
        </p:nvSpPr>
        <p:spPr>
          <a:xfrm>
            <a:off x="7010400" y="3619500"/>
            <a:ext cx="4572000" cy="400050"/>
          </a:xfrm>
          <a:prstGeom prst="rect">
            <a:avLst/>
          </a:prstGeom>
          <a:noFill/>
        </p:spPr>
        <p:txBody>
          <a:bodyPr wrap="square" lIns="0" rIns="0" tIns="0" bIns="0" anchor="t">
            <a:spAutoFit/>
          </a:bodyPr>
          <a:lstStyle/>
          <a:p>
            <a:pPr algn="l">
              <a:lnSpc>
                <a:spcPct val="150000"/>
              </a:lnSpc>
            </a:pPr>
            <a:r>
              <a:rPr sz="1500" b="0">
                <a:solidFill>
                  <a:srgbClr val="4D4D4D"/>
                </a:solidFill>
                <a:latin typeface="Noto Sans JP"/>
                <a:ea typeface="Noto Sans JP"/>
                <a:cs typeface="Noto Sans JP"/>
              </a:rPr>
              <a:t>1回に1つの原因を検証する</a:t>
            </a:r>
          </a:p>
        </p:txBody>
      </p:sp>
      <p:sp>
        <p:nvSpPr>
          <p:cNvPr id="26" name="Oval 25"/>
          <p:cNvSpPr/>
          <p:nvPr/>
        </p:nvSpPr>
        <p:spPr>
          <a:xfrm>
            <a:off x="6324600" y="4267200"/>
            <a:ext cx="457200" cy="457200"/>
          </a:xfrm>
          <a:prstGeom prst="ellipse">
            <a:avLst/>
          </a:prstGeom>
          <a:solidFill>
            <a:srgbClr val="0017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24600" y="4267200"/>
            <a:ext cx="457200" cy="457200"/>
          </a:xfrm>
          <a:prstGeom prst="rect">
            <a:avLst/>
          </a:prstGeom>
          <a:noFill/>
        </p:spPr>
        <p:txBody>
          <a:bodyPr wrap="square" lIns="0" rIns="0" tIns="0" bIns="0" anchor="ctr">
            <a:spAutoFit/>
          </a:bodyPr>
          <a:lstStyle/>
          <a:p>
            <a:pPr algn="ctr">
              <a:lnSpc>
                <a:spcPct val="150000"/>
              </a:lnSpc>
            </a:pPr>
            <a:r>
              <a:rPr sz="1500" b="1">
                <a:solidFill>
                  <a:srgbClr val="FFFFFF"/>
                </a:solidFill>
                <a:latin typeface="Noto Sans JP"/>
                <a:ea typeface="Noto Sans JP"/>
                <a:cs typeface="Noto Sans JP"/>
              </a:rPr>
              <a:t>03</a:t>
            </a:r>
          </a:p>
        </p:txBody>
      </p:sp>
      <p:sp>
        <p:nvSpPr>
          <p:cNvPr id="28" name="TextBox 27"/>
          <p:cNvSpPr txBox="1"/>
          <p:nvPr/>
        </p:nvSpPr>
        <p:spPr>
          <a:xfrm>
            <a:off x="7010400" y="4267200"/>
            <a:ext cx="4572000" cy="400050"/>
          </a:xfrm>
          <a:prstGeom prst="rect">
            <a:avLst/>
          </a:prstGeom>
          <a:noFill/>
        </p:spPr>
        <p:txBody>
          <a:bodyPr wrap="square" lIns="0" rIns="0" tIns="0" bIns="0" anchor="t">
            <a:spAutoFit/>
          </a:bodyPr>
          <a:lstStyle/>
          <a:p>
            <a:pPr algn="l">
              <a:lnSpc>
                <a:spcPct val="150000"/>
              </a:lnSpc>
            </a:pPr>
            <a:r>
              <a:rPr sz="1800" b="1">
                <a:solidFill>
                  <a:srgbClr val="1A1A1A"/>
                </a:solidFill>
                <a:latin typeface="Noto Sans JP"/>
                <a:ea typeface="Noto Sans JP"/>
                <a:cs typeface="Noto Sans JP"/>
              </a:rPr>
              <a:t>回帰を防ぐ</a:t>
            </a:r>
          </a:p>
        </p:txBody>
      </p:sp>
      <p:sp>
        <p:nvSpPr>
          <p:cNvPr id="29" name="TextBox 28"/>
          <p:cNvSpPr txBox="1"/>
          <p:nvPr/>
        </p:nvSpPr>
        <p:spPr>
          <a:xfrm>
            <a:off x="7010400" y="4724400"/>
            <a:ext cx="4572000" cy="400050"/>
          </a:xfrm>
          <a:prstGeom prst="rect">
            <a:avLst/>
          </a:prstGeom>
          <a:noFill/>
        </p:spPr>
        <p:txBody>
          <a:bodyPr wrap="square" lIns="0" rIns="0" tIns="0" bIns="0" anchor="t">
            <a:spAutoFit/>
          </a:bodyPr>
          <a:lstStyle/>
          <a:p>
            <a:pPr algn="l">
              <a:lnSpc>
                <a:spcPct val="150000"/>
              </a:lnSpc>
            </a:pPr>
            <a:r>
              <a:rPr sz="1500" b="0">
                <a:solidFill>
                  <a:srgbClr val="4D4D4D"/>
                </a:solidFill>
                <a:latin typeface="Noto Sans JP"/>
                <a:ea typeface="Noto Sans JP"/>
                <a:cs typeface="Noto Sans JP"/>
              </a:rPr>
              <a:t>再現テストを残して修正する</a:t>
            </a:r>
          </a:p>
        </p:txBody>
      </p:sp>
      <p:sp>
        <p:nvSpPr>
          <p:cNvPr id="30" name="Rectangle 29"/>
          <p:cNvSpPr/>
          <p:nvPr/>
        </p:nvSpPr>
        <p:spPr>
          <a:xfrm>
            <a:off x="609600" y="5562600"/>
            <a:ext cx="10972800" cy="533400"/>
          </a:xfrm>
          <a:prstGeom prst="rect">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838200" y="5562600"/>
            <a:ext cx="10515600" cy="533400"/>
          </a:xfrm>
          <a:prstGeom prst="rect">
            <a:avLst/>
          </a:prstGeom>
          <a:noFill/>
        </p:spPr>
        <p:txBody>
          <a:bodyPr wrap="square" lIns="0" rIns="0" tIns="0" bIns="0" anchor="ctr">
            <a:spAutoFit/>
          </a:bodyPr>
          <a:lstStyle/>
          <a:p>
            <a:pPr algn="l">
              <a:lnSpc>
                <a:spcPct val="150000"/>
              </a:lnSpc>
            </a:pPr>
            <a:r>
              <a:rPr sz="1500" b="1">
                <a:solidFill>
                  <a:srgbClr val="00118F"/>
                </a:solidFill>
                <a:latin typeface="Noto Sans JP"/>
                <a:ea typeface="Noto Sans JP"/>
                <a:cs typeface="Noto Sans JP"/>
              </a:rPr>
              <a:t>説明が変わるだけで証拠が増えないときは、差分を広げず状況を整理する。</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609600" y="495300"/>
            <a:ext cx="57150" cy="228600"/>
          </a:xfrm>
          <a:prstGeom prst="rect">
            <a:avLst/>
          </a:prstGeom>
          <a:solidFill>
            <a:srgbClr val="0017C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62000" y="495300"/>
            <a:ext cx="9334500" cy="228600"/>
          </a:xfrm>
          <a:prstGeom prst="rect">
            <a:avLst/>
          </a:prstGeom>
          <a:noFill/>
        </p:spPr>
        <p:txBody>
          <a:bodyPr wrap="square" lIns="0" rIns="0" tIns="0" bIns="0" anchor="ctr">
            <a:spAutoFit/>
          </a:bodyPr>
          <a:lstStyle/>
          <a:p>
            <a:pPr algn="l">
              <a:lnSpc>
                <a:spcPct val="100000"/>
              </a:lnSpc>
            </a:pPr>
            <a:r>
              <a:rPr sz="1050" b="1">
                <a:solidFill>
                  <a:srgbClr val="0017C1"/>
                </a:solidFill>
                <a:latin typeface="Noto Sans JP"/>
                <a:ea typeface="Noto Sans JP"/>
                <a:cs typeface="Noto Sans JP"/>
              </a:rPr>
              <a:t>03 / つくって確かめる</a:t>
            </a:r>
          </a:p>
        </p:txBody>
      </p:sp>
      <p:sp>
        <p:nvSpPr>
          <p:cNvPr id="5" name="TextBox 4"/>
          <p:cNvSpPr txBox="1"/>
          <p:nvPr/>
        </p:nvSpPr>
        <p:spPr>
          <a:xfrm>
            <a:off x="609600" y="800100"/>
            <a:ext cx="10972800" cy="457200"/>
          </a:xfrm>
          <a:prstGeom prst="rect">
            <a:avLst/>
          </a:prstGeom>
          <a:noFill/>
        </p:spPr>
        <p:txBody>
          <a:bodyPr wrap="square" lIns="0" rIns="0" tIns="0" bIns="0" anchor="t">
            <a:spAutoFit/>
          </a:bodyPr>
          <a:lstStyle/>
          <a:p>
            <a:pPr algn="l">
              <a:lnSpc>
                <a:spcPct val="150000"/>
              </a:lnSpc>
            </a:pPr>
            <a:r>
              <a:rPr sz="2400" b="1">
                <a:solidFill>
                  <a:srgbClr val="1A1A1A"/>
                </a:solidFill>
                <a:latin typeface="Noto Sans JP"/>
                <a:ea typeface="Noto Sans JP"/>
                <a:cs typeface="Noto Sans JP"/>
              </a:rPr>
              <a:t>レビューでは、差分と証拠を一緒に読む</a:t>
            </a:r>
          </a:p>
        </p:txBody>
      </p:sp>
      <p:sp>
        <p:nvSpPr>
          <p:cNvPr id="6" name="Rectangle 5"/>
          <p:cNvSpPr/>
          <p:nvPr/>
        </p:nvSpPr>
        <p:spPr>
          <a:xfrm>
            <a:off x="609600" y="1333500"/>
            <a:ext cx="10972800" cy="19050"/>
          </a:xfrm>
          <a:prstGeom prst="rect">
            <a:avLst/>
          </a:prstGeom>
          <a:solidFill>
            <a:srgbClr val="9494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09600" y="1447800"/>
            <a:ext cx="10972800" cy="304800"/>
          </a:xfrm>
          <a:prstGeom prst="rect">
            <a:avLst/>
          </a:prstGeom>
          <a:noFill/>
        </p:spPr>
        <p:txBody>
          <a:bodyPr wrap="square" lIns="0" rIns="0" tIns="0" bIns="0" anchor="t">
            <a:spAutoFit/>
          </a:bodyPr>
          <a:lstStyle/>
          <a:p>
            <a:pPr algn="l">
              <a:lnSpc>
                <a:spcPct val="160000"/>
              </a:lnSpc>
            </a:pPr>
            <a:r>
              <a:rPr sz="1350" b="0">
                <a:solidFill>
                  <a:srgbClr val="4D4D4D"/>
                </a:solidFill>
                <a:latin typeface="Noto Sans JP"/>
                <a:ea typeface="Noto Sans JP"/>
                <a:cs typeface="Noto Sans JP"/>
              </a:rPr>
              <a:t>AIレビューの指摘も検証し、採用する変更は担当者が説明できる状態にする。</a:t>
            </a:r>
          </a:p>
        </p:txBody>
      </p:sp>
      <p:sp>
        <p:nvSpPr>
          <p:cNvPr id="8" name="Rectangle 7"/>
          <p:cNvSpPr/>
          <p:nvPr/>
        </p:nvSpPr>
        <p:spPr>
          <a:xfrm>
            <a:off x="609600" y="6286500"/>
            <a:ext cx="10972800" cy="9525"/>
          </a:xfrm>
          <a:prstGeom prst="rect">
            <a:avLst/>
          </a:prstGeom>
          <a:solidFill>
            <a:srgbClr val="B3B3B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09600" y="6419850"/>
            <a:ext cx="4191000" cy="190500"/>
          </a:xfrm>
          <a:prstGeom prst="rect">
            <a:avLst/>
          </a:prstGeom>
          <a:noFill/>
        </p:spPr>
        <p:txBody>
          <a:bodyPr wrap="square" lIns="0" rIns="0" tIns="0" bIns="0" anchor="t">
            <a:spAutoFit/>
          </a:bodyPr>
          <a:lstStyle/>
          <a:p>
            <a:pPr algn="l">
              <a:lnSpc>
                <a:spcPct val="130000"/>
              </a:lnSpc>
            </a:pPr>
            <a:r>
              <a:rPr sz="1050" b="0">
                <a:solidFill>
                  <a:srgbClr val="767676"/>
                </a:solidFill>
                <a:latin typeface="Noto Sans JP"/>
                <a:ea typeface="Noto Sans JP"/>
                <a:cs typeface="Noto Sans JP"/>
              </a:rPr>
              <a:t>AI駆動開発ガイド</a:t>
            </a:r>
          </a:p>
        </p:txBody>
      </p:sp>
      <p:sp>
        <p:nvSpPr>
          <p:cNvPr id="10" name="TextBox 9"/>
          <p:cNvSpPr txBox="1"/>
          <p:nvPr/>
        </p:nvSpPr>
        <p:spPr>
          <a:xfrm>
            <a:off x="4953000" y="6419850"/>
            <a:ext cx="5334000" cy="190500"/>
          </a:xfrm>
          <a:prstGeom prst="rect">
            <a:avLst/>
          </a:prstGeom>
          <a:noFill/>
        </p:spPr>
        <p:txBody>
          <a:bodyPr wrap="square" lIns="0" rIns="0" tIns="0" bIns="0" anchor="t">
            <a:spAutoFit/>
          </a:bodyPr>
          <a:lstStyle/>
          <a:p>
            <a:pPr algn="r">
              <a:lnSpc>
                <a:spcPct val="130000"/>
              </a:lnSpc>
            </a:pPr>
            <a:r>
              <a:rPr sz="1050" b="0">
                <a:solidFill>
                  <a:srgbClr val="767676"/>
                </a:solidFill>
                <a:latin typeface="Noto Sans JP"/>
                <a:ea typeface="Noto Sans JP"/>
                <a:cs typeface="Noto Sans JP"/>
              </a:rPr>
              <a:t>参考 [2] ｜出典は p.20</a:t>
            </a:r>
          </a:p>
        </p:txBody>
      </p:sp>
      <p:sp>
        <p:nvSpPr>
          <p:cNvPr id="11" name="TextBox 10"/>
          <p:cNvSpPr txBox="1"/>
          <p:nvPr/>
        </p:nvSpPr>
        <p:spPr>
          <a:xfrm>
            <a:off x="10668000" y="6419850"/>
            <a:ext cx="914400" cy="190500"/>
          </a:xfrm>
          <a:prstGeom prst="rect">
            <a:avLst/>
          </a:prstGeom>
          <a:noFill/>
        </p:spPr>
        <p:txBody>
          <a:bodyPr wrap="square" lIns="0" rIns="0" tIns="0" bIns="0" anchor="t">
            <a:spAutoFit/>
          </a:bodyPr>
          <a:lstStyle/>
          <a:p>
            <a:pPr algn="r">
              <a:lnSpc>
                <a:spcPct val="130000"/>
              </a:lnSpc>
            </a:pPr>
            <a:r>
              <a:rPr sz="1050" b="1">
                <a:solidFill>
                  <a:srgbClr val="767676"/>
                </a:solidFill>
                <a:latin typeface="Noto Sans JP"/>
                <a:ea typeface="Noto Sans JP"/>
                <a:cs typeface="Noto Sans JP"/>
              </a:rPr>
              <a:t>13 / 20</a:t>
            </a:r>
          </a:p>
        </p:txBody>
      </p:sp>
      <p:sp>
        <p:nvSpPr>
          <p:cNvPr id="12" name="Rectangle 11"/>
          <p:cNvSpPr/>
          <p:nvPr/>
        </p:nvSpPr>
        <p:spPr>
          <a:xfrm>
            <a:off x="609600" y="1981200"/>
            <a:ext cx="5257800" cy="4114800"/>
          </a:xfrm>
          <a:prstGeom prst="rect">
            <a:avLst/>
          </a:prstGeom>
          <a:solidFill>
            <a:srgbClr val="FFFFFF"/>
          </a:solidFill>
          <a:ln w="9525">
            <a:solidFill>
              <a:srgbClr val="94949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38200" y="2209800"/>
            <a:ext cx="4800600" cy="400050"/>
          </a:xfrm>
          <a:prstGeom prst="rect">
            <a:avLst/>
          </a:prstGeom>
          <a:noFill/>
        </p:spPr>
        <p:txBody>
          <a:bodyPr wrap="square" lIns="0" rIns="0" tIns="0" bIns="0" anchor="t">
            <a:spAutoFit/>
          </a:bodyPr>
          <a:lstStyle/>
          <a:p>
            <a:pPr algn="l">
              <a:lnSpc>
                <a:spcPct val="150000"/>
              </a:lnSpc>
            </a:pPr>
            <a:r>
              <a:rPr sz="1800" b="1">
                <a:solidFill>
                  <a:srgbClr val="0017C1"/>
                </a:solidFill>
                <a:latin typeface="Noto Sans JP"/>
                <a:ea typeface="Noto Sans JP"/>
                <a:cs typeface="Noto Sans JP"/>
              </a:rPr>
              <a:t>レビューの5観点</a:t>
            </a:r>
          </a:p>
        </p:txBody>
      </p:sp>
      <p:sp>
        <p:nvSpPr>
          <p:cNvPr id="14" name="TextBox 13"/>
          <p:cNvSpPr txBox="1"/>
          <p:nvPr/>
        </p:nvSpPr>
        <p:spPr>
          <a:xfrm>
            <a:off x="838200" y="2819400"/>
            <a:ext cx="838200" cy="381000"/>
          </a:xfrm>
          <a:prstGeom prst="rect">
            <a:avLst/>
          </a:prstGeom>
          <a:noFill/>
        </p:spPr>
        <p:txBody>
          <a:bodyPr wrap="square" lIns="0" rIns="0" tIns="0" bIns="0" anchor="t">
            <a:spAutoFit/>
          </a:bodyPr>
          <a:lstStyle/>
          <a:p>
            <a:pPr algn="l">
              <a:lnSpc>
                <a:spcPct val="150000"/>
              </a:lnSpc>
            </a:pPr>
            <a:r>
              <a:rPr sz="1500" b="1">
                <a:solidFill>
                  <a:srgbClr val="1A1A1A"/>
                </a:solidFill>
                <a:latin typeface="Noto Sans JP"/>
                <a:ea typeface="Noto Sans JP"/>
                <a:cs typeface="Noto Sans JP"/>
              </a:rPr>
              <a:t>仕様</a:t>
            </a:r>
          </a:p>
        </p:txBody>
      </p:sp>
      <p:sp>
        <p:nvSpPr>
          <p:cNvPr id="15" name="TextBox 14"/>
          <p:cNvSpPr txBox="1"/>
          <p:nvPr/>
        </p:nvSpPr>
        <p:spPr>
          <a:xfrm>
            <a:off x="1828800" y="2819400"/>
            <a:ext cx="3810000" cy="495300"/>
          </a:xfrm>
          <a:prstGeom prst="rect">
            <a:avLst/>
          </a:prstGeom>
          <a:noFill/>
        </p:spPr>
        <p:txBody>
          <a:bodyPr wrap="square" lIns="0" rIns="0" tIns="0" bIns="0" anchor="t">
            <a:spAutoFit/>
          </a:bodyPr>
          <a:lstStyle/>
          <a:p>
            <a:pPr algn="l">
              <a:lnSpc>
                <a:spcPct val="150000"/>
              </a:lnSpc>
            </a:pPr>
            <a:r>
              <a:rPr sz="1500" b="0">
                <a:solidFill>
                  <a:srgbClr val="4D4D4D"/>
                </a:solidFill>
                <a:latin typeface="Noto Sans JP"/>
                <a:ea typeface="Noto Sans JP"/>
                <a:cs typeface="Noto Sans JP"/>
              </a:rPr>
              <a:t>受け入れ条件と対象外を守る</a:t>
            </a:r>
          </a:p>
        </p:txBody>
      </p:sp>
      <p:sp>
        <p:nvSpPr>
          <p:cNvPr id="16" name="TextBox 15"/>
          <p:cNvSpPr txBox="1"/>
          <p:nvPr/>
        </p:nvSpPr>
        <p:spPr>
          <a:xfrm>
            <a:off x="838200" y="3390900"/>
            <a:ext cx="838200" cy="381000"/>
          </a:xfrm>
          <a:prstGeom prst="rect">
            <a:avLst/>
          </a:prstGeom>
          <a:noFill/>
        </p:spPr>
        <p:txBody>
          <a:bodyPr wrap="square" lIns="0" rIns="0" tIns="0" bIns="0" anchor="t">
            <a:spAutoFit/>
          </a:bodyPr>
          <a:lstStyle/>
          <a:p>
            <a:pPr algn="l">
              <a:lnSpc>
                <a:spcPct val="150000"/>
              </a:lnSpc>
            </a:pPr>
            <a:r>
              <a:rPr sz="1500" b="1">
                <a:solidFill>
                  <a:srgbClr val="1A1A1A"/>
                </a:solidFill>
                <a:latin typeface="Noto Sans JP"/>
                <a:ea typeface="Noto Sans JP"/>
                <a:cs typeface="Noto Sans JP"/>
              </a:rPr>
              <a:t>構造</a:t>
            </a:r>
          </a:p>
        </p:txBody>
      </p:sp>
      <p:sp>
        <p:nvSpPr>
          <p:cNvPr id="17" name="TextBox 16"/>
          <p:cNvSpPr txBox="1"/>
          <p:nvPr/>
        </p:nvSpPr>
        <p:spPr>
          <a:xfrm>
            <a:off x="1828800" y="3390900"/>
            <a:ext cx="3810000" cy="495300"/>
          </a:xfrm>
          <a:prstGeom prst="rect">
            <a:avLst/>
          </a:prstGeom>
          <a:noFill/>
        </p:spPr>
        <p:txBody>
          <a:bodyPr wrap="square" lIns="0" rIns="0" tIns="0" bIns="0" anchor="t">
            <a:spAutoFit/>
          </a:bodyPr>
          <a:lstStyle/>
          <a:p>
            <a:pPr algn="l">
              <a:lnSpc>
                <a:spcPct val="150000"/>
              </a:lnSpc>
            </a:pPr>
            <a:r>
              <a:rPr sz="1500" b="0">
                <a:solidFill>
                  <a:srgbClr val="4D4D4D"/>
                </a:solidFill>
                <a:latin typeface="Noto Sans JP"/>
                <a:ea typeface="Noto Sans JP"/>
                <a:cs typeface="Noto Sans JP"/>
              </a:rPr>
              <a:t>既存設計に沿い、差分が適切</a:t>
            </a:r>
          </a:p>
        </p:txBody>
      </p:sp>
      <p:sp>
        <p:nvSpPr>
          <p:cNvPr id="18" name="TextBox 17"/>
          <p:cNvSpPr txBox="1"/>
          <p:nvPr/>
        </p:nvSpPr>
        <p:spPr>
          <a:xfrm>
            <a:off x="838200" y="3962400"/>
            <a:ext cx="838200" cy="381000"/>
          </a:xfrm>
          <a:prstGeom prst="rect">
            <a:avLst/>
          </a:prstGeom>
          <a:noFill/>
        </p:spPr>
        <p:txBody>
          <a:bodyPr wrap="square" lIns="0" rIns="0" tIns="0" bIns="0" anchor="t">
            <a:spAutoFit/>
          </a:bodyPr>
          <a:lstStyle/>
          <a:p>
            <a:pPr algn="l">
              <a:lnSpc>
                <a:spcPct val="150000"/>
              </a:lnSpc>
            </a:pPr>
            <a:r>
              <a:rPr sz="1500" b="1">
                <a:solidFill>
                  <a:srgbClr val="1A1A1A"/>
                </a:solidFill>
                <a:latin typeface="Noto Sans JP"/>
                <a:ea typeface="Noto Sans JP"/>
                <a:cs typeface="Noto Sans JP"/>
              </a:rPr>
              <a:t>安全</a:t>
            </a:r>
          </a:p>
        </p:txBody>
      </p:sp>
      <p:sp>
        <p:nvSpPr>
          <p:cNvPr id="19" name="TextBox 18"/>
          <p:cNvSpPr txBox="1"/>
          <p:nvPr/>
        </p:nvSpPr>
        <p:spPr>
          <a:xfrm>
            <a:off x="1828800" y="3962400"/>
            <a:ext cx="3810000" cy="495300"/>
          </a:xfrm>
          <a:prstGeom prst="rect">
            <a:avLst/>
          </a:prstGeom>
          <a:noFill/>
        </p:spPr>
        <p:txBody>
          <a:bodyPr wrap="square" lIns="0" rIns="0" tIns="0" bIns="0" anchor="t">
            <a:spAutoFit/>
          </a:bodyPr>
          <a:lstStyle/>
          <a:p>
            <a:pPr algn="l">
              <a:lnSpc>
                <a:spcPct val="150000"/>
              </a:lnSpc>
            </a:pPr>
            <a:r>
              <a:rPr sz="1500" b="0">
                <a:solidFill>
                  <a:srgbClr val="4D4D4D"/>
                </a:solidFill>
                <a:latin typeface="Noto Sans JP"/>
                <a:ea typeface="Noto Sans JP"/>
                <a:cs typeface="Noto Sans JP"/>
              </a:rPr>
              <a:t>権限・入力・機密情報を確認</a:t>
            </a:r>
          </a:p>
        </p:txBody>
      </p:sp>
      <p:sp>
        <p:nvSpPr>
          <p:cNvPr id="20" name="TextBox 19"/>
          <p:cNvSpPr txBox="1"/>
          <p:nvPr/>
        </p:nvSpPr>
        <p:spPr>
          <a:xfrm>
            <a:off x="838200" y="4533900"/>
            <a:ext cx="838200" cy="381000"/>
          </a:xfrm>
          <a:prstGeom prst="rect">
            <a:avLst/>
          </a:prstGeom>
          <a:noFill/>
        </p:spPr>
        <p:txBody>
          <a:bodyPr wrap="square" lIns="0" rIns="0" tIns="0" bIns="0" anchor="t">
            <a:spAutoFit/>
          </a:bodyPr>
          <a:lstStyle/>
          <a:p>
            <a:pPr algn="l">
              <a:lnSpc>
                <a:spcPct val="150000"/>
              </a:lnSpc>
            </a:pPr>
            <a:r>
              <a:rPr sz="1500" b="1">
                <a:solidFill>
                  <a:srgbClr val="1A1A1A"/>
                </a:solidFill>
                <a:latin typeface="Noto Sans JP"/>
                <a:ea typeface="Noto Sans JP"/>
                <a:cs typeface="Noto Sans JP"/>
              </a:rPr>
              <a:t>証拠</a:t>
            </a:r>
          </a:p>
        </p:txBody>
      </p:sp>
      <p:sp>
        <p:nvSpPr>
          <p:cNvPr id="21" name="TextBox 20"/>
          <p:cNvSpPr txBox="1"/>
          <p:nvPr/>
        </p:nvSpPr>
        <p:spPr>
          <a:xfrm>
            <a:off x="1828800" y="4533900"/>
            <a:ext cx="3810000" cy="495300"/>
          </a:xfrm>
          <a:prstGeom prst="rect">
            <a:avLst/>
          </a:prstGeom>
          <a:noFill/>
        </p:spPr>
        <p:txBody>
          <a:bodyPr wrap="square" lIns="0" rIns="0" tIns="0" bIns="0" anchor="t">
            <a:spAutoFit/>
          </a:bodyPr>
          <a:lstStyle/>
          <a:p>
            <a:pPr algn="l">
              <a:lnSpc>
                <a:spcPct val="150000"/>
              </a:lnSpc>
            </a:pPr>
            <a:r>
              <a:rPr sz="1500" b="0">
                <a:solidFill>
                  <a:srgbClr val="4D4D4D"/>
                </a:solidFill>
                <a:latin typeface="Noto Sans JP"/>
                <a:ea typeface="Noto Sans JP"/>
                <a:cs typeface="Noto Sans JP"/>
              </a:rPr>
              <a:t>テストと解析の実行結果がある</a:t>
            </a:r>
          </a:p>
        </p:txBody>
      </p:sp>
      <p:sp>
        <p:nvSpPr>
          <p:cNvPr id="22" name="TextBox 21"/>
          <p:cNvSpPr txBox="1"/>
          <p:nvPr/>
        </p:nvSpPr>
        <p:spPr>
          <a:xfrm>
            <a:off x="838200" y="5105400"/>
            <a:ext cx="838200" cy="381000"/>
          </a:xfrm>
          <a:prstGeom prst="rect">
            <a:avLst/>
          </a:prstGeom>
          <a:noFill/>
        </p:spPr>
        <p:txBody>
          <a:bodyPr wrap="square" lIns="0" rIns="0" tIns="0" bIns="0" anchor="t">
            <a:spAutoFit/>
          </a:bodyPr>
          <a:lstStyle/>
          <a:p>
            <a:pPr algn="l">
              <a:lnSpc>
                <a:spcPct val="150000"/>
              </a:lnSpc>
            </a:pPr>
            <a:r>
              <a:rPr sz="1500" b="1">
                <a:solidFill>
                  <a:srgbClr val="1A1A1A"/>
                </a:solidFill>
                <a:latin typeface="Noto Sans JP"/>
                <a:ea typeface="Noto Sans JP"/>
                <a:cs typeface="Noto Sans JP"/>
              </a:rPr>
              <a:t>運用</a:t>
            </a:r>
          </a:p>
        </p:txBody>
      </p:sp>
      <p:sp>
        <p:nvSpPr>
          <p:cNvPr id="23" name="TextBox 22"/>
          <p:cNvSpPr txBox="1"/>
          <p:nvPr/>
        </p:nvSpPr>
        <p:spPr>
          <a:xfrm>
            <a:off x="1828800" y="5105400"/>
            <a:ext cx="3810000" cy="495300"/>
          </a:xfrm>
          <a:prstGeom prst="rect">
            <a:avLst/>
          </a:prstGeom>
          <a:noFill/>
        </p:spPr>
        <p:txBody>
          <a:bodyPr wrap="square" lIns="0" rIns="0" tIns="0" bIns="0" anchor="t">
            <a:spAutoFit/>
          </a:bodyPr>
          <a:lstStyle/>
          <a:p>
            <a:pPr algn="l">
              <a:lnSpc>
                <a:spcPct val="150000"/>
              </a:lnSpc>
            </a:pPr>
            <a:r>
              <a:rPr sz="1500" b="0">
                <a:solidFill>
                  <a:srgbClr val="4D4D4D"/>
                </a:solidFill>
                <a:latin typeface="Noto Sans JP"/>
                <a:ea typeface="Noto Sans JP"/>
                <a:cs typeface="Noto Sans JP"/>
              </a:rPr>
              <a:t>ログ・影響・戻し方を説明できる</a:t>
            </a:r>
          </a:p>
        </p:txBody>
      </p:sp>
      <p:sp>
        <p:nvSpPr>
          <p:cNvPr id="24" name="Rectangle 23"/>
          <p:cNvSpPr/>
          <p:nvPr/>
        </p:nvSpPr>
        <p:spPr>
          <a:xfrm>
            <a:off x="6172200" y="1981200"/>
            <a:ext cx="5410200" cy="4114800"/>
          </a:xfrm>
          <a:prstGeom prst="rect">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6438900" y="2209800"/>
            <a:ext cx="4876800" cy="400050"/>
          </a:xfrm>
          <a:prstGeom prst="rect">
            <a:avLst/>
          </a:prstGeom>
          <a:noFill/>
        </p:spPr>
        <p:txBody>
          <a:bodyPr wrap="square" lIns="0" rIns="0" tIns="0" bIns="0" anchor="t">
            <a:spAutoFit/>
          </a:bodyPr>
          <a:lstStyle/>
          <a:p>
            <a:pPr algn="l">
              <a:lnSpc>
                <a:spcPct val="150000"/>
              </a:lnSpc>
            </a:pPr>
            <a:r>
              <a:rPr sz="1800" b="1">
                <a:solidFill>
                  <a:srgbClr val="00118F"/>
                </a:solidFill>
                <a:latin typeface="Noto Sans JP"/>
                <a:ea typeface="Noto Sans JP"/>
                <a:cs typeface="Noto Sans JP"/>
              </a:rPr>
              <a:t>PR説明文の型</a:t>
            </a:r>
          </a:p>
        </p:txBody>
      </p:sp>
      <p:sp>
        <p:nvSpPr>
          <p:cNvPr id="26" name="TextBox 25"/>
          <p:cNvSpPr txBox="1"/>
          <p:nvPr/>
        </p:nvSpPr>
        <p:spPr>
          <a:xfrm>
            <a:off x="6438900" y="2819400"/>
            <a:ext cx="4876800" cy="285750"/>
          </a:xfrm>
          <a:prstGeom prst="rect">
            <a:avLst/>
          </a:prstGeom>
          <a:noFill/>
        </p:spPr>
        <p:txBody>
          <a:bodyPr wrap="square" lIns="0" rIns="0" tIns="0" bIns="0" anchor="t">
            <a:spAutoFit/>
          </a:bodyPr>
          <a:lstStyle/>
          <a:p>
            <a:pPr algn="l">
              <a:lnSpc>
                <a:spcPct val="160000"/>
              </a:lnSpc>
            </a:pPr>
            <a:r>
              <a:rPr sz="1350" b="1">
                <a:solidFill>
                  <a:srgbClr val="00118F"/>
                </a:solidFill>
                <a:latin typeface="Noto Sans JP"/>
                <a:ea typeface="Noto Sans JP"/>
                <a:cs typeface="Noto Sans JP"/>
              </a:rPr>
              <a:t>目的・変更</a:t>
            </a:r>
          </a:p>
        </p:txBody>
      </p:sp>
      <p:sp>
        <p:nvSpPr>
          <p:cNvPr id="27" name="TextBox 26"/>
          <p:cNvSpPr txBox="1"/>
          <p:nvPr/>
        </p:nvSpPr>
        <p:spPr>
          <a:xfrm>
            <a:off x="6438900" y="3124200"/>
            <a:ext cx="4876800" cy="381000"/>
          </a:xfrm>
          <a:prstGeom prst="rect">
            <a:avLst/>
          </a:prstGeom>
          <a:noFill/>
        </p:spPr>
        <p:txBody>
          <a:bodyPr wrap="square" lIns="0" rIns="0" tIns="0" bIns="0" anchor="t">
            <a:spAutoFit/>
          </a:bodyPr>
          <a:lstStyle/>
          <a:p>
            <a:pPr algn="l">
              <a:lnSpc>
                <a:spcPct val="150000"/>
              </a:lnSpc>
            </a:pPr>
            <a:r>
              <a:rPr sz="1500" b="0">
                <a:solidFill>
                  <a:srgbClr val="1A1A1A"/>
                </a:solidFill>
                <a:latin typeface="Noto Sans JP"/>
                <a:ea typeface="Noto Sans JP"/>
                <a:cs typeface="Noto Sans JP"/>
              </a:rPr>
              <a:t>何が、どのように変わるか</a:t>
            </a:r>
          </a:p>
        </p:txBody>
      </p:sp>
      <p:sp>
        <p:nvSpPr>
          <p:cNvPr id="28" name="TextBox 27"/>
          <p:cNvSpPr txBox="1"/>
          <p:nvPr/>
        </p:nvSpPr>
        <p:spPr>
          <a:xfrm>
            <a:off x="6438900" y="3581400"/>
            <a:ext cx="4876800" cy="285750"/>
          </a:xfrm>
          <a:prstGeom prst="rect">
            <a:avLst/>
          </a:prstGeom>
          <a:noFill/>
        </p:spPr>
        <p:txBody>
          <a:bodyPr wrap="square" lIns="0" rIns="0" tIns="0" bIns="0" anchor="t">
            <a:spAutoFit/>
          </a:bodyPr>
          <a:lstStyle/>
          <a:p>
            <a:pPr algn="l">
              <a:lnSpc>
                <a:spcPct val="160000"/>
              </a:lnSpc>
            </a:pPr>
            <a:r>
              <a:rPr sz="1350" b="1">
                <a:solidFill>
                  <a:srgbClr val="00118F"/>
                </a:solidFill>
                <a:latin typeface="Noto Sans JP"/>
                <a:ea typeface="Noto Sans JP"/>
                <a:cs typeface="Noto Sans JP"/>
              </a:rPr>
              <a:t>検証結果</a:t>
            </a:r>
          </a:p>
        </p:txBody>
      </p:sp>
      <p:sp>
        <p:nvSpPr>
          <p:cNvPr id="29" name="TextBox 28"/>
          <p:cNvSpPr txBox="1"/>
          <p:nvPr/>
        </p:nvSpPr>
        <p:spPr>
          <a:xfrm>
            <a:off x="6438900" y="3886200"/>
            <a:ext cx="4876800" cy="381000"/>
          </a:xfrm>
          <a:prstGeom prst="rect">
            <a:avLst/>
          </a:prstGeom>
          <a:noFill/>
        </p:spPr>
        <p:txBody>
          <a:bodyPr wrap="square" lIns="0" rIns="0" tIns="0" bIns="0" anchor="t">
            <a:spAutoFit/>
          </a:bodyPr>
          <a:lstStyle/>
          <a:p>
            <a:pPr algn="l">
              <a:lnSpc>
                <a:spcPct val="150000"/>
              </a:lnSpc>
            </a:pPr>
            <a:r>
              <a:rPr sz="1500" b="0">
                <a:solidFill>
                  <a:srgbClr val="1A1A1A"/>
                </a:solidFill>
                <a:latin typeface="Noto Sans JP"/>
                <a:ea typeface="Noto Sans JP"/>
                <a:cs typeface="Noto Sans JP"/>
              </a:rPr>
              <a:t>実行コマンドと結果、必要なら画面</a:t>
            </a:r>
          </a:p>
        </p:txBody>
      </p:sp>
      <p:sp>
        <p:nvSpPr>
          <p:cNvPr id="30" name="TextBox 29"/>
          <p:cNvSpPr txBox="1"/>
          <p:nvPr/>
        </p:nvSpPr>
        <p:spPr>
          <a:xfrm>
            <a:off x="6438900" y="4343400"/>
            <a:ext cx="4876800" cy="285750"/>
          </a:xfrm>
          <a:prstGeom prst="rect">
            <a:avLst/>
          </a:prstGeom>
          <a:noFill/>
        </p:spPr>
        <p:txBody>
          <a:bodyPr wrap="square" lIns="0" rIns="0" tIns="0" bIns="0" anchor="t">
            <a:spAutoFit/>
          </a:bodyPr>
          <a:lstStyle/>
          <a:p>
            <a:pPr algn="l">
              <a:lnSpc>
                <a:spcPct val="160000"/>
              </a:lnSpc>
            </a:pPr>
            <a:r>
              <a:rPr sz="1350" b="1">
                <a:solidFill>
                  <a:srgbClr val="00118F"/>
                </a:solidFill>
                <a:latin typeface="Noto Sans JP"/>
                <a:ea typeface="Noto Sans JP"/>
                <a:cs typeface="Noto Sans JP"/>
              </a:rPr>
              <a:t>未検証・影響</a:t>
            </a:r>
          </a:p>
        </p:txBody>
      </p:sp>
      <p:sp>
        <p:nvSpPr>
          <p:cNvPr id="31" name="TextBox 30"/>
          <p:cNvSpPr txBox="1"/>
          <p:nvPr/>
        </p:nvSpPr>
        <p:spPr>
          <a:xfrm>
            <a:off x="6438900" y="4648200"/>
            <a:ext cx="4876800" cy="381000"/>
          </a:xfrm>
          <a:prstGeom prst="rect">
            <a:avLst/>
          </a:prstGeom>
          <a:noFill/>
        </p:spPr>
        <p:txBody>
          <a:bodyPr wrap="square" lIns="0" rIns="0" tIns="0" bIns="0" anchor="t">
            <a:spAutoFit/>
          </a:bodyPr>
          <a:lstStyle/>
          <a:p>
            <a:pPr algn="l">
              <a:lnSpc>
                <a:spcPct val="150000"/>
              </a:lnSpc>
            </a:pPr>
            <a:r>
              <a:rPr sz="1500" b="0">
                <a:solidFill>
                  <a:srgbClr val="1A1A1A"/>
                </a:solidFill>
                <a:latin typeface="Noto Sans JP"/>
                <a:ea typeface="Noto Sans JP"/>
                <a:cs typeface="Noto Sans JP"/>
              </a:rPr>
              <a:t>確認できていない範囲と利用者への影響</a:t>
            </a:r>
          </a:p>
        </p:txBody>
      </p:sp>
      <p:sp>
        <p:nvSpPr>
          <p:cNvPr id="32" name="TextBox 31"/>
          <p:cNvSpPr txBox="1"/>
          <p:nvPr/>
        </p:nvSpPr>
        <p:spPr>
          <a:xfrm>
            <a:off x="6438900" y="5105400"/>
            <a:ext cx="4876800" cy="285750"/>
          </a:xfrm>
          <a:prstGeom prst="rect">
            <a:avLst/>
          </a:prstGeom>
          <a:noFill/>
        </p:spPr>
        <p:txBody>
          <a:bodyPr wrap="square" lIns="0" rIns="0" tIns="0" bIns="0" anchor="t">
            <a:spAutoFit/>
          </a:bodyPr>
          <a:lstStyle/>
          <a:p>
            <a:pPr algn="l">
              <a:lnSpc>
                <a:spcPct val="160000"/>
              </a:lnSpc>
            </a:pPr>
            <a:r>
              <a:rPr sz="1350" b="1">
                <a:solidFill>
                  <a:srgbClr val="00118F"/>
                </a:solidFill>
                <a:latin typeface="Noto Sans JP"/>
                <a:ea typeface="Noto Sans JP"/>
                <a:cs typeface="Noto Sans JP"/>
              </a:rPr>
              <a:t>戻し方</a:t>
            </a:r>
          </a:p>
        </p:txBody>
      </p:sp>
      <p:sp>
        <p:nvSpPr>
          <p:cNvPr id="33" name="TextBox 32"/>
          <p:cNvSpPr txBox="1"/>
          <p:nvPr/>
        </p:nvSpPr>
        <p:spPr>
          <a:xfrm>
            <a:off x="6438900" y="5410200"/>
            <a:ext cx="4876800" cy="381000"/>
          </a:xfrm>
          <a:prstGeom prst="rect">
            <a:avLst/>
          </a:prstGeom>
          <a:noFill/>
        </p:spPr>
        <p:txBody>
          <a:bodyPr wrap="square" lIns="0" rIns="0" tIns="0" bIns="0" anchor="t">
            <a:spAutoFit/>
          </a:bodyPr>
          <a:lstStyle/>
          <a:p>
            <a:pPr algn="l">
              <a:lnSpc>
                <a:spcPct val="150000"/>
              </a:lnSpc>
            </a:pPr>
            <a:r>
              <a:rPr sz="1500" b="0">
                <a:solidFill>
                  <a:srgbClr val="1A1A1A"/>
                </a:solidFill>
                <a:latin typeface="Noto Sans JP"/>
                <a:ea typeface="Noto Sans JP"/>
                <a:cs typeface="Noto Sans JP"/>
              </a:rPr>
              <a:t>切り戻し手順と注意点</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609600" y="495300"/>
            <a:ext cx="57150" cy="228600"/>
          </a:xfrm>
          <a:prstGeom prst="rect">
            <a:avLst/>
          </a:prstGeom>
          <a:solidFill>
            <a:srgbClr val="0017C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62000" y="495300"/>
            <a:ext cx="9334500" cy="228600"/>
          </a:xfrm>
          <a:prstGeom prst="rect">
            <a:avLst/>
          </a:prstGeom>
          <a:noFill/>
        </p:spPr>
        <p:txBody>
          <a:bodyPr wrap="square" lIns="0" rIns="0" tIns="0" bIns="0" anchor="ctr">
            <a:spAutoFit/>
          </a:bodyPr>
          <a:lstStyle/>
          <a:p>
            <a:pPr algn="l">
              <a:lnSpc>
                <a:spcPct val="100000"/>
              </a:lnSpc>
            </a:pPr>
            <a:r>
              <a:rPr sz="1050" b="1">
                <a:solidFill>
                  <a:srgbClr val="0017C1"/>
                </a:solidFill>
                <a:latin typeface="Noto Sans JP"/>
                <a:ea typeface="Noto Sans JP"/>
                <a:cs typeface="Noto Sans JP"/>
              </a:rPr>
              <a:t>03 / つくって確かめる</a:t>
            </a:r>
          </a:p>
        </p:txBody>
      </p:sp>
      <p:sp>
        <p:nvSpPr>
          <p:cNvPr id="5" name="TextBox 4"/>
          <p:cNvSpPr txBox="1"/>
          <p:nvPr/>
        </p:nvSpPr>
        <p:spPr>
          <a:xfrm>
            <a:off x="609600" y="800100"/>
            <a:ext cx="10972800" cy="457200"/>
          </a:xfrm>
          <a:prstGeom prst="rect">
            <a:avLst/>
          </a:prstGeom>
          <a:noFill/>
        </p:spPr>
        <p:txBody>
          <a:bodyPr wrap="square" lIns="0" rIns="0" tIns="0" bIns="0" anchor="t">
            <a:spAutoFit/>
          </a:bodyPr>
          <a:lstStyle/>
          <a:p>
            <a:pPr algn="l">
              <a:lnSpc>
                <a:spcPct val="150000"/>
              </a:lnSpc>
            </a:pPr>
            <a:r>
              <a:rPr sz="2400" b="1">
                <a:solidFill>
                  <a:srgbClr val="1A1A1A"/>
                </a:solidFill>
                <a:latin typeface="Noto Sans JP"/>
                <a:ea typeface="Noto Sans JP"/>
                <a:cs typeface="Noto Sans JP"/>
              </a:rPr>
              <a:t>データと実行権限を、必要な範囲に絞る</a:t>
            </a:r>
          </a:p>
        </p:txBody>
      </p:sp>
      <p:sp>
        <p:nvSpPr>
          <p:cNvPr id="6" name="Rectangle 5"/>
          <p:cNvSpPr/>
          <p:nvPr/>
        </p:nvSpPr>
        <p:spPr>
          <a:xfrm>
            <a:off x="609600" y="1333500"/>
            <a:ext cx="10972800" cy="19050"/>
          </a:xfrm>
          <a:prstGeom prst="rect">
            <a:avLst/>
          </a:prstGeom>
          <a:solidFill>
            <a:srgbClr val="9494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09600" y="1447800"/>
            <a:ext cx="10972800" cy="304800"/>
          </a:xfrm>
          <a:prstGeom prst="rect">
            <a:avLst/>
          </a:prstGeom>
          <a:noFill/>
        </p:spPr>
        <p:txBody>
          <a:bodyPr wrap="square" lIns="0" rIns="0" tIns="0" bIns="0" anchor="t">
            <a:spAutoFit/>
          </a:bodyPr>
          <a:lstStyle/>
          <a:p>
            <a:pPr algn="l">
              <a:lnSpc>
                <a:spcPct val="160000"/>
              </a:lnSpc>
            </a:pPr>
            <a:r>
              <a:rPr sz="1350" b="0">
                <a:solidFill>
                  <a:srgbClr val="4D4D4D"/>
                </a:solidFill>
                <a:latin typeface="Noto Sans JP"/>
                <a:ea typeface="Noto Sans JP"/>
                <a:cs typeface="Noto Sans JP"/>
              </a:rPr>
              <a:t>ツールの管理設定と実行環境で制御し、重要な操作には確認を入れる。</a:t>
            </a:r>
          </a:p>
        </p:txBody>
      </p:sp>
      <p:sp>
        <p:nvSpPr>
          <p:cNvPr id="8" name="Rectangle 7"/>
          <p:cNvSpPr/>
          <p:nvPr/>
        </p:nvSpPr>
        <p:spPr>
          <a:xfrm>
            <a:off x="609600" y="6286500"/>
            <a:ext cx="10972800" cy="9525"/>
          </a:xfrm>
          <a:prstGeom prst="rect">
            <a:avLst/>
          </a:prstGeom>
          <a:solidFill>
            <a:srgbClr val="B3B3B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09600" y="6419850"/>
            <a:ext cx="4191000" cy="190500"/>
          </a:xfrm>
          <a:prstGeom prst="rect">
            <a:avLst/>
          </a:prstGeom>
          <a:noFill/>
        </p:spPr>
        <p:txBody>
          <a:bodyPr wrap="square" lIns="0" rIns="0" tIns="0" bIns="0" anchor="t">
            <a:spAutoFit/>
          </a:bodyPr>
          <a:lstStyle/>
          <a:p>
            <a:pPr algn="l">
              <a:lnSpc>
                <a:spcPct val="130000"/>
              </a:lnSpc>
            </a:pPr>
            <a:r>
              <a:rPr sz="1050" b="0">
                <a:solidFill>
                  <a:srgbClr val="767676"/>
                </a:solidFill>
                <a:latin typeface="Noto Sans JP"/>
                <a:ea typeface="Noto Sans JP"/>
                <a:cs typeface="Noto Sans JP"/>
              </a:rPr>
              <a:t>AI駆動開発ガイド</a:t>
            </a:r>
          </a:p>
        </p:txBody>
      </p:sp>
      <p:sp>
        <p:nvSpPr>
          <p:cNvPr id="10" name="TextBox 9"/>
          <p:cNvSpPr txBox="1"/>
          <p:nvPr/>
        </p:nvSpPr>
        <p:spPr>
          <a:xfrm>
            <a:off x="4953000" y="6419850"/>
            <a:ext cx="5334000" cy="190500"/>
          </a:xfrm>
          <a:prstGeom prst="rect">
            <a:avLst/>
          </a:prstGeom>
          <a:noFill/>
        </p:spPr>
        <p:txBody>
          <a:bodyPr wrap="square" lIns="0" rIns="0" tIns="0" bIns="0" anchor="t">
            <a:spAutoFit/>
          </a:bodyPr>
          <a:lstStyle/>
          <a:p>
            <a:pPr algn="r">
              <a:lnSpc>
                <a:spcPct val="130000"/>
              </a:lnSpc>
            </a:pPr>
            <a:r>
              <a:rPr sz="1050" b="0">
                <a:solidFill>
                  <a:srgbClr val="767676"/>
                </a:solidFill>
                <a:latin typeface="Noto Sans JP"/>
                <a:ea typeface="Noto Sans JP"/>
                <a:cs typeface="Noto Sans JP"/>
              </a:rPr>
              <a:t>参考 [3] [4] ｜出典は p.20</a:t>
            </a:r>
          </a:p>
        </p:txBody>
      </p:sp>
      <p:sp>
        <p:nvSpPr>
          <p:cNvPr id="11" name="TextBox 10"/>
          <p:cNvSpPr txBox="1"/>
          <p:nvPr/>
        </p:nvSpPr>
        <p:spPr>
          <a:xfrm>
            <a:off x="10668000" y="6419850"/>
            <a:ext cx="914400" cy="190500"/>
          </a:xfrm>
          <a:prstGeom prst="rect">
            <a:avLst/>
          </a:prstGeom>
          <a:noFill/>
        </p:spPr>
        <p:txBody>
          <a:bodyPr wrap="square" lIns="0" rIns="0" tIns="0" bIns="0" anchor="t">
            <a:spAutoFit/>
          </a:bodyPr>
          <a:lstStyle/>
          <a:p>
            <a:pPr algn="r">
              <a:lnSpc>
                <a:spcPct val="130000"/>
              </a:lnSpc>
            </a:pPr>
            <a:r>
              <a:rPr sz="1050" b="1">
                <a:solidFill>
                  <a:srgbClr val="767676"/>
                </a:solidFill>
                <a:latin typeface="Noto Sans JP"/>
                <a:ea typeface="Noto Sans JP"/>
                <a:cs typeface="Noto Sans JP"/>
              </a:rPr>
              <a:t>14 / 20</a:t>
            </a:r>
          </a:p>
        </p:txBody>
      </p:sp>
      <p:sp>
        <p:nvSpPr>
          <p:cNvPr id="12" name="Rectangle 11"/>
          <p:cNvSpPr/>
          <p:nvPr/>
        </p:nvSpPr>
        <p:spPr>
          <a:xfrm>
            <a:off x="609600" y="1981200"/>
            <a:ext cx="3505200" cy="3124200"/>
          </a:xfrm>
          <a:prstGeom prst="rect">
            <a:avLst/>
          </a:prstGeom>
          <a:solidFill>
            <a:srgbClr val="FFFFFF"/>
          </a:solidFill>
          <a:ln w="9525">
            <a:solidFill>
              <a:srgbClr val="94949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38200" y="2247900"/>
            <a:ext cx="3048000" cy="457200"/>
          </a:xfrm>
          <a:prstGeom prst="rect">
            <a:avLst/>
          </a:prstGeom>
          <a:noFill/>
        </p:spPr>
        <p:txBody>
          <a:bodyPr wrap="square" lIns="0" rIns="0" tIns="0" bIns="0" anchor="t">
            <a:spAutoFit/>
          </a:bodyPr>
          <a:lstStyle/>
          <a:p>
            <a:pPr algn="l">
              <a:lnSpc>
                <a:spcPct val="150000"/>
              </a:lnSpc>
            </a:pPr>
            <a:r>
              <a:rPr sz="2100" b="1">
                <a:solidFill>
                  <a:srgbClr val="0017C1"/>
                </a:solidFill>
                <a:latin typeface="Noto Sans JP"/>
                <a:ea typeface="Noto Sans JP"/>
                <a:cs typeface="Noto Sans JP"/>
              </a:rPr>
              <a:t>入力データ</a:t>
            </a:r>
          </a:p>
        </p:txBody>
      </p:sp>
      <p:sp>
        <p:nvSpPr>
          <p:cNvPr id="14" name="TextBox 13"/>
          <p:cNvSpPr txBox="1"/>
          <p:nvPr/>
        </p:nvSpPr>
        <p:spPr>
          <a:xfrm>
            <a:off x="838200" y="3009900"/>
            <a:ext cx="3048000" cy="609600"/>
          </a:xfrm>
          <a:prstGeom prst="rect">
            <a:avLst/>
          </a:prstGeom>
          <a:noFill/>
        </p:spPr>
        <p:txBody>
          <a:bodyPr wrap="square" lIns="0" rIns="0" tIns="0" bIns="0" anchor="t">
            <a:spAutoFit/>
          </a:bodyPr>
          <a:lstStyle/>
          <a:p>
            <a:pPr algn="l">
              <a:lnSpc>
                <a:spcPct val="150000"/>
              </a:lnSpc>
            </a:pPr>
            <a:r>
              <a:rPr sz="1500" b="0">
                <a:solidFill>
                  <a:srgbClr val="4D4D4D"/>
                </a:solidFill>
                <a:latin typeface="Noto Sans JP"/>
                <a:ea typeface="Noto Sans JP"/>
                <a:cs typeface="Noto Sans JP"/>
              </a:rPr>
              <a:t>承認済みの環境を使う</a:t>
            </a:r>
          </a:p>
        </p:txBody>
      </p:sp>
      <p:sp>
        <p:nvSpPr>
          <p:cNvPr id="15" name="TextBox 14"/>
          <p:cNvSpPr txBox="1"/>
          <p:nvPr/>
        </p:nvSpPr>
        <p:spPr>
          <a:xfrm>
            <a:off x="838200" y="3638550"/>
            <a:ext cx="3048000" cy="609600"/>
          </a:xfrm>
          <a:prstGeom prst="rect">
            <a:avLst/>
          </a:prstGeom>
          <a:noFill/>
        </p:spPr>
        <p:txBody>
          <a:bodyPr wrap="square" lIns="0" rIns="0" tIns="0" bIns="0" anchor="t">
            <a:spAutoFit/>
          </a:bodyPr>
          <a:lstStyle/>
          <a:p>
            <a:pPr algn="l">
              <a:lnSpc>
                <a:spcPct val="150000"/>
              </a:lnSpc>
            </a:pPr>
            <a:r>
              <a:rPr sz="1500" b="0">
                <a:solidFill>
                  <a:srgbClr val="4D4D4D"/>
                </a:solidFill>
                <a:latin typeface="Noto Sans JP"/>
                <a:ea typeface="Noto Sans JP"/>
                <a:cs typeface="Noto Sans JP"/>
              </a:rPr>
              <a:t>秘密鍵や実データを除く</a:t>
            </a:r>
          </a:p>
        </p:txBody>
      </p:sp>
      <p:sp>
        <p:nvSpPr>
          <p:cNvPr id="16" name="TextBox 15"/>
          <p:cNvSpPr txBox="1"/>
          <p:nvPr/>
        </p:nvSpPr>
        <p:spPr>
          <a:xfrm>
            <a:off x="838200" y="4267200"/>
            <a:ext cx="3048000" cy="609600"/>
          </a:xfrm>
          <a:prstGeom prst="rect">
            <a:avLst/>
          </a:prstGeom>
          <a:noFill/>
        </p:spPr>
        <p:txBody>
          <a:bodyPr wrap="square" lIns="0" rIns="0" tIns="0" bIns="0" anchor="t">
            <a:spAutoFit/>
          </a:bodyPr>
          <a:lstStyle/>
          <a:p>
            <a:pPr algn="l">
              <a:lnSpc>
                <a:spcPct val="150000"/>
              </a:lnSpc>
            </a:pPr>
            <a:r>
              <a:rPr sz="1500" b="0">
                <a:solidFill>
                  <a:srgbClr val="4D4D4D"/>
                </a:solidFill>
                <a:latin typeface="Noto Sans JP"/>
                <a:ea typeface="Noto Sans JP"/>
                <a:cs typeface="Noto Sans JP"/>
              </a:rPr>
              <a:t>保持・学習利用の設定を確認</a:t>
            </a:r>
          </a:p>
        </p:txBody>
      </p:sp>
      <p:sp>
        <p:nvSpPr>
          <p:cNvPr id="17" name="Rectangle 16"/>
          <p:cNvSpPr/>
          <p:nvPr/>
        </p:nvSpPr>
        <p:spPr>
          <a:xfrm>
            <a:off x="4343400" y="1981200"/>
            <a:ext cx="3505200" cy="3124200"/>
          </a:xfrm>
          <a:prstGeom prst="rect">
            <a:avLst/>
          </a:prstGeom>
          <a:solidFill>
            <a:srgbClr val="FFFFFF"/>
          </a:solidFill>
          <a:ln w="9525">
            <a:solidFill>
              <a:srgbClr val="94949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4572000" y="2247900"/>
            <a:ext cx="3048000" cy="457200"/>
          </a:xfrm>
          <a:prstGeom prst="rect">
            <a:avLst/>
          </a:prstGeom>
          <a:noFill/>
        </p:spPr>
        <p:txBody>
          <a:bodyPr wrap="square" lIns="0" rIns="0" tIns="0" bIns="0" anchor="t">
            <a:spAutoFit/>
          </a:bodyPr>
          <a:lstStyle/>
          <a:p>
            <a:pPr algn="l">
              <a:lnSpc>
                <a:spcPct val="150000"/>
              </a:lnSpc>
            </a:pPr>
            <a:r>
              <a:rPr sz="2100" b="1">
                <a:solidFill>
                  <a:srgbClr val="0017C1"/>
                </a:solidFill>
                <a:latin typeface="Noto Sans JP"/>
                <a:ea typeface="Noto Sans JP"/>
                <a:cs typeface="Noto Sans JP"/>
              </a:rPr>
              <a:t>実行権限</a:t>
            </a:r>
          </a:p>
        </p:txBody>
      </p:sp>
      <p:sp>
        <p:nvSpPr>
          <p:cNvPr id="19" name="TextBox 18"/>
          <p:cNvSpPr txBox="1"/>
          <p:nvPr/>
        </p:nvSpPr>
        <p:spPr>
          <a:xfrm>
            <a:off x="4572000" y="3009900"/>
            <a:ext cx="3048000" cy="609600"/>
          </a:xfrm>
          <a:prstGeom prst="rect">
            <a:avLst/>
          </a:prstGeom>
          <a:noFill/>
        </p:spPr>
        <p:txBody>
          <a:bodyPr wrap="square" lIns="0" rIns="0" tIns="0" bIns="0" anchor="t">
            <a:spAutoFit/>
          </a:bodyPr>
          <a:lstStyle/>
          <a:p>
            <a:pPr algn="l">
              <a:lnSpc>
                <a:spcPct val="150000"/>
              </a:lnSpc>
            </a:pPr>
            <a:r>
              <a:rPr sz="1500" b="0">
                <a:solidFill>
                  <a:srgbClr val="4D4D4D"/>
                </a:solidFill>
                <a:latin typeface="Noto Sans JP"/>
                <a:ea typeface="Noto Sans JP"/>
                <a:cs typeface="Noto Sans JP"/>
              </a:rPr>
              <a:t>作業範囲と接続先を絞る</a:t>
            </a:r>
          </a:p>
        </p:txBody>
      </p:sp>
      <p:sp>
        <p:nvSpPr>
          <p:cNvPr id="20" name="TextBox 19"/>
          <p:cNvSpPr txBox="1"/>
          <p:nvPr/>
        </p:nvSpPr>
        <p:spPr>
          <a:xfrm>
            <a:off x="4572000" y="3638550"/>
            <a:ext cx="3048000" cy="609600"/>
          </a:xfrm>
          <a:prstGeom prst="rect">
            <a:avLst/>
          </a:prstGeom>
          <a:noFill/>
        </p:spPr>
        <p:txBody>
          <a:bodyPr wrap="square" lIns="0" rIns="0" tIns="0" bIns="0" anchor="t">
            <a:spAutoFit/>
          </a:bodyPr>
          <a:lstStyle/>
          <a:p>
            <a:pPr algn="l">
              <a:lnSpc>
                <a:spcPct val="150000"/>
              </a:lnSpc>
            </a:pPr>
            <a:r>
              <a:rPr sz="1500" b="0">
                <a:solidFill>
                  <a:srgbClr val="4D4D4D"/>
                </a:solidFill>
                <a:latin typeface="Noto Sans JP"/>
                <a:ea typeface="Noto Sans JP"/>
                <a:cs typeface="Noto Sans JP"/>
              </a:rPr>
              <a:t>本番の認証情報を分離する</a:t>
            </a:r>
          </a:p>
        </p:txBody>
      </p:sp>
      <p:sp>
        <p:nvSpPr>
          <p:cNvPr id="21" name="TextBox 20"/>
          <p:cNvSpPr txBox="1"/>
          <p:nvPr/>
        </p:nvSpPr>
        <p:spPr>
          <a:xfrm>
            <a:off x="4572000" y="4267200"/>
            <a:ext cx="3048000" cy="609600"/>
          </a:xfrm>
          <a:prstGeom prst="rect">
            <a:avLst/>
          </a:prstGeom>
          <a:noFill/>
        </p:spPr>
        <p:txBody>
          <a:bodyPr wrap="square" lIns="0" rIns="0" tIns="0" bIns="0" anchor="t">
            <a:spAutoFit/>
          </a:bodyPr>
          <a:lstStyle/>
          <a:p>
            <a:pPr algn="l">
              <a:lnSpc>
                <a:spcPct val="150000"/>
              </a:lnSpc>
            </a:pPr>
            <a:r>
              <a:rPr sz="1500" b="0">
                <a:solidFill>
                  <a:srgbClr val="4D4D4D"/>
                </a:solidFill>
                <a:latin typeface="Noto Sans JP"/>
                <a:ea typeface="Noto Sans JP"/>
                <a:cs typeface="Noto Sans JP"/>
              </a:rPr>
              <a:t>操作と実行結果を記録する</a:t>
            </a:r>
          </a:p>
        </p:txBody>
      </p:sp>
      <p:sp>
        <p:nvSpPr>
          <p:cNvPr id="22" name="Rectangle 21"/>
          <p:cNvSpPr/>
          <p:nvPr/>
        </p:nvSpPr>
        <p:spPr>
          <a:xfrm>
            <a:off x="8077200" y="1981200"/>
            <a:ext cx="3505200" cy="3124200"/>
          </a:xfrm>
          <a:prstGeom prst="rect">
            <a:avLst/>
          </a:prstGeom>
          <a:solidFill>
            <a:srgbClr val="FFFFFF"/>
          </a:solidFill>
          <a:ln w="9525">
            <a:solidFill>
              <a:srgbClr val="94949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8305800" y="2247900"/>
            <a:ext cx="3048000" cy="457200"/>
          </a:xfrm>
          <a:prstGeom prst="rect">
            <a:avLst/>
          </a:prstGeom>
          <a:noFill/>
        </p:spPr>
        <p:txBody>
          <a:bodyPr wrap="square" lIns="0" rIns="0" tIns="0" bIns="0" anchor="t">
            <a:spAutoFit/>
          </a:bodyPr>
          <a:lstStyle/>
          <a:p>
            <a:pPr algn="l">
              <a:lnSpc>
                <a:spcPct val="150000"/>
              </a:lnSpc>
            </a:pPr>
            <a:r>
              <a:rPr sz="2100" b="1">
                <a:solidFill>
                  <a:srgbClr val="0017C1"/>
                </a:solidFill>
                <a:latin typeface="Noto Sans JP"/>
                <a:ea typeface="Noto Sans JP"/>
                <a:cs typeface="Noto Sans JP"/>
              </a:rPr>
              <a:t>外部コンテンツ</a:t>
            </a:r>
          </a:p>
        </p:txBody>
      </p:sp>
      <p:sp>
        <p:nvSpPr>
          <p:cNvPr id="24" name="TextBox 23"/>
          <p:cNvSpPr txBox="1"/>
          <p:nvPr/>
        </p:nvSpPr>
        <p:spPr>
          <a:xfrm>
            <a:off x="8305800" y="3009900"/>
            <a:ext cx="3048000" cy="609600"/>
          </a:xfrm>
          <a:prstGeom prst="rect">
            <a:avLst/>
          </a:prstGeom>
          <a:noFill/>
        </p:spPr>
        <p:txBody>
          <a:bodyPr wrap="square" lIns="0" rIns="0" tIns="0" bIns="0" anchor="t">
            <a:spAutoFit/>
          </a:bodyPr>
          <a:lstStyle/>
          <a:p>
            <a:pPr algn="l">
              <a:lnSpc>
                <a:spcPct val="150000"/>
              </a:lnSpc>
            </a:pPr>
            <a:r>
              <a:rPr sz="1500" b="0">
                <a:solidFill>
                  <a:srgbClr val="4D4D4D"/>
                </a:solidFill>
                <a:latin typeface="Noto Sans JP"/>
                <a:ea typeface="Noto Sans JP"/>
                <a:cs typeface="Noto Sans JP"/>
              </a:rPr>
              <a:t>文書やコメントを資料扱い</a:t>
            </a:r>
          </a:p>
        </p:txBody>
      </p:sp>
      <p:sp>
        <p:nvSpPr>
          <p:cNvPr id="25" name="TextBox 24"/>
          <p:cNvSpPr txBox="1"/>
          <p:nvPr/>
        </p:nvSpPr>
        <p:spPr>
          <a:xfrm>
            <a:off x="8305800" y="3638550"/>
            <a:ext cx="3048000" cy="609600"/>
          </a:xfrm>
          <a:prstGeom prst="rect">
            <a:avLst/>
          </a:prstGeom>
          <a:noFill/>
        </p:spPr>
        <p:txBody>
          <a:bodyPr wrap="square" lIns="0" rIns="0" tIns="0" bIns="0" anchor="t">
            <a:spAutoFit/>
          </a:bodyPr>
          <a:lstStyle/>
          <a:p>
            <a:pPr algn="l">
              <a:lnSpc>
                <a:spcPct val="150000"/>
              </a:lnSpc>
            </a:pPr>
            <a:r>
              <a:rPr sz="1500" b="0">
                <a:solidFill>
                  <a:srgbClr val="4D4D4D"/>
                </a:solidFill>
                <a:latin typeface="Noto Sans JP"/>
                <a:ea typeface="Noto Sans JP"/>
                <a:cs typeface="Noto Sans JP"/>
              </a:rPr>
              <a:t>混入した命令を採用しない</a:t>
            </a:r>
          </a:p>
        </p:txBody>
      </p:sp>
      <p:sp>
        <p:nvSpPr>
          <p:cNvPr id="26" name="TextBox 25"/>
          <p:cNvSpPr txBox="1"/>
          <p:nvPr/>
        </p:nvSpPr>
        <p:spPr>
          <a:xfrm>
            <a:off x="8305800" y="4267200"/>
            <a:ext cx="3048000" cy="609600"/>
          </a:xfrm>
          <a:prstGeom prst="rect">
            <a:avLst/>
          </a:prstGeom>
          <a:noFill/>
        </p:spPr>
        <p:txBody>
          <a:bodyPr wrap="square" lIns="0" rIns="0" tIns="0" bIns="0" anchor="t">
            <a:spAutoFit/>
          </a:bodyPr>
          <a:lstStyle/>
          <a:p>
            <a:pPr algn="l">
              <a:lnSpc>
                <a:spcPct val="150000"/>
              </a:lnSpc>
            </a:pPr>
            <a:r>
              <a:rPr sz="1500" b="0">
                <a:solidFill>
                  <a:srgbClr val="4D4D4D"/>
                </a:solidFill>
                <a:latin typeface="Noto Sans JP"/>
                <a:ea typeface="Noto Sans JP"/>
                <a:cs typeface="Noto Sans JP"/>
              </a:rPr>
              <a:t>要求外の外部送信を止める</a:t>
            </a:r>
          </a:p>
        </p:txBody>
      </p:sp>
      <p:sp>
        <p:nvSpPr>
          <p:cNvPr id="27" name="Rectangle 26"/>
          <p:cNvSpPr/>
          <p:nvPr/>
        </p:nvSpPr>
        <p:spPr>
          <a:xfrm>
            <a:off x="609600" y="5410200"/>
            <a:ext cx="10972800" cy="685800"/>
          </a:xfrm>
          <a:prstGeom prst="rect">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838200" y="5410200"/>
            <a:ext cx="10515600" cy="685800"/>
          </a:xfrm>
          <a:prstGeom prst="rect">
            <a:avLst/>
          </a:prstGeom>
          <a:noFill/>
        </p:spPr>
        <p:txBody>
          <a:bodyPr wrap="square" lIns="0" rIns="0" tIns="0" bIns="0" anchor="ctr">
            <a:spAutoFit/>
          </a:bodyPr>
          <a:lstStyle/>
          <a:p>
            <a:pPr algn="l">
              <a:lnSpc>
                <a:spcPct val="150000"/>
              </a:lnSpc>
            </a:pPr>
            <a:r>
              <a:rPr sz="1500" b="1">
                <a:solidFill>
                  <a:srgbClr val="00118F"/>
                </a:solidFill>
                <a:latin typeface="Noto Sans JP"/>
                <a:ea typeface="Noto Sans JP"/>
                <a:cs typeface="Noto Sans JP"/>
              </a:rPr>
              <a:t>本番変更・データ削除・外部送信は、対象と影響を示して担当者が判断する。</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609600" y="495300"/>
            <a:ext cx="57150" cy="228600"/>
          </a:xfrm>
          <a:prstGeom prst="rect">
            <a:avLst/>
          </a:prstGeom>
          <a:solidFill>
            <a:srgbClr val="0017C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62000" y="495300"/>
            <a:ext cx="9334500" cy="228600"/>
          </a:xfrm>
          <a:prstGeom prst="rect">
            <a:avLst/>
          </a:prstGeom>
          <a:noFill/>
        </p:spPr>
        <p:txBody>
          <a:bodyPr wrap="square" lIns="0" rIns="0" tIns="0" bIns="0" anchor="ctr">
            <a:spAutoFit/>
          </a:bodyPr>
          <a:lstStyle/>
          <a:p>
            <a:pPr algn="l">
              <a:lnSpc>
                <a:spcPct val="100000"/>
              </a:lnSpc>
            </a:pPr>
            <a:r>
              <a:rPr sz="1050" b="1">
                <a:solidFill>
                  <a:srgbClr val="0017C1"/>
                </a:solidFill>
                <a:latin typeface="Noto Sans JP"/>
                <a:ea typeface="Noto Sans JP"/>
                <a:cs typeface="Noto Sans JP"/>
              </a:rPr>
              <a:t>04 / チームに定着させる</a:t>
            </a:r>
          </a:p>
        </p:txBody>
      </p:sp>
      <p:sp>
        <p:nvSpPr>
          <p:cNvPr id="5" name="TextBox 4"/>
          <p:cNvSpPr txBox="1"/>
          <p:nvPr/>
        </p:nvSpPr>
        <p:spPr>
          <a:xfrm>
            <a:off x="609600" y="800100"/>
            <a:ext cx="10972800" cy="457200"/>
          </a:xfrm>
          <a:prstGeom prst="rect">
            <a:avLst/>
          </a:prstGeom>
          <a:noFill/>
        </p:spPr>
        <p:txBody>
          <a:bodyPr wrap="square" lIns="0" rIns="0" tIns="0" bIns="0" anchor="t">
            <a:spAutoFit/>
          </a:bodyPr>
          <a:lstStyle/>
          <a:p>
            <a:pPr algn="l">
              <a:lnSpc>
                <a:spcPct val="150000"/>
              </a:lnSpc>
            </a:pPr>
            <a:r>
              <a:rPr sz="2400" b="1">
                <a:solidFill>
                  <a:srgbClr val="1A1A1A"/>
                </a:solidFill>
                <a:latin typeface="Noto Sans JP"/>
                <a:ea typeface="Noto Sans JP"/>
                <a:cs typeface="Noto Sans JP"/>
              </a:rPr>
              <a:t>チームで共有するルールは、短く保つ</a:t>
            </a:r>
          </a:p>
        </p:txBody>
      </p:sp>
      <p:sp>
        <p:nvSpPr>
          <p:cNvPr id="6" name="Rectangle 5"/>
          <p:cNvSpPr/>
          <p:nvPr/>
        </p:nvSpPr>
        <p:spPr>
          <a:xfrm>
            <a:off x="609600" y="1333500"/>
            <a:ext cx="10972800" cy="19050"/>
          </a:xfrm>
          <a:prstGeom prst="rect">
            <a:avLst/>
          </a:prstGeom>
          <a:solidFill>
            <a:srgbClr val="9494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09600" y="1447800"/>
            <a:ext cx="10972800" cy="304800"/>
          </a:xfrm>
          <a:prstGeom prst="rect">
            <a:avLst/>
          </a:prstGeom>
          <a:noFill/>
        </p:spPr>
        <p:txBody>
          <a:bodyPr wrap="square" lIns="0" rIns="0" tIns="0" bIns="0" anchor="t">
            <a:spAutoFit/>
          </a:bodyPr>
          <a:lstStyle/>
          <a:p>
            <a:pPr algn="l">
              <a:lnSpc>
                <a:spcPct val="160000"/>
              </a:lnSpc>
            </a:pPr>
            <a:r>
              <a:rPr sz="1350" b="0">
                <a:solidFill>
                  <a:srgbClr val="4D4D4D"/>
                </a:solidFill>
                <a:latin typeface="Noto Sans JP"/>
                <a:ea typeface="Noto Sans JP"/>
                <a:cs typeface="Noto Sans JP"/>
              </a:rPr>
              <a:t>人が読む開発ガイドと、AIが参照する指示を、同じ運用ルールにそろえる。</a:t>
            </a:r>
          </a:p>
        </p:txBody>
      </p:sp>
      <p:sp>
        <p:nvSpPr>
          <p:cNvPr id="8" name="Rectangle 7"/>
          <p:cNvSpPr/>
          <p:nvPr/>
        </p:nvSpPr>
        <p:spPr>
          <a:xfrm>
            <a:off x="609600" y="6286500"/>
            <a:ext cx="10972800" cy="9525"/>
          </a:xfrm>
          <a:prstGeom prst="rect">
            <a:avLst/>
          </a:prstGeom>
          <a:solidFill>
            <a:srgbClr val="B3B3B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09600" y="6419850"/>
            <a:ext cx="4191000" cy="190500"/>
          </a:xfrm>
          <a:prstGeom prst="rect">
            <a:avLst/>
          </a:prstGeom>
          <a:noFill/>
        </p:spPr>
        <p:txBody>
          <a:bodyPr wrap="square" lIns="0" rIns="0" tIns="0" bIns="0" anchor="t">
            <a:spAutoFit/>
          </a:bodyPr>
          <a:lstStyle/>
          <a:p>
            <a:pPr algn="l">
              <a:lnSpc>
                <a:spcPct val="130000"/>
              </a:lnSpc>
            </a:pPr>
            <a:r>
              <a:rPr sz="1050" b="0">
                <a:solidFill>
                  <a:srgbClr val="767676"/>
                </a:solidFill>
                <a:latin typeface="Noto Sans JP"/>
                <a:ea typeface="Noto Sans JP"/>
                <a:cs typeface="Noto Sans JP"/>
              </a:rPr>
              <a:t>AI駆動開発ガイド</a:t>
            </a:r>
          </a:p>
        </p:txBody>
      </p:sp>
      <p:sp>
        <p:nvSpPr>
          <p:cNvPr id="10" name="TextBox 9"/>
          <p:cNvSpPr txBox="1"/>
          <p:nvPr/>
        </p:nvSpPr>
        <p:spPr>
          <a:xfrm>
            <a:off x="4953000" y="6419850"/>
            <a:ext cx="5334000" cy="190500"/>
          </a:xfrm>
          <a:prstGeom prst="rect">
            <a:avLst/>
          </a:prstGeom>
          <a:noFill/>
        </p:spPr>
        <p:txBody>
          <a:bodyPr wrap="square" lIns="0" rIns="0" tIns="0" bIns="0" anchor="t">
            <a:spAutoFit/>
          </a:bodyPr>
          <a:lstStyle/>
          <a:p>
            <a:pPr algn="r">
              <a:lnSpc>
                <a:spcPct val="130000"/>
              </a:lnSpc>
            </a:pPr>
            <a:r>
              <a:rPr sz="1050" b="0">
                <a:solidFill>
                  <a:srgbClr val="767676"/>
                </a:solidFill>
                <a:latin typeface="Noto Sans JP"/>
                <a:ea typeface="Noto Sans JP"/>
                <a:cs typeface="Noto Sans JP"/>
              </a:rPr>
              <a:t>参考 [1] ｜出典は p.20</a:t>
            </a:r>
          </a:p>
        </p:txBody>
      </p:sp>
      <p:sp>
        <p:nvSpPr>
          <p:cNvPr id="11" name="TextBox 10"/>
          <p:cNvSpPr txBox="1"/>
          <p:nvPr/>
        </p:nvSpPr>
        <p:spPr>
          <a:xfrm>
            <a:off x="10668000" y="6419850"/>
            <a:ext cx="914400" cy="190500"/>
          </a:xfrm>
          <a:prstGeom prst="rect">
            <a:avLst/>
          </a:prstGeom>
          <a:noFill/>
        </p:spPr>
        <p:txBody>
          <a:bodyPr wrap="square" lIns="0" rIns="0" tIns="0" bIns="0" anchor="t">
            <a:spAutoFit/>
          </a:bodyPr>
          <a:lstStyle/>
          <a:p>
            <a:pPr algn="r">
              <a:lnSpc>
                <a:spcPct val="130000"/>
              </a:lnSpc>
            </a:pPr>
            <a:r>
              <a:rPr sz="1050" b="1">
                <a:solidFill>
                  <a:srgbClr val="767676"/>
                </a:solidFill>
                <a:latin typeface="Noto Sans JP"/>
                <a:ea typeface="Noto Sans JP"/>
                <a:cs typeface="Noto Sans JP"/>
              </a:rPr>
              <a:t>15 / 20</a:t>
            </a:r>
          </a:p>
        </p:txBody>
      </p:sp>
      <p:sp>
        <p:nvSpPr>
          <p:cNvPr id="12" name="Rectangle 11"/>
          <p:cNvSpPr/>
          <p:nvPr/>
        </p:nvSpPr>
        <p:spPr>
          <a:xfrm>
            <a:off x="609600" y="1943100"/>
            <a:ext cx="10972800" cy="457200"/>
          </a:xfrm>
          <a:prstGeom prst="rect">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762000" y="1943100"/>
            <a:ext cx="2133600" cy="457200"/>
          </a:xfrm>
          <a:prstGeom prst="rect">
            <a:avLst/>
          </a:prstGeom>
          <a:noFill/>
        </p:spPr>
        <p:txBody>
          <a:bodyPr wrap="square" lIns="0" rIns="0" tIns="0" bIns="0" anchor="ctr">
            <a:spAutoFit/>
          </a:bodyPr>
          <a:lstStyle/>
          <a:p>
            <a:pPr algn="l">
              <a:lnSpc>
                <a:spcPct val="160000"/>
              </a:lnSpc>
            </a:pPr>
            <a:r>
              <a:rPr sz="1350" b="1">
                <a:solidFill>
                  <a:srgbClr val="0017C1"/>
                </a:solidFill>
                <a:latin typeface="Noto Sans JP"/>
                <a:ea typeface="Noto Sans JP"/>
                <a:cs typeface="Noto Sans JP"/>
              </a:rPr>
              <a:t>決めること</a:t>
            </a:r>
          </a:p>
        </p:txBody>
      </p:sp>
      <p:sp>
        <p:nvSpPr>
          <p:cNvPr id="14" name="TextBox 13"/>
          <p:cNvSpPr txBox="1"/>
          <p:nvPr/>
        </p:nvSpPr>
        <p:spPr>
          <a:xfrm>
            <a:off x="3200400" y="1943100"/>
            <a:ext cx="5486400" cy="457200"/>
          </a:xfrm>
          <a:prstGeom prst="rect">
            <a:avLst/>
          </a:prstGeom>
          <a:noFill/>
        </p:spPr>
        <p:txBody>
          <a:bodyPr wrap="square" lIns="0" rIns="0" tIns="0" bIns="0" anchor="ctr">
            <a:spAutoFit/>
          </a:bodyPr>
          <a:lstStyle/>
          <a:p>
            <a:pPr algn="l">
              <a:lnSpc>
                <a:spcPct val="160000"/>
              </a:lnSpc>
            </a:pPr>
            <a:r>
              <a:rPr sz="1350" b="1">
                <a:solidFill>
                  <a:srgbClr val="0017C1"/>
                </a:solidFill>
                <a:latin typeface="Noto Sans JP"/>
                <a:ea typeface="Noto Sans JP"/>
                <a:cs typeface="Noto Sans JP"/>
              </a:rPr>
              <a:t>最低限そろえる内容</a:t>
            </a:r>
          </a:p>
        </p:txBody>
      </p:sp>
      <p:sp>
        <p:nvSpPr>
          <p:cNvPr id="15" name="TextBox 14"/>
          <p:cNvSpPr txBox="1"/>
          <p:nvPr/>
        </p:nvSpPr>
        <p:spPr>
          <a:xfrm>
            <a:off x="8991600" y="1943100"/>
            <a:ext cx="2438400" cy="457200"/>
          </a:xfrm>
          <a:prstGeom prst="rect">
            <a:avLst/>
          </a:prstGeom>
          <a:noFill/>
        </p:spPr>
        <p:txBody>
          <a:bodyPr wrap="square" lIns="0" rIns="0" tIns="0" bIns="0" anchor="ctr">
            <a:spAutoFit/>
          </a:bodyPr>
          <a:lstStyle/>
          <a:p>
            <a:pPr algn="l">
              <a:lnSpc>
                <a:spcPct val="160000"/>
              </a:lnSpc>
            </a:pPr>
            <a:r>
              <a:rPr sz="1350" b="1">
                <a:solidFill>
                  <a:srgbClr val="0017C1"/>
                </a:solidFill>
                <a:latin typeface="Noto Sans JP"/>
                <a:ea typeface="Noto Sans JP"/>
                <a:cs typeface="Noto Sans JP"/>
              </a:rPr>
              <a:t>主な管理者の例</a:t>
            </a:r>
          </a:p>
        </p:txBody>
      </p:sp>
      <p:sp>
        <p:nvSpPr>
          <p:cNvPr id="16" name="Rectangle 15"/>
          <p:cNvSpPr/>
          <p:nvPr/>
        </p:nvSpPr>
        <p:spPr>
          <a:xfrm>
            <a:off x="609600" y="2400300"/>
            <a:ext cx="10972800" cy="19050"/>
          </a:xfrm>
          <a:prstGeom prst="rect">
            <a:avLst/>
          </a:prstGeom>
          <a:solidFill>
            <a:srgbClr val="0017C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762000" y="2457450"/>
            <a:ext cx="2133600" cy="590550"/>
          </a:xfrm>
          <a:prstGeom prst="rect">
            <a:avLst/>
          </a:prstGeom>
          <a:noFill/>
        </p:spPr>
        <p:txBody>
          <a:bodyPr wrap="square" lIns="0" rIns="0" tIns="0" bIns="0" anchor="ctr">
            <a:spAutoFit/>
          </a:bodyPr>
          <a:lstStyle/>
          <a:p>
            <a:pPr algn="l">
              <a:lnSpc>
                <a:spcPct val="150000"/>
              </a:lnSpc>
            </a:pPr>
            <a:r>
              <a:rPr sz="1500" b="1">
                <a:solidFill>
                  <a:srgbClr val="1A1A1A"/>
                </a:solidFill>
                <a:latin typeface="Noto Sans JP"/>
                <a:ea typeface="Noto Sans JP"/>
                <a:cs typeface="Noto Sans JP"/>
              </a:rPr>
              <a:t>利用範囲</a:t>
            </a:r>
          </a:p>
        </p:txBody>
      </p:sp>
      <p:sp>
        <p:nvSpPr>
          <p:cNvPr id="18" name="TextBox 17"/>
          <p:cNvSpPr txBox="1"/>
          <p:nvPr/>
        </p:nvSpPr>
        <p:spPr>
          <a:xfrm>
            <a:off x="3200400" y="2457450"/>
            <a:ext cx="5486400" cy="590550"/>
          </a:xfrm>
          <a:prstGeom prst="rect">
            <a:avLst/>
          </a:prstGeom>
          <a:noFill/>
        </p:spPr>
        <p:txBody>
          <a:bodyPr wrap="square" lIns="0" rIns="0" tIns="0" bIns="0" anchor="ctr">
            <a:spAutoFit/>
          </a:bodyPr>
          <a:lstStyle/>
          <a:p>
            <a:pPr algn="l">
              <a:lnSpc>
                <a:spcPct val="150000"/>
              </a:lnSpc>
            </a:pPr>
            <a:r>
              <a:rPr sz="1500" b="0">
                <a:solidFill>
                  <a:srgbClr val="4D4D4D"/>
                </a:solidFill>
                <a:latin typeface="Noto Sans JP"/>
                <a:ea typeface="Noto Sans JP"/>
                <a:cs typeface="Noto Sans JP"/>
              </a:rPr>
              <a:t>ツール・データ・外部接続・重要操作</a:t>
            </a:r>
          </a:p>
        </p:txBody>
      </p:sp>
      <p:sp>
        <p:nvSpPr>
          <p:cNvPr id="19" name="TextBox 18"/>
          <p:cNvSpPr txBox="1"/>
          <p:nvPr/>
        </p:nvSpPr>
        <p:spPr>
          <a:xfrm>
            <a:off x="8991600" y="2457450"/>
            <a:ext cx="2438400" cy="590550"/>
          </a:xfrm>
          <a:prstGeom prst="rect">
            <a:avLst/>
          </a:prstGeom>
          <a:noFill/>
        </p:spPr>
        <p:txBody>
          <a:bodyPr wrap="square" lIns="0" rIns="0" tIns="0" bIns="0" anchor="ctr">
            <a:spAutoFit/>
          </a:bodyPr>
          <a:lstStyle/>
          <a:p>
            <a:pPr algn="l">
              <a:lnSpc>
                <a:spcPct val="150000"/>
              </a:lnSpc>
            </a:pPr>
            <a:r>
              <a:rPr sz="1500" b="0">
                <a:solidFill>
                  <a:srgbClr val="4D4D4D"/>
                </a:solidFill>
                <a:latin typeface="Noto Sans JP"/>
                <a:ea typeface="Noto Sans JP"/>
                <a:cs typeface="Noto Sans JP"/>
              </a:rPr>
              <a:t>管理者／セキュリティ</a:t>
            </a:r>
          </a:p>
        </p:txBody>
      </p:sp>
      <p:sp>
        <p:nvSpPr>
          <p:cNvPr id="20" name="Rectangle 19"/>
          <p:cNvSpPr/>
          <p:nvPr/>
        </p:nvSpPr>
        <p:spPr>
          <a:xfrm>
            <a:off x="609600" y="3086100"/>
            <a:ext cx="10972800" cy="9525"/>
          </a:xfrm>
          <a:prstGeom prst="rect">
            <a:avLst/>
          </a:prstGeom>
          <a:solidFill>
            <a:srgbClr val="9494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762000" y="3133725"/>
            <a:ext cx="2133600" cy="590550"/>
          </a:xfrm>
          <a:prstGeom prst="rect">
            <a:avLst/>
          </a:prstGeom>
          <a:noFill/>
        </p:spPr>
        <p:txBody>
          <a:bodyPr wrap="square" lIns="0" rIns="0" tIns="0" bIns="0" anchor="ctr">
            <a:spAutoFit/>
          </a:bodyPr>
          <a:lstStyle/>
          <a:p>
            <a:pPr algn="l">
              <a:lnSpc>
                <a:spcPct val="150000"/>
              </a:lnSpc>
            </a:pPr>
            <a:r>
              <a:rPr sz="1500" b="1">
                <a:solidFill>
                  <a:srgbClr val="1A1A1A"/>
                </a:solidFill>
                <a:latin typeface="Noto Sans JP"/>
                <a:ea typeface="Noto Sans JP"/>
                <a:cs typeface="Noto Sans JP"/>
              </a:rPr>
              <a:t>開発の約束</a:t>
            </a:r>
          </a:p>
        </p:txBody>
      </p:sp>
      <p:sp>
        <p:nvSpPr>
          <p:cNvPr id="22" name="TextBox 21"/>
          <p:cNvSpPr txBox="1"/>
          <p:nvPr/>
        </p:nvSpPr>
        <p:spPr>
          <a:xfrm>
            <a:off x="3200400" y="3133725"/>
            <a:ext cx="5486400" cy="590550"/>
          </a:xfrm>
          <a:prstGeom prst="rect">
            <a:avLst/>
          </a:prstGeom>
          <a:noFill/>
        </p:spPr>
        <p:txBody>
          <a:bodyPr wrap="square" lIns="0" rIns="0" tIns="0" bIns="0" anchor="ctr">
            <a:spAutoFit/>
          </a:bodyPr>
          <a:lstStyle/>
          <a:p>
            <a:pPr algn="l">
              <a:lnSpc>
                <a:spcPct val="150000"/>
              </a:lnSpc>
            </a:pPr>
            <a:r>
              <a:rPr sz="1500" b="0">
                <a:solidFill>
                  <a:srgbClr val="4D4D4D"/>
                </a:solidFill>
                <a:latin typeface="Noto Sans JP"/>
                <a:ea typeface="Noto Sans JP"/>
                <a:cs typeface="Noto Sans JP"/>
              </a:rPr>
              <a:t>ディレクトリ・設計方針・依存の扱い</a:t>
            </a:r>
          </a:p>
        </p:txBody>
      </p:sp>
      <p:sp>
        <p:nvSpPr>
          <p:cNvPr id="23" name="TextBox 22"/>
          <p:cNvSpPr txBox="1"/>
          <p:nvPr/>
        </p:nvSpPr>
        <p:spPr>
          <a:xfrm>
            <a:off x="8991600" y="3133725"/>
            <a:ext cx="2438400" cy="590550"/>
          </a:xfrm>
          <a:prstGeom prst="rect">
            <a:avLst/>
          </a:prstGeom>
          <a:noFill/>
        </p:spPr>
        <p:txBody>
          <a:bodyPr wrap="square" lIns="0" rIns="0" tIns="0" bIns="0" anchor="ctr">
            <a:spAutoFit/>
          </a:bodyPr>
          <a:lstStyle/>
          <a:p>
            <a:pPr algn="l">
              <a:lnSpc>
                <a:spcPct val="150000"/>
              </a:lnSpc>
            </a:pPr>
            <a:r>
              <a:rPr sz="1500" b="0">
                <a:solidFill>
                  <a:srgbClr val="4D4D4D"/>
                </a:solidFill>
                <a:latin typeface="Noto Sans JP"/>
                <a:ea typeface="Noto Sans JP"/>
                <a:cs typeface="Noto Sans JP"/>
              </a:rPr>
              <a:t>テックリード</a:t>
            </a:r>
          </a:p>
        </p:txBody>
      </p:sp>
      <p:sp>
        <p:nvSpPr>
          <p:cNvPr id="24" name="Rectangle 23"/>
          <p:cNvSpPr/>
          <p:nvPr/>
        </p:nvSpPr>
        <p:spPr>
          <a:xfrm>
            <a:off x="609600" y="3762375"/>
            <a:ext cx="10972800" cy="9525"/>
          </a:xfrm>
          <a:prstGeom prst="rect">
            <a:avLst/>
          </a:prstGeom>
          <a:solidFill>
            <a:srgbClr val="9494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762000" y="3810000"/>
            <a:ext cx="2133600" cy="590550"/>
          </a:xfrm>
          <a:prstGeom prst="rect">
            <a:avLst/>
          </a:prstGeom>
          <a:noFill/>
        </p:spPr>
        <p:txBody>
          <a:bodyPr wrap="square" lIns="0" rIns="0" tIns="0" bIns="0" anchor="ctr">
            <a:spAutoFit/>
          </a:bodyPr>
          <a:lstStyle/>
          <a:p>
            <a:pPr algn="l">
              <a:lnSpc>
                <a:spcPct val="150000"/>
              </a:lnSpc>
            </a:pPr>
            <a:r>
              <a:rPr sz="1500" b="1">
                <a:solidFill>
                  <a:srgbClr val="1A1A1A"/>
                </a:solidFill>
                <a:latin typeface="Noto Sans JP"/>
                <a:ea typeface="Noto Sans JP"/>
                <a:cs typeface="Noto Sans JP"/>
              </a:rPr>
              <a:t>検証の手順</a:t>
            </a:r>
          </a:p>
        </p:txBody>
      </p:sp>
      <p:sp>
        <p:nvSpPr>
          <p:cNvPr id="26" name="TextBox 25"/>
          <p:cNvSpPr txBox="1"/>
          <p:nvPr/>
        </p:nvSpPr>
        <p:spPr>
          <a:xfrm>
            <a:off x="3200400" y="3810000"/>
            <a:ext cx="5486400" cy="590550"/>
          </a:xfrm>
          <a:prstGeom prst="rect">
            <a:avLst/>
          </a:prstGeom>
          <a:noFill/>
        </p:spPr>
        <p:txBody>
          <a:bodyPr wrap="square" lIns="0" rIns="0" tIns="0" bIns="0" anchor="ctr">
            <a:spAutoFit/>
          </a:bodyPr>
          <a:lstStyle/>
          <a:p>
            <a:pPr algn="l">
              <a:lnSpc>
                <a:spcPct val="150000"/>
              </a:lnSpc>
            </a:pPr>
            <a:r>
              <a:rPr sz="1500" b="0">
                <a:solidFill>
                  <a:srgbClr val="4D4D4D"/>
                </a:solidFill>
                <a:latin typeface="Noto Sans JP"/>
                <a:ea typeface="Noto Sans JP"/>
                <a:cs typeface="Noto Sans JP"/>
              </a:rPr>
              <a:t>セットアップ・テスト・解析コマンド</a:t>
            </a:r>
          </a:p>
        </p:txBody>
      </p:sp>
      <p:sp>
        <p:nvSpPr>
          <p:cNvPr id="27" name="TextBox 26"/>
          <p:cNvSpPr txBox="1"/>
          <p:nvPr/>
        </p:nvSpPr>
        <p:spPr>
          <a:xfrm>
            <a:off x="8991600" y="3810000"/>
            <a:ext cx="2438400" cy="590550"/>
          </a:xfrm>
          <a:prstGeom prst="rect">
            <a:avLst/>
          </a:prstGeom>
          <a:noFill/>
        </p:spPr>
        <p:txBody>
          <a:bodyPr wrap="square" lIns="0" rIns="0" tIns="0" bIns="0" anchor="ctr">
            <a:spAutoFit/>
          </a:bodyPr>
          <a:lstStyle/>
          <a:p>
            <a:pPr algn="l">
              <a:lnSpc>
                <a:spcPct val="150000"/>
              </a:lnSpc>
            </a:pPr>
            <a:r>
              <a:rPr sz="1500" b="0">
                <a:solidFill>
                  <a:srgbClr val="4D4D4D"/>
                </a:solidFill>
                <a:latin typeface="Noto Sans JP"/>
                <a:ea typeface="Noto Sans JP"/>
                <a:cs typeface="Noto Sans JP"/>
              </a:rPr>
              <a:t>開発チーム</a:t>
            </a:r>
          </a:p>
        </p:txBody>
      </p:sp>
      <p:sp>
        <p:nvSpPr>
          <p:cNvPr id="28" name="Rectangle 27"/>
          <p:cNvSpPr/>
          <p:nvPr/>
        </p:nvSpPr>
        <p:spPr>
          <a:xfrm>
            <a:off x="609600" y="4438650"/>
            <a:ext cx="10972800" cy="9525"/>
          </a:xfrm>
          <a:prstGeom prst="rect">
            <a:avLst/>
          </a:prstGeom>
          <a:solidFill>
            <a:srgbClr val="9494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762000" y="4486275"/>
            <a:ext cx="2133600" cy="590550"/>
          </a:xfrm>
          <a:prstGeom prst="rect">
            <a:avLst/>
          </a:prstGeom>
          <a:noFill/>
        </p:spPr>
        <p:txBody>
          <a:bodyPr wrap="square" lIns="0" rIns="0" tIns="0" bIns="0" anchor="ctr">
            <a:spAutoFit/>
          </a:bodyPr>
          <a:lstStyle/>
          <a:p>
            <a:pPr algn="l">
              <a:lnSpc>
                <a:spcPct val="150000"/>
              </a:lnSpc>
            </a:pPr>
            <a:r>
              <a:rPr sz="1500" b="1">
                <a:solidFill>
                  <a:srgbClr val="1A1A1A"/>
                </a:solidFill>
                <a:latin typeface="Noto Sans JP"/>
                <a:ea typeface="Noto Sans JP"/>
                <a:cs typeface="Noto Sans JP"/>
              </a:rPr>
              <a:t>完了の基準</a:t>
            </a:r>
          </a:p>
        </p:txBody>
      </p:sp>
      <p:sp>
        <p:nvSpPr>
          <p:cNvPr id="30" name="TextBox 29"/>
          <p:cNvSpPr txBox="1"/>
          <p:nvPr/>
        </p:nvSpPr>
        <p:spPr>
          <a:xfrm>
            <a:off x="3200400" y="4486275"/>
            <a:ext cx="5486400" cy="590550"/>
          </a:xfrm>
          <a:prstGeom prst="rect">
            <a:avLst/>
          </a:prstGeom>
          <a:noFill/>
        </p:spPr>
        <p:txBody>
          <a:bodyPr wrap="square" lIns="0" rIns="0" tIns="0" bIns="0" anchor="ctr">
            <a:spAutoFit/>
          </a:bodyPr>
          <a:lstStyle/>
          <a:p>
            <a:pPr algn="l">
              <a:lnSpc>
                <a:spcPct val="150000"/>
              </a:lnSpc>
            </a:pPr>
            <a:r>
              <a:rPr sz="1500" b="0">
                <a:solidFill>
                  <a:srgbClr val="4D4D4D"/>
                </a:solidFill>
                <a:latin typeface="Noto Sans JP"/>
                <a:ea typeface="Noto Sans JP"/>
                <a:cs typeface="Noto Sans JP"/>
              </a:rPr>
              <a:t>必須チェック・レビュー担当・証拠</a:t>
            </a:r>
          </a:p>
        </p:txBody>
      </p:sp>
      <p:sp>
        <p:nvSpPr>
          <p:cNvPr id="31" name="TextBox 30"/>
          <p:cNvSpPr txBox="1"/>
          <p:nvPr/>
        </p:nvSpPr>
        <p:spPr>
          <a:xfrm>
            <a:off x="8991600" y="4486275"/>
            <a:ext cx="2438400" cy="590550"/>
          </a:xfrm>
          <a:prstGeom prst="rect">
            <a:avLst/>
          </a:prstGeom>
          <a:noFill/>
        </p:spPr>
        <p:txBody>
          <a:bodyPr wrap="square" lIns="0" rIns="0" tIns="0" bIns="0" anchor="ctr">
            <a:spAutoFit/>
          </a:bodyPr>
          <a:lstStyle/>
          <a:p>
            <a:pPr algn="l">
              <a:lnSpc>
                <a:spcPct val="150000"/>
              </a:lnSpc>
            </a:pPr>
            <a:r>
              <a:rPr sz="1500" b="0">
                <a:solidFill>
                  <a:srgbClr val="4D4D4D"/>
                </a:solidFill>
                <a:latin typeface="Noto Sans JP"/>
                <a:ea typeface="Noto Sans JP"/>
                <a:cs typeface="Noto Sans JP"/>
              </a:rPr>
              <a:t>開発責任者</a:t>
            </a:r>
          </a:p>
        </p:txBody>
      </p:sp>
      <p:sp>
        <p:nvSpPr>
          <p:cNvPr id="32" name="Rectangle 31"/>
          <p:cNvSpPr/>
          <p:nvPr/>
        </p:nvSpPr>
        <p:spPr>
          <a:xfrm>
            <a:off x="609600" y="5114925"/>
            <a:ext cx="10972800" cy="9525"/>
          </a:xfrm>
          <a:prstGeom prst="rect">
            <a:avLst/>
          </a:prstGeom>
          <a:solidFill>
            <a:srgbClr val="9494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609600" y="5486400"/>
            <a:ext cx="10972800" cy="609600"/>
          </a:xfrm>
          <a:prstGeom prst="rect">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838200" y="5486400"/>
            <a:ext cx="10515600" cy="609600"/>
          </a:xfrm>
          <a:prstGeom prst="rect">
            <a:avLst/>
          </a:prstGeom>
          <a:noFill/>
        </p:spPr>
        <p:txBody>
          <a:bodyPr wrap="square" lIns="0" rIns="0" tIns="0" bIns="0" anchor="ctr">
            <a:spAutoFit/>
          </a:bodyPr>
          <a:lstStyle/>
          <a:p>
            <a:pPr algn="l">
              <a:lnSpc>
                <a:spcPct val="150000"/>
              </a:lnSpc>
            </a:pPr>
            <a:r>
              <a:rPr sz="1500" b="1">
                <a:solidFill>
                  <a:srgbClr val="00118F"/>
                </a:solidFill>
                <a:latin typeface="Noto Sans JP"/>
                <a:ea typeface="Noto Sans JP"/>
                <a:cs typeface="Noto Sans JP"/>
              </a:rPr>
              <a:t>ルールの管理者と更新タイミングを決め、コードや環境の変更に追随させる。</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609600" y="495300"/>
            <a:ext cx="57150" cy="228600"/>
          </a:xfrm>
          <a:prstGeom prst="rect">
            <a:avLst/>
          </a:prstGeom>
          <a:solidFill>
            <a:srgbClr val="0017C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62000" y="495300"/>
            <a:ext cx="9334500" cy="228600"/>
          </a:xfrm>
          <a:prstGeom prst="rect">
            <a:avLst/>
          </a:prstGeom>
          <a:noFill/>
        </p:spPr>
        <p:txBody>
          <a:bodyPr wrap="square" lIns="0" rIns="0" tIns="0" bIns="0" anchor="ctr">
            <a:spAutoFit/>
          </a:bodyPr>
          <a:lstStyle/>
          <a:p>
            <a:pPr algn="l">
              <a:lnSpc>
                <a:spcPct val="100000"/>
              </a:lnSpc>
            </a:pPr>
            <a:r>
              <a:rPr sz="1050" b="1">
                <a:solidFill>
                  <a:srgbClr val="0017C1"/>
                </a:solidFill>
                <a:latin typeface="Noto Sans JP"/>
                <a:ea typeface="Noto Sans JP"/>
                <a:cs typeface="Noto Sans JP"/>
              </a:rPr>
              <a:t>04 / チームに定着させる</a:t>
            </a:r>
          </a:p>
        </p:txBody>
      </p:sp>
      <p:sp>
        <p:nvSpPr>
          <p:cNvPr id="5" name="TextBox 4"/>
          <p:cNvSpPr txBox="1"/>
          <p:nvPr/>
        </p:nvSpPr>
        <p:spPr>
          <a:xfrm>
            <a:off x="609600" y="800100"/>
            <a:ext cx="10972800" cy="457200"/>
          </a:xfrm>
          <a:prstGeom prst="rect">
            <a:avLst/>
          </a:prstGeom>
          <a:noFill/>
        </p:spPr>
        <p:txBody>
          <a:bodyPr wrap="square" lIns="0" rIns="0" tIns="0" bIns="0" anchor="t">
            <a:spAutoFit/>
          </a:bodyPr>
          <a:lstStyle/>
          <a:p>
            <a:pPr algn="l">
              <a:lnSpc>
                <a:spcPct val="150000"/>
              </a:lnSpc>
            </a:pPr>
            <a:r>
              <a:rPr sz="2400" b="1">
                <a:solidFill>
                  <a:srgbClr val="1A1A1A"/>
                </a:solidFill>
                <a:latin typeface="Noto Sans JP"/>
                <a:ea typeface="Noto Sans JP"/>
                <a:cs typeface="Noto Sans JP"/>
              </a:rPr>
              <a:t>よくある失敗は、作業の進め方から直す</a:t>
            </a:r>
          </a:p>
        </p:txBody>
      </p:sp>
      <p:sp>
        <p:nvSpPr>
          <p:cNvPr id="6" name="Rectangle 5"/>
          <p:cNvSpPr/>
          <p:nvPr/>
        </p:nvSpPr>
        <p:spPr>
          <a:xfrm>
            <a:off x="609600" y="1333500"/>
            <a:ext cx="10972800" cy="19050"/>
          </a:xfrm>
          <a:prstGeom prst="rect">
            <a:avLst/>
          </a:prstGeom>
          <a:solidFill>
            <a:srgbClr val="9494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09600" y="1447800"/>
            <a:ext cx="10972800" cy="304800"/>
          </a:xfrm>
          <a:prstGeom prst="rect">
            <a:avLst/>
          </a:prstGeom>
          <a:noFill/>
        </p:spPr>
        <p:txBody>
          <a:bodyPr wrap="square" lIns="0" rIns="0" tIns="0" bIns="0" anchor="t">
            <a:spAutoFit/>
          </a:bodyPr>
          <a:lstStyle/>
          <a:p>
            <a:pPr algn="l">
              <a:lnSpc>
                <a:spcPct val="160000"/>
              </a:lnSpc>
            </a:pPr>
            <a:r>
              <a:rPr sz="1350" b="0">
                <a:solidFill>
                  <a:srgbClr val="4D4D4D"/>
                </a:solidFill>
                <a:latin typeface="Noto Sans JP"/>
                <a:ea typeface="Noto Sans JP"/>
                <a:cs typeface="Noto Sans JP"/>
              </a:rPr>
              <a:t>出力だけを直し続けず、仕様・情報・検証・分割のどこに原因があるかを見る。</a:t>
            </a:r>
          </a:p>
        </p:txBody>
      </p:sp>
      <p:sp>
        <p:nvSpPr>
          <p:cNvPr id="8" name="Rectangle 7"/>
          <p:cNvSpPr/>
          <p:nvPr/>
        </p:nvSpPr>
        <p:spPr>
          <a:xfrm>
            <a:off x="609600" y="6286500"/>
            <a:ext cx="10972800" cy="9525"/>
          </a:xfrm>
          <a:prstGeom prst="rect">
            <a:avLst/>
          </a:prstGeom>
          <a:solidFill>
            <a:srgbClr val="B3B3B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09600" y="6419850"/>
            <a:ext cx="4191000" cy="190500"/>
          </a:xfrm>
          <a:prstGeom prst="rect">
            <a:avLst/>
          </a:prstGeom>
          <a:noFill/>
        </p:spPr>
        <p:txBody>
          <a:bodyPr wrap="square" lIns="0" rIns="0" tIns="0" bIns="0" anchor="t">
            <a:spAutoFit/>
          </a:bodyPr>
          <a:lstStyle/>
          <a:p>
            <a:pPr algn="l">
              <a:lnSpc>
                <a:spcPct val="130000"/>
              </a:lnSpc>
            </a:pPr>
            <a:r>
              <a:rPr sz="1050" b="0">
                <a:solidFill>
                  <a:srgbClr val="767676"/>
                </a:solidFill>
                <a:latin typeface="Noto Sans JP"/>
                <a:ea typeface="Noto Sans JP"/>
                <a:cs typeface="Noto Sans JP"/>
              </a:rPr>
              <a:t>AI駆動開発ガイド</a:t>
            </a:r>
          </a:p>
        </p:txBody>
      </p:sp>
      <p:sp>
        <p:nvSpPr>
          <p:cNvPr id="10" name="TextBox 9"/>
          <p:cNvSpPr txBox="1"/>
          <p:nvPr/>
        </p:nvSpPr>
        <p:spPr>
          <a:xfrm>
            <a:off x="10668000" y="6419850"/>
            <a:ext cx="914400" cy="190500"/>
          </a:xfrm>
          <a:prstGeom prst="rect">
            <a:avLst/>
          </a:prstGeom>
          <a:noFill/>
        </p:spPr>
        <p:txBody>
          <a:bodyPr wrap="square" lIns="0" rIns="0" tIns="0" bIns="0" anchor="t">
            <a:spAutoFit/>
          </a:bodyPr>
          <a:lstStyle/>
          <a:p>
            <a:pPr algn="r">
              <a:lnSpc>
                <a:spcPct val="130000"/>
              </a:lnSpc>
            </a:pPr>
            <a:r>
              <a:rPr sz="1050" b="1">
                <a:solidFill>
                  <a:srgbClr val="767676"/>
                </a:solidFill>
                <a:latin typeface="Noto Sans JP"/>
                <a:ea typeface="Noto Sans JP"/>
                <a:cs typeface="Noto Sans JP"/>
              </a:rPr>
              <a:t>16 / 20</a:t>
            </a:r>
          </a:p>
        </p:txBody>
      </p:sp>
      <p:sp>
        <p:nvSpPr>
          <p:cNvPr id="11" name="Rectangle 10"/>
          <p:cNvSpPr/>
          <p:nvPr/>
        </p:nvSpPr>
        <p:spPr>
          <a:xfrm>
            <a:off x="609600" y="1943100"/>
            <a:ext cx="10972800" cy="457200"/>
          </a:xfrm>
          <a:prstGeom prst="rect">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762000" y="1943100"/>
            <a:ext cx="3124200" cy="457200"/>
          </a:xfrm>
          <a:prstGeom prst="rect">
            <a:avLst/>
          </a:prstGeom>
          <a:noFill/>
        </p:spPr>
        <p:txBody>
          <a:bodyPr wrap="square" lIns="0" rIns="0" tIns="0" bIns="0" anchor="ctr">
            <a:spAutoFit/>
          </a:bodyPr>
          <a:lstStyle/>
          <a:p>
            <a:pPr algn="l">
              <a:lnSpc>
                <a:spcPct val="160000"/>
              </a:lnSpc>
            </a:pPr>
            <a:r>
              <a:rPr sz="1350" b="1">
                <a:solidFill>
                  <a:srgbClr val="0017C1"/>
                </a:solidFill>
                <a:latin typeface="Noto Sans JP"/>
                <a:ea typeface="Noto Sans JP"/>
                <a:cs typeface="Noto Sans JP"/>
              </a:rPr>
              <a:t>起きがちなこと</a:t>
            </a:r>
          </a:p>
        </p:txBody>
      </p:sp>
      <p:sp>
        <p:nvSpPr>
          <p:cNvPr id="13" name="TextBox 12"/>
          <p:cNvSpPr txBox="1"/>
          <p:nvPr/>
        </p:nvSpPr>
        <p:spPr>
          <a:xfrm>
            <a:off x="4191000" y="1943100"/>
            <a:ext cx="2895600" cy="457200"/>
          </a:xfrm>
          <a:prstGeom prst="rect">
            <a:avLst/>
          </a:prstGeom>
          <a:noFill/>
        </p:spPr>
        <p:txBody>
          <a:bodyPr wrap="square" lIns="0" rIns="0" tIns="0" bIns="0" anchor="ctr">
            <a:spAutoFit/>
          </a:bodyPr>
          <a:lstStyle/>
          <a:p>
            <a:pPr algn="l">
              <a:lnSpc>
                <a:spcPct val="160000"/>
              </a:lnSpc>
            </a:pPr>
            <a:r>
              <a:rPr sz="1350" b="1">
                <a:solidFill>
                  <a:srgbClr val="0017C1"/>
                </a:solidFill>
                <a:latin typeface="Noto Sans JP"/>
                <a:ea typeface="Noto Sans JP"/>
                <a:cs typeface="Noto Sans JP"/>
              </a:rPr>
              <a:t>考えられる原因</a:t>
            </a:r>
          </a:p>
        </p:txBody>
      </p:sp>
      <p:sp>
        <p:nvSpPr>
          <p:cNvPr id="14" name="TextBox 13"/>
          <p:cNvSpPr txBox="1"/>
          <p:nvPr/>
        </p:nvSpPr>
        <p:spPr>
          <a:xfrm>
            <a:off x="7391400" y="1943100"/>
            <a:ext cx="4038600" cy="457200"/>
          </a:xfrm>
          <a:prstGeom prst="rect">
            <a:avLst/>
          </a:prstGeom>
          <a:noFill/>
        </p:spPr>
        <p:txBody>
          <a:bodyPr wrap="square" lIns="0" rIns="0" tIns="0" bIns="0" anchor="ctr">
            <a:spAutoFit/>
          </a:bodyPr>
          <a:lstStyle/>
          <a:p>
            <a:pPr algn="l">
              <a:lnSpc>
                <a:spcPct val="160000"/>
              </a:lnSpc>
            </a:pPr>
            <a:r>
              <a:rPr sz="1350" b="1">
                <a:solidFill>
                  <a:srgbClr val="0017C1"/>
                </a:solidFill>
                <a:latin typeface="Noto Sans JP"/>
                <a:ea typeface="Noto Sans JP"/>
                <a:cs typeface="Noto Sans JP"/>
              </a:rPr>
              <a:t>次に変える行動</a:t>
            </a:r>
          </a:p>
        </p:txBody>
      </p:sp>
      <p:sp>
        <p:nvSpPr>
          <p:cNvPr id="15" name="Rectangle 14"/>
          <p:cNvSpPr/>
          <p:nvPr/>
        </p:nvSpPr>
        <p:spPr>
          <a:xfrm>
            <a:off x="609600" y="2400300"/>
            <a:ext cx="10972800" cy="19050"/>
          </a:xfrm>
          <a:prstGeom prst="rect">
            <a:avLst/>
          </a:prstGeom>
          <a:solidFill>
            <a:srgbClr val="0017C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762000" y="2457450"/>
            <a:ext cx="3124200" cy="590550"/>
          </a:xfrm>
          <a:prstGeom prst="rect">
            <a:avLst/>
          </a:prstGeom>
          <a:noFill/>
        </p:spPr>
        <p:txBody>
          <a:bodyPr wrap="square" lIns="0" rIns="0" tIns="0" bIns="0" anchor="ctr">
            <a:spAutoFit/>
          </a:bodyPr>
          <a:lstStyle/>
          <a:p>
            <a:pPr algn="l">
              <a:lnSpc>
                <a:spcPct val="150000"/>
              </a:lnSpc>
            </a:pPr>
            <a:r>
              <a:rPr sz="1500" b="1">
                <a:solidFill>
                  <a:srgbClr val="1A1A1A"/>
                </a:solidFill>
                <a:latin typeface="Noto Sans JP"/>
                <a:ea typeface="Noto Sans JP"/>
                <a:cs typeface="Noto Sans JP"/>
              </a:rPr>
              <a:t>生成のたびに方針が変わる</a:t>
            </a:r>
          </a:p>
        </p:txBody>
      </p:sp>
      <p:sp>
        <p:nvSpPr>
          <p:cNvPr id="17" name="TextBox 16"/>
          <p:cNvSpPr txBox="1"/>
          <p:nvPr/>
        </p:nvSpPr>
        <p:spPr>
          <a:xfrm>
            <a:off x="4191000" y="2457450"/>
            <a:ext cx="2895600" cy="590550"/>
          </a:xfrm>
          <a:prstGeom prst="rect">
            <a:avLst/>
          </a:prstGeom>
          <a:noFill/>
        </p:spPr>
        <p:txBody>
          <a:bodyPr wrap="square" lIns="0" rIns="0" tIns="0" bIns="0" anchor="ctr">
            <a:spAutoFit/>
          </a:bodyPr>
          <a:lstStyle/>
          <a:p>
            <a:pPr algn="l">
              <a:lnSpc>
                <a:spcPct val="150000"/>
              </a:lnSpc>
            </a:pPr>
            <a:r>
              <a:rPr sz="1500" b="0">
                <a:solidFill>
                  <a:srgbClr val="4D4D4D"/>
                </a:solidFill>
                <a:latin typeface="Noto Sans JP"/>
                <a:ea typeface="Noto Sans JP"/>
                <a:cs typeface="Noto Sans JP"/>
              </a:rPr>
              <a:t>仕様・判断が未確定</a:t>
            </a:r>
          </a:p>
        </p:txBody>
      </p:sp>
      <p:sp>
        <p:nvSpPr>
          <p:cNvPr id="18" name="TextBox 17"/>
          <p:cNvSpPr txBox="1"/>
          <p:nvPr/>
        </p:nvSpPr>
        <p:spPr>
          <a:xfrm>
            <a:off x="7391400" y="2457450"/>
            <a:ext cx="4038600" cy="590550"/>
          </a:xfrm>
          <a:prstGeom prst="rect">
            <a:avLst/>
          </a:prstGeom>
          <a:noFill/>
        </p:spPr>
        <p:txBody>
          <a:bodyPr wrap="square" lIns="0" rIns="0" tIns="0" bIns="0" anchor="ctr">
            <a:spAutoFit/>
          </a:bodyPr>
          <a:lstStyle/>
          <a:p>
            <a:pPr algn="l">
              <a:lnSpc>
                <a:spcPct val="150000"/>
              </a:lnSpc>
            </a:pPr>
            <a:r>
              <a:rPr sz="1500" b="0">
                <a:solidFill>
                  <a:srgbClr val="4D4D4D"/>
                </a:solidFill>
                <a:latin typeface="Noto Sans JP"/>
                <a:ea typeface="Noto Sans JP"/>
                <a:cs typeface="Noto Sans JP"/>
              </a:rPr>
              <a:t>決定事項と対象外を明記</a:t>
            </a:r>
          </a:p>
        </p:txBody>
      </p:sp>
      <p:sp>
        <p:nvSpPr>
          <p:cNvPr id="19" name="Rectangle 18"/>
          <p:cNvSpPr/>
          <p:nvPr/>
        </p:nvSpPr>
        <p:spPr>
          <a:xfrm>
            <a:off x="609600" y="3086100"/>
            <a:ext cx="10972800" cy="9525"/>
          </a:xfrm>
          <a:prstGeom prst="rect">
            <a:avLst/>
          </a:prstGeom>
          <a:solidFill>
            <a:srgbClr val="9494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762000" y="3133725"/>
            <a:ext cx="3124200" cy="590550"/>
          </a:xfrm>
          <a:prstGeom prst="rect">
            <a:avLst/>
          </a:prstGeom>
          <a:noFill/>
        </p:spPr>
        <p:txBody>
          <a:bodyPr wrap="square" lIns="0" rIns="0" tIns="0" bIns="0" anchor="ctr">
            <a:spAutoFit/>
          </a:bodyPr>
          <a:lstStyle/>
          <a:p>
            <a:pPr algn="l">
              <a:lnSpc>
                <a:spcPct val="150000"/>
              </a:lnSpc>
            </a:pPr>
            <a:r>
              <a:rPr sz="1500" b="1">
                <a:solidFill>
                  <a:srgbClr val="1A1A1A"/>
                </a:solidFill>
                <a:latin typeface="Noto Sans JP"/>
                <a:ea typeface="Noto Sans JP"/>
                <a:cs typeface="Noto Sans JP"/>
              </a:rPr>
              <a:t>大量の差分を読み切れない</a:t>
            </a:r>
          </a:p>
        </p:txBody>
      </p:sp>
      <p:sp>
        <p:nvSpPr>
          <p:cNvPr id="21" name="TextBox 20"/>
          <p:cNvSpPr txBox="1"/>
          <p:nvPr/>
        </p:nvSpPr>
        <p:spPr>
          <a:xfrm>
            <a:off x="4191000" y="3133725"/>
            <a:ext cx="2895600" cy="590550"/>
          </a:xfrm>
          <a:prstGeom prst="rect">
            <a:avLst/>
          </a:prstGeom>
          <a:noFill/>
        </p:spPr>
        <p:txBody>
          <a:bodyPr wrap="square" lIns="0" rIns="0" tIns="0" bIns="0" anchor="ctr">
            <a:spAutoFit/>
          </a:bodyPr>
          <a:lstStyle/>
          <a:p>
            <a:pPr algn="l">
              <a:lnSpc>
                <a:spcPct val="150000"/>
              </a:lnSpc>
            </a:pPr>
            <a:r>
              <a:rPr sz="1500" b="0">
                <a:solidFill>
                  <a:srgbClr val="4D4D4D"/>
                </a:solidFill>
                <a:latin typeface="Noto Sans JP"/>
                <a:ea typeface="Noto Sans JP"/>
                <a:cs typeface="Noto Sans JP"/>
              </a:rPr>
              <a:t>タスクの単位が大きい</a:t>
            </a:r>
          </a:p>
        </p:txBody>
      </p:sp>
      <p:sp>
        <p:nvSpPr>
          <p:cNvPr id="22" name="TextBox 21"/>
          <p:cNvSpPr txBox="1"/>
          <p:nvPr/>
        </p:nvSpPr>
        <p:spPr>
          <a:xfrm>
            <a:off x="7391400" y="3133725"/>
            <a:ext cx="4038600" cy="590550"/>
          </a:xfrm>
          <a:prstGeom prst="rect">
            <a:avLst/>
          </a:prstGeom>
          <a:noFill/>
        </p:spPr>
        <p:txBody>
          <a:bodyPr wrap="square" lIns="0" rIns="0" tIns="0" bIns="0" anchor="ctr">
            <a:spAutoFit/>
          </a:bodyPr>
          <a:lstStyle/>
          <a:p>
            <a:pPr algn="l">
              <a:lnSpc>
                <a:spcPct val="150000"/>
              </a:lnSpc>
            </a:pPr>
            <a:r>
              <a:rPr sz="1500" b="0">
                <a:solidFill>
                  <a:srgbClr val="4D4D4D"/>
                </a:solidFill>
                <a:latin typeface="Noto Sans JP"/>
                <a:ea typeface="Noto Sans JP"/>
                <a:cs typeface="Noto Sans JP"/>
              </a:rPr>
              <a:t>1つの目的ごとに分ける</a:t>
            </a:r>
          </a:p>
        </p:txBody>
      </p:sp>
      <p:sp>
        <p:nvSpPr>
          <p:cNvPr id="23" name="Rectangle 22"/>
          <p:cNvSpPr/>
          <p:nvPr/>
        </p:nvSpPr>
        <p:spPr>
          <a:xfrm>
            <a:off x="609600" y="3762375"/>
            <a:ext cx="10972800" cy="9525"/>
          </a:xfrm>
          <a:prstGeom prst="rect">
            <a:avLst/>
          </a:prstGeom>
          <a:solidFill>
            <a:srgbClr val="9494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762000" y="3810000"/>
            <a:ext cx="3124200" cy="590550"/>
          </a:xfrm>
          <a:prstGeom prst="rect">
            <a:avLst/>
          </a:prstGeom>
          <a:noFill/>
        </p:spPr>
        <p:txBody>
          <a:bodyPr wrap="square" lIns="0" rIns="0" tIns="0" bIns="0" anchor="ctr">
            <a:spAutoFit/>
          </a:bodyPr>
          <a:lstStyle/>
          <a:p>
            <a:pPr algn="l">
              <a:lnSpc>
                <a:spcPct val="150000"/>
              </a:lnSpc>
            </a:pPr>
            <a:r>
              <a:rPr sz="1500" b="1">
                <a:solidFill>
                  <a:srgbClr val="1A1A1A"/>
                </a:solidFill>
                <a:latin typeface="Noto Sans JP"/>
                <a:ea typeface="Noto Sans JP"/>
                <a:cs typeface="Noto Sans JP"/>
              </a:rPr>
              <a:t>成功の説明だけで完了する</a:t>
            </a:r>
          </a:p>
        </p:txBody>
      </p:sp>
      <p:sp>
        <p:nvSpPr>
          <p:cNvPr id="25" name="TextBox 24"/>
          <p:cNvSpPr txBox="1"/>
          <p:nvPr/>
        </p:nvSpPr>
        <p:spPr>
          <a:xfrm>
            <a:off x="4191000" y="3810000"/>
            <a:ext cx="2895600" cy="590550"/>
          </a:xfrm>
          <a:prstGeom prst="rect">
            <a:avLst/>
          </a:prstGeom>
          <a:noFill/>
        </p:spPr>
        <p:txBody>
          <a:bodyPr wrap="square" lIns="0" rIns="0" tIns="0" bIns="0" anchor="ctr">
            <a:spAutoFit/>
          </a:bodyPr>
          <a:lstStyle/>
          <a:p>
            <a:pPr algn="l">
              <a:lnSpc>
                <a:spcPct val="150000"/>
              </a:lnSpc>
            </a:pPr>
            <a:r>
              <a:rPr sz="1500" b="0">
                <a:solidFill>
                  <a:srgbClr val="4D4D4D"/>
                </a:solidFill>
                <a:latin typeface="Noto Sans JP"/>
                <a:ea typeface="Noto Sans JP"/>
                <a:cs typeface="Noto Sans JP"/>
              </a:rPr>
              <a:t>実行可能な確認がない</a:t>
            </a:r>
          </a:p>
        </p:txBody>
      </p:sp>
      <p:sp>
        <p:nvSpPr>
          <p:cNvPr id="26" name="TextBox 25"/>
          <p:cNvSpPr txBox="1"/>
          <p:nvPr/>
        </p:nvSpPr>
        <p:spPr>
          <a:xfrm>
            <a:off x="7391400" y="3810000"/>
            <a:ext cx="4038600" cy="590550"/>
          </a:xfrm>
          <a:prstGeom prst="rect">
            <a:avLst/>
          </a:prstGeom>
          <a:noFill/>
        </p:spPr>
        <p:txBody>
          <a:bodyPr wrap="square" lIns="0" rIns="0" tIns="0" bIns="0" anchor="ctr">
            <a:spAutoFit/>
          </a:bodyPr>
          <a:lstStyle/>
          <a:p>
            <a:pPr algn="l">
              <a:lnSpc>
                <a:spcPct val="150000"/>
              </a:lnSpc>
            </a:pPr>
            <a:r>
              <a:rPr sz="1500" b="0">
                <a:solidFill>
                  <a:srgbClr val="4D4D4D"/>
                </a:solidFill>
                <a:latin typeface="Noto Sans JP"/>
                <a:ea typeface="Noto Sans JP"/>
                <a:cs typeface="Noto Sans JP"/>
              </a:rPr>
              <a:t>実行コマンドと結果を求める</a:t>
            </a:r>
          </a:p>
        </p:txBody>
      </p:sp>
      <p:sp>
        <p:nvSpPr>
          <p:cNvPr id="27" name="Rectangle 26"/>
          <p:cNvSpPr/>
          <p:nvPr/>
        </p:nvSpPr>
        <p:spPr>
          <a:xfrm>
            <a:off x="609600" y="4438650"/>
            <a:ext cx="10972800" cy="9525"/>
          </a:xfrm>
          <a:prstGeom prst="rect">
            <a:avLst/>
          </a:prstGeom>
          <a:solidFill>
            <a:srgbClr val="9494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762000" y="4486275"/>
            <a:ext cx="3124200" cy="590550"/>
          </a:xfrm>
          <a:prstGeom prst="rect">
            <a:avLst/>
          </a:prstGeom>
          <a:noFill/>
        </p:spPr>
        <p:txBody>
          <a:bodyPr wrap="square" lIns="0" rIns="0" tIns="0" bIns="0" anchor="ctr">
            <a:spAutoFit/>
          </a:bodyPr>
          <a:lstStyle/>
          <a:p>
            <a:pPr algn="l">
              <a:lnSpc>
                <a:spcPct val="150000"/>
              </a:lnSpc>
            </a:pPr>
            <a:r>
              <a:rPr sz="1500" b="1">
                <a:solidFill>
                  <a:srgbClr val="1A1A1A"/>
                </a:solidFill>
                <a:latin typeface="Noto Sans JP"/>
                <a:ea typeface="Noto Sans JP"/>
                <a:cs typeface="Noto Sans JP"/>
              </a:rPr>
              <a:t>テストを緩めて成功させる</a:t>
            </a:r>
          </a:p>
        </p:txBody>
      </p:sp>
      <p:sp>
        <p:nvSpPr>
          <p:cNvPr id="29" name="TextBox 28"/>
          <p:cNvSpPr txBox="1"/>
          <p:nvPr/>
        </p:nvSpPr>
        <p:spPr>
          <a:xfrm>
            <a:off x="4191000" y="4486275"/>
            <a:ext cx="2895600" cy="590550"/>
          </a:xfrm>
          <a:prstGeom prst="rect">
            <a:avLst/>
          </a:prstGeom>
          <a:noFill/>
        </p:spPr>
        <p:txBody>
          <a:bodyPr wrap="square" lIns="0" rIns="0" tIns="0" bIns="0" anchor="ctr">
            <a:spAutoFit/>
          </a:bodyPr>
          <a:lstStyle/>
          <a:p>
            <a:pPr algn="l">
              <a:lnSpc>
                <a:spcPct val="150000"/>
              </a:lnSpc>
            </a:pPr>
            <a:r>
              <a:rPr sz="1500" b="0">
                <a:solidFill>
                  <a:srgbClr val="4D4D4D"/>
                </a:solidFill>
                <a:latin typeface="Noto Sans JP"/>
                <a:ea typeface="Noto Sans JP"/>
                <a:cs typeface="Noto Sans JP"/>
              </a:rPr>
              <a:t>期待値の根拠が曖昧</a:t>
            </a:r>
          </a:p>
        </p:txBody>
      </p:sp>
      <p:sp>
        <p:nvSpPr>
          <p:cNvPr id="30" name="TextBox 29"/>
          <p:cNvSpPr txBox="1"/>
          <p:nvPr/>
        </p:nvSpPr>
        <p:spPr>
          <a:xfrm>
            <a:off x="7391400" y="4486275"/>
            <a:ext cx="4038600" cy="590550"/>
          </a:xfrm>
          <a:prstGeom prst="rect">
            <a:avLst/>
          </a:prstGeom>
          <a:noFill/>
        </p:spPr>
        <p:txBody>
          <a:bodyPr wrap="square" lIns="0" rIns="0" tIns="0" bIns="0" anchor="ctr">
            <a:spAutoFit/>
          </a:bodyPr>
          <a:lstStyle/>
          <a:p>
            <a:pPr algn="l">
              <a:lnSpc>
                <a:spcPct val="150000"/>
              </a:lnSpc>
            </a:pPr>
            <a:r>
              <a:rPr sz="1500" b="0">
                <a:solidFill>
                  <a:srgbClr val="4D4D4D"/>
                </a:solidFill>
                <a:latin typeface="Noto Sans JP"/>
                <a:ea typeface="Noto Sans JP"/>
                <a:cs typeface="Noto Sans JP"/>
              </a:rPr>
              <a:t>元の仕様と再現条件に戻る</a:t>
            </a:r>
          </a:p>
        </p:txBody>
      </p:sp>
      <p:sp>
        <p:nvSpPr>
          <p:cNvPr id="31" name="Rectangle 30"/>
          <p:cNvSpPr/>
          <p:nvPr/>
        </p:nvSpPr>
        <p:spPr>
          <a:xfrm>
            <a:off x="609600" y="5114925"/>
            <a:ext cx="10972800" cy="9525"/>
          </a:xfrm>
          <a:prstGeom prst="rect">
            <a:avLst/>
          </a:prstGeom>
          <a:solidFill>
            <a:srgbClr val="9494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762000" y="5162550"/>
            <a:ext cx="3124200" cy="590550"/>
          </a:xfrm>
          <a:prstGeom prst="rect">
            <a:avLst/>
          </a:prstGeom>
          <a:noFill/>
        </p:spPr>
        <p:txBody>
          <a:bodyPr wrap="square" lIns="0" rIns="0" tIns="0" bIns="0" anchor="ctr">
            <a:spAutoFit/>
          </a:bodyPr>
          <a:lstStyle/>
          <a:p>
            <a:pPr algn="l">
              <a:lnSpc>
                <a:spcPct val="150000"/>
              </a:lnSpc>
            </a:pPr>
            <a:r>
              <a:rPr sz="1500" b="1">
                <a:solidFill>
                  <a:srgbClr val="1A1A1A"/>
                </a:solidFill>
                <a:latin typeface="Noto Sans JP"/>
                <a:ea typeface="Noto Sans JP"/>
                <a:cs typeface="Noto Sans JP"/>
              </a:rPr>
              <a:t>同じ説明を繰り返す</a:t>
            </a:r>
          </a:p>
        </p:txBody>
      </p:sp>
      <p:sp>
        <p:nvSpPr>
          <p:cNvPr id="33" name="TextBox 32"/>
          <p:cNvSpPr txBox="1"/>
          <p:nvPr/>
        </p:nvSpPr>
        <p:spPr>
          <a:xfrm>
            <a:off x="4191000" y="5162550"/>
            <a:ext cx="2895600" cy="590550"/>
          </a:xfrm>
          <a:prstGeom prst="rect">
            <a:avLst/>
          </a:prstGeom>
          <a:noFill/>
        </p:spPr>
        <p:txBody>
          <a:bodyPr wrap="square" lIns="0" rIns="0" tIns="0" bIns="0" anchor="ctr">
            <a:spAutoFit/>
          </a:bodyPr>
          <a:lstStyle/>
          <a:p>
            <a:pPr algn="l">
              <a:lnSpc>
                <a:spcPct val="150000"/>
              </a:lnSpc>
            </a:pPr>
            <a:r>
              <a:rPr sz="1500" b="0">
                <a:solidFill>
                  <a:srgbClr val="4D4D4D"/>
                </a:solidFill>
                <a:latin typeface="Noto Sans JP"/>
                <a:ea typeface="Noto Sans JP"/>
                <a:cs typeface="Noto Sans JP"/>
              </a:rPr>
              <a:t>参照情報が分散・古い</a:t>
            </a:r>
          </a:p>
        </p:txBody>
      </p:sp>
      <p:sp>
        <p:nvSpPr>
          <p:cNvPr id="34" name="TextBox 33"/>
          <p:cNvSpPr txBox="1"/>
          <p:nvPr/>
        </p:nvSpPr>
        <p:spPr>
          <a:xfrm>
            <a:off x="7391400" y="5162550"/>
            <a:ext cx="4038600" cy="590550"/>
          </a:xfrm>
          <a:prstGeom prst="rect">
            <a:avLst/>
          </a:prstGeom>
          <a:noFill/>
        </p:spPr>
        <p:txBody>
          <a:bodyPr wrap="square" lIns="0" rIns="0" tIns="0" bIns="0" anchor="ctr">
            <a:spAutoFit/>
          </a:bodyPr>
          <a:lstStyle/>
          <a:p>
            <a:pPr algn="l">
              <a:lnSpc>
                <a:spcPct val="150000"/>
              </a:lnSpc>
            </a:pPr>
            <a:r>
              <a:rPr sz="1500" b="0">
                <a:solidFill>
                  <a:srgbClr val="4D4D4D"/>
                </a:solidFill>
                <a:latin typeface="Noto Sans JP"/>
                <a:ea typeface="Noto Sans JP"/>
                <a:cs typeface="Noto Sans JP"/>
              </a:rPr>
              <a:t>短い共通ルールを更新する</a:t>
            </a:r>
          </a:p>
        </p:txBody>
      </p:sp>
      <p:sp>
        <p:nvSpPr>
          <p:cNvPr id="35" name="Rectangle 34"/>
          <p:cNvSpPr/>
          <p:nvPr/>
        </p:nvSpPr>
        <p:spPr>
          <a:xfrm>
            <a:off x="609600" y="5791200"/>
            <a:ext cx="10972800" cy="9525"/>
          </a:xfrm>
          <a:prstGeom prst="rect">
            <a:avLst/>
          </a:prstGeom>
          <a:solidFill>
            <a:srgbClr val="9494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609600" y="495300"/>
            <a:ext cx="57150" cy="228600"/>
          </a:xfrm>
          <a:prstGeom prst="rect">
            <a:avLst/>
          </a:prstGeom>
          <a:solidFill>
            <a:srgbClr val="0017C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62000" y="495300"/>
            <a:ext cx="9334500" cy="228600"/>
          </a:xfrm>
          <a:prstGeom prst="rect">
            <a:avLst/>
          </a:prstGeom>
          <a:noFill/>
        </p:spPr>
        <p:txBody>
          <a:bodyPr wrap="square" lIns="0" rIns="0" tIns="0" bIns="0" anchor="ctr">
            <a:spAutoFit/>
          </a:bodyPr>
          <a:lstStyle/>
          <a:p>
            <a:pPr algn="l">
              <a:lnSpc>
                <a:spcPct val="100000"/>
              </a:lnSpc>
            </a:pPr>
            <a:r>
              <a:rPr sz="1050" b="1">
                <a:solidFill>
                  <a:srgbClr val="0017C1"/>
                </a:solidFill>
                <a:latin typeface="Noto Sans JP"/>
                <a:ea typeface="Noto Sans JP"/>
                <a:cs typeface="Noto Sans JP"/>
              </a:rPr>
              <a:t>04 / チームに定着させる</a:t>
            </a:r>
          </a:p>
        </p:txBody>
      </p:sp>
      <p:sp>
        <p:nvSpPr>
          <p:cNvPr id="5" name="TextBox 4"/>
          <p:cNvSpPr txBox="1"/>
          <p:nvPr/>
        </p:nvSpPr>
        <p:spPr>
          <a:xfrm>
            <a:off x="609600" y="800100"/>
            <a:ext cx="10972800" cy="457200"/>
          </a:xfrm>
          <a:prstGeom prst="rect">
            <a:avLst/>
          </a:prstGeom>
          <a:noFill/>
        </p:spPr>
        <p:txBody>
          <a:bodyPr wrap="square" lIns="0" rIns="0" tIns="0" bIns="0" anchor="t">
            <a:spAutoFit/>
          </a:bodyPr>
          <a:lstStyle/>
          <a:p>
            <a:pPr algn="l">
              <a:lnSpc>
                <a:spcPct val="150000"/>
              </a:lnSpc>
            </a:pPr>
            <a:r>
              <a:rPr sz="2400" b="1">
                <a:solidFill>
                  <a:srgbClr val="1A1A1A"/>
                </a:solidFill>
                <a:latin typeface="Noto Sans JP"/>
                <a:ea typeface="Noto Sans JP"/>
                <a:cs typeface="Noto Sans JP"/>
              </a:rPr>
              <a:t>効果は、速さ・品質・負担を一緒に測る</a:t>
            </a:r>
          </a:p>
        </p:txBody>
      </p:sp>
      <p:sp>
        <p:nvSpPr>
          <p:cNvPr id="6" name="Rectangle 5"/>
          <p:cNvSpPr/>
          <p:nvPr/>
        </p:nvSpPr>
        <p:spPr>
          <a:xfrm>
            <a:off x="609600" y="1333500"/>
            <a:ext cx="10972800" cy="19050"/>
          </a:xfrm>
          <a:prstGeom prst="rect">
            <a:avLst/>
          </a:prstGeom>
          <a:solidFill>
            <a:srgbClr val="9494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09600" y="1447800"/>
            <a:ext cx="10972800" cy="304800"/>
          </a:xfrm>
          <a:prstGeom prst="rect">
            <a:avLst/>
          </a:prstGeom>
          <a:noFill/>
        </p:spPr>
        <p:txBody>
          <a:bodyPr wrap="square" lIns="0" rIns="0" tIns="0" bIns="0" anchor="t">
            <a:spAutoFit/>
          </a:bodyPr>
          <a:lstStyle/>
          <a:p>
            <a:pPr algn="l">
              <a:lnSpc>
                <a:spcPct val="160000"/>
              </a:lnSpc>
            </a:pPr>
            <a:r>
              <a:rPr sz="1350" b="0">
                <a:solidFill>
                  <a:srgbClr val="4D4D4D"/>
                </a:solidFill>
                <a:latin typeface="Noto Sans JP"/>
                <a:ea typeface="Noto Sans JP"/>
                <a:cs typeface="Noto Sans JP"/>
              </a:rPr>
              <a:t>導入前と同種の仕事を比べ、レビューと手戻りを含めた全体の変化を見る。</a:t>
            </a:r>
          </a:p>
        </p:txBody>
      </p:sp>
      <p:sp>
        <p:nvSpPr>
          <p:cNvPr id="8" name="Rectangle 7"/>
          <p:cNvSpPr/>
          <p:nvPr/>
        </p:nvSpPr>
        <p:spPr>
          <a:xfrm>
            <a:off x="609600" y="6286500"/>
            <a:ext cx="10972800" cy="9525"/>
          </a:xfrm>
          <a:prstGeom prst="rect">
            <a:avLst/>
          </a:prstGeom>
          <a:solidFill>
            <a:srgbClr val="B3B3B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09600" y="6419850"/>
            <a:ext cx="4191000" cy="190500"/>
          </a:xfrm>
          <a:prstGeom prst="rect">
            <a:avLst/>
          </a:prstGeom>
          <a:noFill/>
        </p:spPr>
        <p:txBody>
          <a:bodyPr wrap="square" lIns="0" rIns="0" tIns="0" bIns="0" anchor="t">
            <a:spAutoFit/>
          </a:bodyPr>
          <a:lstStyle/>
          <a:p>
            <a:pPr algn="l">
              <a:lnSpc>
                <a:spcPct val="130000"/>
              </a:lnSpc>
            </a:pPr>
            <a:r>
              <a:rPr sz="1050" b="0">
                <a:solidFill>
                  <a:srgbClr val="767676"/>
                </a:solidFill>
                <a:latin typeface="Noto Sans JP"/>
                <a:ea typeface="Noto Sans JP"/>
                <a:cs typeface="Noto Sans JP"/>
              </a:rPr>
              <a:t>AI駆動開発ガイド</a:t>
            </a:r>
          </a:p>
        </p:txBody>
      </p:sp>
      <p:sp>
        <p:nvSpPr>
          <p:cNvPr id="10" name="TextBox 9"/>
          <p:cNvSpPr txBox="1"/>
          <p:nvPr/>
        </p:nvSpPr>
        <p:spPr>
          <a:xfrm>
            <a:off x="4953000" y="6419850"/>
            <a:ext cx="5334000" cy="190500"/>
          </a:xfrm>
          <a:prstGeom prst="rect">
            <a:avLst/>
          </a:prstGeom>
          <a:noFill/>
        </p:spPr>
        <p:txBody>
          <a:bodyPr wrap="square" lIns="0" rIns="0" tIns="0" bIns="0" anchor="t">
            <a:spAutoFit/>
          </a:bodyPr>
          <a:lstStyle/>
          <a:p>
            <a:pPr algn="r">
              <a:lnSpc>
                <a:spcPct val="130000"/>
              </a:lnSpc>
            </a:pPr>
            <a:r>
              <a:rPr sz="1050" b="0">
                <a:solidFill>
                  <a:srgbClr val="767676"/>
                </a:solidFill>
                <a:latin typeface="Noto Sans JP"/>
                <a:ea typeface="Noto Sans JP"/>
                <a:cs typeface="Noto Sans JP"/>
              </a:rPr>
              <a:t>参考 [5] ｜出典は p.20</a:t>
            </a:r>
          </a:p>
        </p:txBody>
      </p:sp>
      <p:sp>
        <p:nvSpPr>
          <p:cNvPr id="11" name="TextBox 10"/>
          <p:cNvSpPr txBox="1"/>
          <p:nvPr/>
        </p:nvSpPr>
        <p:spPr>
          <a:xfrm>
            <a:off x="10668000" y="6419850"/>
            <a:ext cx="914400" cy="190500"/>
          </a:xfrm>
          <a:prstGeom prst="rect">
            <a:avLst/>
          </a:prstGeom>
          <a:noFill/>
        </p:spPr>
        <p:txBody>
          <a:bodyPr wrap="square" lIns="0" rIns="0" tIns="0" bIns="0" anchor="t">
            <a:spAutoFit/>
          </a:bodyPr>
          <a:lstStyle/>
          <a:p>
            <a:pPr algn="r">
              <a:lnSpc>
                <a:spcPct val="130000"/>
              </a:lnSpc>
            </a:pPr>
            <a:r>
              <a:rPr sz="1050" b="1">
                <a:solidFill>
                  <a:srgbClr val="767676"/>
                </a:solidFill>
                <a:latin typeface="Noto Sans JP"/>
                <a:ea typeface="Noto Sans JP"/>
                <a:cs typeface="Noto Sans JP"/>
              </a:rPr>
              <a:t>17 / 20</a:t>
            </a:r>
          </a:p>
        </p:txBody>
      </p:sp>
      <p:sp>
        <p:nvSpPr>
          <p:cNvPr id="12" name="Rectangle 11"/>
          <p:cNvSpPr/>
          <p:nvPr/>
        </p:nvSpPr>
        <p:spPr>
          <a:xfrm>
            <a:off x="609600" y="2057400"/>
            <a:ext cx="3505200" cy="2895600"/>
          </a:xfrm>
          <a:prstGeom prst="rect">
            <a:avLst/>
          </a:prstGeom>
          <a:solidFill>
            <a:srgbClr val="FFFFFF"/>
          </a:solidFill>
          <a:ln w="9525">
            <a:solidFill>
              <a:srgbClr val="94949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38200" y="2286000"/>
            <a:ext cx="3048000" cy="457200"/>
          </a:xfrm>
          <a:prstGeom prst="rect">
            <a:avLst/>
          </a:prstGeom>
          <a:noFill/>
        </p:spPr>
        <p:txBody>
          <a:bodyPr wrap="square" lIns="0" rIns="0" tIns="0" bIns="0" anchor="t">
            <a:spAutoFit/>
          </a:bodyPr>
          <a:lstStyle/>
          <a:p>
            <a:pPr algn="l">
              <a:lnSpc>
                <a:spcPct val="150000"/>
              </a:lnSpc>
            </a:pPr>
            <a:r>
              <a:rPr sz="2100" b="1">
                <a:solidFill>
                  <a:srgbClr val="0017C1"/>
                </a:solidFill>
                <a:latin typeface="Noto Sans JP"/>
                <a:ea typeface="Noto Sans JP"/>
                <a:cs typeface="Noto Sans JP"/>
              </a:rPr>
              <a:t>速さ</a:t>
            </a:r>
          </a:p>
        </p:txBody>
      </p:sp>
      <p:sp>
        <p:nvSpPr>
          <p:cNvPr id="14" name="TextBox 13"/>
          <p:cNvSpPr txBox="1"/>
          <p:nvPr/>
        </p:nvSpPr>
        <p:spPr>
          <a:xfrm>
            <a:off x="838200" y="3048000"/>
            <a:ext cx="3048000" cy="381000"/>
          </a:xfrm>
          <a:prstGeom prst="rect">
            <a:avLst/>
          </a:prstGeom>
          <a:noFill/>
        </p:spPr>
        <p:txBody>
          <a:bodyPr wrap="square" lIns="0" rIns="0" tIns="0" bIns="0" anchor="t">
            <a:spAutoFit/>
          </a:bodyPr>
          <a:lstStyle/>
          <a:p>
            <a:pPr algn="l">
              <a:lnSpc>
                <a:spcPct val="150000"/>
              </a:lnSpc>
            </a:pPr>
            <a:r>
              <a:rPr sz="1800" b="1">
                <a:solidFill>
                  <a:srgbClr val="1A1A1A"/>
                </a:solidFill>
                <a:latin typeface="Noto Sans JP"/>
                <a:ea typeface="Noto Sans JP"/>
                <a:cs typeface="Noto Sans JP"/>
              </a:rPr>
              <a:t>変更リードタイム</a:t>
            </a:r>
          </a:p>
        </p:txBody>
      </p:sp>
      <p:sp>
        <p:nvSpPr>
          <p:cNvPr id="15" name="TextBox 14"/>
          <p:cNvSpPr txBox="1"/>
          <p:nvPr/>
        </p:nvSpPr>
        <p:spPr>
          <a:xfrm>
            <a:off x="838200" y="3733800"/>
            <a:ext cx="3048000" cy="876300"/>
          </a:xfrm>
          <a:prstGeom prst="rect">
            <a:avLst/>
          </a:prstGeom>
          <a:noFill/>
        </p:spPr>
        <p:txBody>
          <a:bodyPr wrap="square" lIns="0" rIns="0" tIns="0" bIns="0" anchor="t">
            <a:spAutoFit/>
          </a:bodyPr>
          <a:lstStyle/>
          <a:p>
            <a:pPr algn="l">
              <a:lnSpc>
                <a:spcPct val="150000"/>
              </a:lnSpc>
            </a:pPr>
            <a:r>
              <a:rPr sz="1500" b="0">
                <a:solidFill>
                  <a:srgbClr val="4D4D4D"/>
                </a:solidFill>
                <a:latin typeface="Noto Sans JP"/>
                <a:ea typeface="Noto Sans JP"/>
                <a:cs typeface="Noto Sans JP"/>
              </a:rPr>
              <a:t>コミットから本番反映まで</a:t>
            </a:r>
          </a:p>
          <a:p>
            <a:pPr algn="l">
              <a:lnSpc>
                <a:spcPct val="150000"/>
              </a:lnSpc>
            </a:pPr>
            <a:r>
              <a:rPr sz="1500" b="0">
                <a:solidFill>
                  <a:srgbClr val="4D4D4D"/>
                </a:solidFill>
                <a:latin typeface="Noto Sans JP"/>
                <a:ea typeface="Noto Sans JP"/>
                <a:cs typeface="Noto Sans JP"/>
              </a:rPr>
              <a:t>レビュー待ち時間も記録</a:t>
            </a:r>
          </a:p>
        </p:txBody>
      </p:sp>
      <p:sp>
        <p:nvSpPr>
          <p:cNvPr id="16" name="Rectangle 15"/>
          <p:cNvSpPr/>
          <p:nvPr/>
        </p:nvSpPr>
        <p:spPr>
          <a:xfrm>
            <a:off x="4343400" y="2057400"/>
            <a:ext cx="3505200" cy="2895600"/>
          </a:xfrm>
          <a:prstGeom prst="rect">
            <a:avLst/>
          </a:prstGeom>
          <a:solidFill>
            <a:srgbClr val="FFFFFF"/>
          </a:solidFill>
          <a:ln w="9525">
            <a:solidFill>
              <a:srgbClr val="94949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4572000" y="2286000"/>
            <a:ext cx="3048000" cy="457200"/>
          </a:xfrm>
          <a:prstGeom prst="rect">
            <a:avLst/>
          </a:prstGeom>
          <a:noFill/>
        </p:spPr>
        <p:txBody>
          <a:bodyPr wrap="square" lIns="0" rIns="0" tIns="0" bIns="0" anchor="t">
            <a:spAutoFit/>
          </a:bodyPr>
          <a:lstStyle/>
          <a:p>
            <a:pPr algn="l">
              <a:lnSpc>
                <a:spcPct val="150000"/>
              </a:lnSpc>
            </a:pPr>
            <a:r>
              <a:rPr sz="2100" b="1">
                <a:solidFill>
                  <a:srgbClr val="0017C1"/>
                </a:solidFill>
                <a:latin typeface="Noto Sans JP"/>
                <a:ea typeface="Noto Sans JP"/>
                <a:cs typeface="Noto Sans JP"/>
              </a:rPr>
              <a:t>品質</a:t>
            </a:r>
          </a:p>
        </p:txBody>
      </p:sp>
      <p:sp>
        <p:nvSpPr>
          <p:cNvPr id="18" name="TextBox 17"/>
          <p:cNvSpPr txBox="1"/>
          <p:nvPr/>
        </p:nvSpPr>
        <p:spPr>
          <a:xfrm>
            <a:off x="4572000" y="3048000"/>
            <a:ext cx="3048000" cy="381000"/>
          </a:xfrm>
          <a:prstGeom prst="rect">
            <a:avLst/>
          </a:prstGeom>
          <a:noFill/>
        </p:spPr>
        <p:txBody>
          <a:bodyPr wrap="square" lIns="0" rIns="0" tIns="0" bIns="0" anchor="t">
            <a:spAutoFit/>
          </a:bodyPr>
          <a:lstStyle/>
          <a:p>
            <a:pPr algn="l">
              <a:lnSpc>
                <a:spcPct val="150000"/>
              </a:lnSpc>
            </a:pPr>
            <a:r>
              <a:rPr sz="1800" b="1">
                <a:solidFill>
                  <a:srgbClr val="1A1A1A"/>
                </a:solidFill>
                <a:latin typeface="Noto Sans JP"/>
                <a:ea typeface="Noto Sans JP"/>
                <a:cs typeface="Noto Sans JP"/>
              </a:rPr>
              <a:t>不具合・手戻り</a:t>
            </a:r>
          </a:p>
        </p:txBody>
      </p:sp>
      <p:sp>
        <p:nvSpPr>
          <p:cNvPr id="19" name="TextBox 18"/>
          <p:cNvSpPr txBox="1"/>
          <p:nvPr/>
        </p:nvSpPr>
        <p:spPr>
          <a:xfrm>
            <a:off x="4572000" y="3733800"/>
            <a:ext cx="3048000" cy="876300"/>
          </a:xfrm>
          <a:prstGeom prst="rect">
            <a:avLst/>
          </a:prstGeom>
          <a:noFill/>
        </p:spPr>
        <p:txBody>
          <a:bodyPr wrap="square" lIns="0" rIns="0" tIns="0" bIns="0" anchor="t">
            <a:spAutoFit/>
          </a:bodyPr>
          <a:lstStyle/>
          <a:p>
            <a:pPr algn="l">
              <a:lnSpc>
                <a:spcPct val="150000"/>
              </a:lnSpc>
            </a:pPr>
            <a:r>
              <a:rPr sz="1500" b="0">
                <a:solidFill>
                  <a:srgbClr val="4D4D4D"/>
                </a:solidFill>
                <a:latin typeface="Noto Sans JP"/>
                <a:ea typeface="Noto Sans JP"/>
                <a:cs typeface="Noto Sans JP"/>
              </a:rPr>
              <a:t>本番障害や差し戻しの件数</a:t>
            </a:r>
          </a:p>
          <a:p>
            <a:pPr algn="l">
              <a:lnSpc>
                <a:spcPct val="150000"/>
              </a:lnSpc>
            </a:pPr>
            <a:r>
              <a:rPr sz="1500" b="0">
                <a:solidFill>
                  <a:srgbClr val="4D4D4D"/>
                </a:solidFill>
                <a:latin typeface="Noto Sans JP"/>
                <a:ea typeface="Noto Sans JP"/>
                <a:cs typeface="Noto Sans JP"/>
              </a:rPr>
              <a:t>原因と修正工数を記録</a:t>
            </a:r>
          </a:p>
        </p:txBody>
      </p:sp>
      <p:sp>
        <p:nvSpPr>
          <p:cNvPr id="20" name="Rectangle 19"/>
          <p:cNvSpPr/>
          <p:nvPr/>
        </p:nvSpPr>
        <p:spPr>
          <a:xfrm>
            <a:off x="8077200" y="2057400"/>
            <a:ext cx="3505200" cy="2895600"/>
          </a:xfrm>
          <a:prstGeom prst="rect">
            <a:avLst/>
          </a:prstGeom>
          <a:solidFill>
            <a:srgbClr val="FFFFFF"/>
          </a:solidFill>
          <a:ln w="9525">
            <a:solidFill>
              <a:srgbClr val="94949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8305800" y="2286000"/>
            <a:ext cx="3048000" cy="457200"/>
          </a:xfrm>
          <a:prstGeom prst="rect">
            <a:avLst/>
          </a:prstGeom>
          <a:noFill/>
        </p:spPr>
        <p:txBody>
          <a:bodyPr wrap="square" lIns="0" rIns="0" tIns="0" bIns="0" anchor="t">
            <a:spAutoFit/>
          </a:bodyPr>
          <a:lstStyle/>
          <a:p>
            <a:pPr algn="l">
              <a:lnSpc>
                <a:spcPct val="150000"/>
              </a:lnSpc>
            </a:pPr>
            <a:r>
              <a:rPr sz="2100" b="1">
                <a:solidFill>
                  <a:srgbClr val="0017C1"/>
                </a:solidFill>
                <a:latin typeface="Noto Sans JP"/>
                <a:ea typeface="Noto Sans JP"/>
                <a:cs typeface="Noto Sans JP"/>
              </a:rPr>
              <a:t>負担</a:t>
            </a:r>
          </a:p>
        </p:txBody>
      </p:sp>
      <p:sp>
        <p:nvSpPr>
          <p:cNvPr id="22" name="TextBox 21"/>
          <p:cNvSpPr txBox="1"/>
          <p:nvPr/>
        </p:nvSpPr>
        <p:spPr>
          <a:xfrm>
            <a:off x="8305800" y="3048000"/>
            <a:ext cx="3048000" cy="381000"/>
          </a:xfrm>
          <a:prstGeom prst="rect">
            <a:avLst/>
          </a:prstGeom>
          <a:noFill/>
        </p:spPr>
        <p:txBody>
          <a:bodyPr wrap="square" lIns="0" rIns="0" tIns="0" bIns="0" anchor="t">
            <a:spAutoFit/>
          </a:bodyPr>
          <a:lstStyle/>
          <a:p>
            <a:pPr algn="l">
              <a:lnSpc>
                <a:spcPct val="150000"/>
              </a:lnSpc>
            </a:pPr>
            <a:r>
              <a:rPr sz="1800" b="1">
                <a:solidFill>
                  <a:srgbClr val="1A1A1A"/>
                </a:solidFill>
                <a:latin typeface="Noto Sans JP"/>
                <a:ea typeface="Noto Sans JP"/>
                <a:cs typeface="Noto Sans JP"/>
              </a:rPr>
              <a:t>確認時間・総コスト</a:t>
            </a:r>
          </a:p>
        </p:txBody>
      </p:sp>
      <p:sp>
        <p:nvSpPr>
          <p:cNvPr id="23" name="TextBox 22"/>
          <p:cNvSpPr txBox="1"/>
          <p:nvPr/>
        </p:nvSpPr>
        <p:spPr>
          <a:xfrm>
            <a:off x="8305800" y="3733800"/>
            <a:ext cx="3048000" cy="876300"/>
          </a:xfrm>
          <a:prstGeom prst="rect">
            <a:avLst/>
          </a:prstGeom>
          <a:noFill/>
        </p:spPr>
        <p:txBody>
          <a:bodyPr wrap="square" lIns="0" rIns="0" tIns="0" bIns="0" anchor="t">
            <a:spAutoFit/>
          </a:bodyPr>
          <a:lstStyle/>
          <a:p>
            <a:pPr algn="l">
              <a:lnSpc>
                <a:spcPct val="150000"/>
              </a:lnSpc>
            </a:pPr>
            <a:r>
              <a:rPr sz="1500" b="0">
                <a:solidFill>
                  <a:srgbClr val="4D4D4D"/>
                </a:solidFill>
                <a:latin typeface="Noto Sans JP"/>
                <a:ea typeface="Noto Sans JP"/>
                <a:cs typeface="Noto Sans JP"/>
              </a:rPr>
              <a:t>レビューと修正の時間</a:t>
            </a:r>
          </a:p>
          <a:p>
            <a:pPr algn="l">
              <a:lnSpc>
                <a:spcPct val="150000"/>
              </a:lnSpc>
            </a:pPr>
            <a:r>
              <a:rPr sz="1500" b="0">
                <a:solidFill>
                  <a:srgbClr val="4D4D4D"/>
                </a:solidFill>
                <a:latin typeface="Noto Sans JP"/>
                <a:ea typeface="Noto Sans JP"/>
                <a:cs typeface="Noto Sans JP"/>
              </a:rPr>
              <a:t>AI利用料と運用工数を記録</a:t>
            </a:r>
          </a:p>
        </p:txBody>
      </p:sp>
      <p:sp>
        <p:nvSpPr>
          <p:cNvPr id="24" name="Rectangle 23"/>
          <p:cNvSpPr/>
          <p:nvPr/>
        </p:nvSpPr>
        <p:spPr>
          <a:xfrm>
            <a:off x="609600" y="5257800"/>
            <a:ext cx="10972800" cy="838200"/>
          </a:xfrm>
          <a:prstGeom prst="rect">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838200" y="5372100"/>
            <a:ext cx="10515600" cy="304800"/>
          </a:xfrm>
          <a:prstGeom prst="rect">
            <a:avLst/>
          </a:prstGeom>
          <a:noFill/>
        </p:spPr>
        <p:txBody>
          <a:bodyPr wrap="square" lIns="0" rIns="0" tIns="0" bIns="0" anchor="t">
            <a:spAutoFit/>
          </a:bodyPr>
          <a:lstStyle/>
          <a:p>
            <a:pPr algn="l">
              <a:lnSpc>
                <a:spcPct val="150000"/>
              </a:lnSpc>
            </a:pPr>
            <a:r>
              <a:rPr sz="1500" b="1">
                <a:solidFill>
                  <a:srgbClr val="00118F"/>
                </a:solidFill>
                <a:latin typeface="Noto Sans JP"/>
                <a:ea typeface="Noto Sans JP"/>
                <a:cs typeface="Noto Sans JP"/>
              </a:rPr>
              <a:t>比較の条件：同じチーム・同種のタスク・同じ集計期間。</a:t>
            </a:r>
          </a:p>
        </p:txBody>
      </p:sp>
      <p:sp>
        <p:nvSpPr>
          <p:cNvPr id="26" name="TextBox 25"/>
          <p:cNvSpPr txBox="1"/>
          <p:nvPr/>
        </p:nvSpPr>
        <p:spPr>
          <a:xfrm>
            <a:off x="838200" y="5753100"/>
            <a:ext cx="10515600" cy="266700"/>
          </a:xfrm>
          <a:prstGeom prst="rect">
            <a:avLst/>
          </a:prstGeom>
          <a:noFill/>
        </p:spPr>
        <p:txBody>
          <a:bodyPr wrap="square" lIns="0" rIns="0" tIns="0" bIns="0" anchor="t">
            <a:spAutoFit/>
          </a:bodyPr>
          <a:lstStyle/>
          <a:p>
            <a:pPr algn="l">
              <a:lnSpc>
                <a:spcPct val="160000"/>
              </a:lnSpc>
            </a:pPr>
            <a:r>
              <a:rPr sz="1350" b="0">
                <a:solidFill>
                  <a:srgbClr val="00118F"/>
                </a:solidFill>
                <a:latin typeface="Noto Sans JP"/>
                <a:ea typeface="Noto Sans JP"/>
                <a:cs typeface="Noto Sans JP"/>
              </a:rPr>
              <a:t>生成行数や採用率だけで成功とせず、品質の悪化とレビュー負荷も確認する。</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609600" y="495300"/>
            <a:ext cx="57150" cy="228600"/>
          </a:xfrm>
          <a:prstGeom prst="rect">
            <a:avLst/>
          </a:prstGeom>
          <a:solidFill>
            <a:srgbClr val="0017C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62000" y="495300"/>
            <a:ext cx="9334500" cy="228600"/>
          </a:xfrm>
          <a:prstGeom prst="rect">
            <a:avLst/>
          </a:prstGeom>
          <a:noFill/>
        </p:spPr>
        <p:txBody>
          <a:bodyPr wrap="square" lIns="0" rIns="0" tIns="0" bIns="0" anchor="ctr">
            <a:spAutoFit/>
          </a:bodyPr>
          <a:lstStyle/>
          <a:p>
            <a:pPr algn="l">
              <a:lnSpc>
                <a:spcPct val="100000"/>
              </a:lnSpc>
            </a:pPr>
            <a:r>
              <a:rPr sz="1050" b="1">
                <a:solidFill>
                  <a:srgbClr val="0017C1"/>
                </a:solidFill>
                <a:latin typeface="Noto Sans JP"/>
                <a:ea typeface="Noto Sans JP"/>
                <a:cs typeface="Noto Sans JP"/>
              </a:rPr>
              <a:t>04 / チームに定着させる</a:t>
            </a:r>
          </a:p>
        </p:txBody>
      </p:sp>
      <p:sp>
        <p:nvSpPr>
          <p:cNvPr id="5" name="TextBox 4"/>
          <p:cNvSpPr txBox="1"/>
          <p:nvPr/>
        </p:nvSpPr>
        <p:spPr>
          <a:xfrm>
            <a:off x="609600" y="800100"/>
            <a:ext cx="10972800" cy="457200"/>
          </a:xfrm>
          <a:prstGeom prst="rect">
            <a:avLst/>
          </a:prstGeom>
          <a:noFill/>
        </p:spPr>
        <p:txBody>
          <a:bodyPr wrap="square" lIns="0" rIns="0" tIns="0" bIns="0" anchor="t">
            <a:spAutoFit/>
          </a:bodyPr>
          <a:lstStyle/>
          <a:p>
            <a:pPr algn="l">
              <a:lnSpc>
                <a:spcPct val="150000"/>
              </a:lnSpc>
            </a:pPr>
            <a:r>
              <a:rPr sz="2400" b="1">
                <a:solidFill>
                  <a:srgbClr val="1A1A1A"/>
                </a:solidFill>
                <a:latin typeface="Noto Sans JP"/>
                <a:ea typeface="Noto Sans JP"/>
                <a:cs typeface="Noto Sans JP"/>
              </a:rPr>
              <a:t>4週間で、小さく試して継続を判断する</a:t>
            </a:r>
          </a:p>
        </p:txBody>
      </p:sp>
      <p:sp>
        <p:nvSpPr>
          <p:cNvPr id="6" name="Rectangle 5"/>
          <p:cNvSpPr/>
          <p:nvPr/>
        </p:nvSpPr>
        <p:spPr>
          <a:xfrm>
            <a:off x="609600" y="1333500"/>
            <a:ext cx="10972800" cy="19050"/>
          </a:xfrm>
          <a:prstGeom prst="rect">
            <a:avLst/>
          </a:prstGeom>
          <a:solidFill>
            <a:srgbClr val="9494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09600" y="1447800"/>
            <a:ext cx="10972800" cy="304800"/>
          </a:xfrm>
          <a:prstGeom prst="rect">
            <a:avLst/>
          </a:prstGeom>
          <a:noFill/>
        </p:spPr>
        <p:txBody>
          <a:bodyPr wrap="square" lIns="0" rIns="0" tIns="0" bIns="0" anchor="t">
            <a:spAutoFit/>
          </a:bodyPr>
          <a:lstStyle/>
          <a:p>
            <a:pPr algn="l">
              <a:lnSpc>
                <a:spcPct val="160000"/>
              </a:lnSpc>
            </a:pPr>
            <a:r>
              <a:rPr sz="1350" b="0">
                <a:solidFill>
                  <a:srgbClr val="4D4D4D"/>
                </a:solidFill>
                <a:latin typeface="Noto Sans JP"/>
                <a:ea typeface="Noto Sans JP"/>
                <a:cs typeface="Noto Sans JP"/>
              </a:rPr>
              <a:t>導入計画の例：1チーム・1種類のタスクから始める。期間と規模は調整する。</a:t>
            </a:r>
          </a:p>
        </p:txBody>
      </p:sp>
      <p:sp>
        <p:nvSpPr>
          <p:cNvPr id="8" name="Rectangle 7"/>
          <p:cNvSpPr/>
          <p:nvPr/>
        </p:nvSpPr>
        <p:spPr>
          <a:xfrm>
            <a:off x="609600" y="6286500"/>
            <a:ext cx="10972800" cy="9525"/>
          </a:xfrm>
          <a:prstGeom prst="rect">
            <a:avLst/>
          </a:prstGeom>
          <a:solidFill>
            <a:srgbClr val="B3B3B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09600" y="6419850"/>
            <a:ext cx="4191000" cy="190500"/>
          </a:xfrm>
          <a:prstGeom prst="rect">
            <a:avLst/>
          </a:prstGeom>
          <a:noFill/>
        </p:spPr>
        <p:txBody>
          <a:bodyPr wrap="square" lIns="0" rIns="0" tIns="0" bIns="0" anchor="t">
            <a:spAutoFit/>
          </a:bodyPr>
          <a:lstStyle/>
          <a:p>
            <a:pPr algn="l">
              <a:lnSpc>
                <a:spcPct val="130000"/>
              </a:lnSpc>
            </a:pPr>
            <a:r>
              <a:rPr sz="1050" b="0">
                <a:solidFill>
                  <a:srgbClr val="767676"/>
                </a:solidFill>
                <a:latin typeface="Noto Sans JP"/>
                <a:ea typeface="Noto Sans JP"/>
                <a:cs typeface="Noto Sans JP"/>
              </a:rPr>
              <a:t>AI駆動開発ガイド</a:t>
            </a:r>
          </a:p>
        </p:txBody>
      </p:sp>
      <p:sp>
        <p:nvSpPr>
          <p:cNvPr id="10" name="TextBox 9"/>
          <p:cNvSpPr txBox="1"/>
          <p:nvPr/>
        </p:nvSpPr>
        <p:spPr>
          <a:xfrm>
            <a:off x="10668000" y="6419850"/>
            <a:ext cx="914400" cy="190500"/>
          </a:xfrm>
          <a:prstGeom prst="rect">
            <a:avLst/>
          </a:prstGeom>
          <a:noFill/>
        </p:spPr>
        <p:txBody>
          <a:bodyPr wrap="square" lIns="0" rIns="0" tIns="0" bIns="0" anchor="t">
            <a:spAutoFit/>
          </a:bodyPr>
          <a:lstStyle/>
          <a:p>
            <a:pPr algn="r">
              <a:lnSpc>
                <a:spcPct val="130000"/>
              </a:lnSpc>
            </a:pPr>
            <a:r>
              <a:rPr sz="1050" b="1">
                <a:solidFill>
                  <a:srgbClr val="767676"/>
                </a:solidFill>
                <a:latin typeface="Noto Sans JP"/>
                <a:ea typeface="Noto Sans JP"/>
                <a:cs typeface="Noto Sans JP"/>
              </a:rPr>
              <a:t>18 / 20</a:t>
            </a:r>
          </a:p>
        </p:txBody>
      </p:sp>
      <p:sp>
        <p:nvSpPr>
          <p:cNvPr id="11" name="Rectangle 10"/>
          <p:cNvSpPr/>
          <p:nvPr/>
        </p:nvSpPr>
        <p:spPr>
          <a:xfrm>
            <a:off x="609600" y="2057400"/>
            <a:ext cx="2514600" cy="3162300"/>
          </a:xfrm>
          <a:prstGeom prst="rect">
            <a:avLst/>
          </a:prstGeom>
          <a:solidFill>
            <a:srgbClr val="FFFFFF"/>
          </a:solidFill>
          <a:ln w="9525">
            <a:solidFill>
              <a:srgbClr val="94949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609600" y="2057400"/>
            <a:ext cx="2514600" cy="457200"/>
          </a:xfrm>
          <a:prstGeom prst="rect">
            <a:avLst/>
          </a:prstGeom>
          <a:solidFill>
            <a:srgbClr val="0017C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38200" y="2057400"/>
            <a:ext cx="2057400" cy="457200"/>
          </a:xfrm>
          <a:prstGeom prst="rect">
            <a:avLst/>
          </a:prstGeom>
          <a:noFill/>
        </p:spPr>
        <p:txBody>
          <a:bodyPr wrap="square" lIns="0" rIns="0" tIns="0" bIns="0" anchor="ctr">
            <a:spAutoFit/>
          </a:bodyPr>
          <a:lstStyle/>
          <a:p>
            <a:pPr algn="l">
              <a:lnSpc>
                <a:spcPct val="100000"/>
              </a:lnSpc>
            </a:pPr>
            <a:r>
              <a:rPr sz="1200" b="1">
                <a:solidFill>
                  <a:srgbClr val="FFFFFF"/>
                </a:solidFill>
                <a:latin typeface="Noto Sans JP"/>
                <a:ea typeface="Noto Sans JP"/>
                <a:cs typeface="Noto Sans JP"/>
              </a:rPr>
              <a:t>WEEK 1</a:t>
            </a:r>
          </a:p>
        </p:txBody>
      </p:sp>
      <p:sp>
        <p:nvSpPr>
          <p:cNvPr id="14" name="TextBox 13"/>
          <p:cNvSpPr txBox="1"/>
          <p:nvPr/>
        </p:nvSpPr>
        <p:spPr>
          <a:xfrm>
            <a:off x="838200" y="2705100"/>
            <a:ext cx="2057400" cy="457200"/>
          </a:xfrm>
          <a:prstGeom prst="rect">
            <a:avLst/>
          </a:prstGeom>
          <a:noFill/>
        </p:spPr>
        <p:txBody>
          <a:bodyPr wrap="square" lIns="0" rIns="0" tIns="0" bIns="0" anchor="t">
            <a:spAutoFit/>
          </a:bodyPr>
          <a:lstStyle/>
          <a:p>
            <a:pPr algn="l">
              <a:lnSpc>
                <a:spcPct val="150000"/>
              </a:lnSpc>
            </a:pPr>
            <a:r>
              <a:rPr sz="2100" b="1">
                <a:solidFill>
                  <a:srgbClr val="1A1A1A"/>
                </a:solidFill>
                <a:latin typeface="Noto Sans JP"/>
                <a:ea typeface="Noto Sans JP"/>
                <a:cs typeface="Noto Sans JP"/>
              </a:rPr>
              <a:t>準備</a:t>
            </a:r>
          </a:p>
        </p:txBody>
      </p:sp>
      <p:sp>
        <p:nvSpPr>
          <p:cNvPr id="15" name="TextBox 14"/>
          <p:cNvSpPr txBox="1"/>
          <p:nvPr/>
        </p:nvSpPr>
        <p:spPr>
          <a:xfrm>
            <a:off x="838200" y="3352800"/>
            <a:ext cx="2057400" cy="1066800"/>
          </a:xfrm>
          <a:prstGeom prst="rect">
            <a:avLst/>
          </a:prstGeom>
          <a:noFill/>
        </p:spPr>
        <p:txBody>
          <a:bodyPr wrap="square" lIns="0" rIns="0" tIns="0" bIns="0" anchor="t">
            <a:spAutoFit/>
          </a:bodyPr>
          <a:lstStyle/>
          <a:p>
            <a:pPr algn="l">
              <a:lnSpc>
                <a:spcPct val="150000"/>
              </a:lnSpc>
            </a:pPr>
            <a:r>
              <a:rPr sz="1500" b="0">
                <a:solidFill>
                  <a:srgbClr val="4D4D4D"/>
                </a:solidFill>
                <a:latin typeface="Noto Sans JP"/>
                <a:ea typeface="Noto Sans JP"/>
                <a:cs typeface="Noto Sans JP"/>
              </a:rPr>
              <a:t>対象と担当を決める</a:t>
            </a:r>
          </a:p>
          <a:p>
            <a:pPr algn="l">
              <a:lnSpc>
                <a:spcPct val="150000"/>
              </a:lnSpc>
            </a:pPr>
            <a:r>
              <a:rPr sz="1500" b="0">
                <a:solidFill>
                  <a:srgbClr val="4D4D4D"/>
                </a:solidFill>
                <a:latin typeface="Noto Sans JP"/>
                <a:ea typeface="Noto Sans JP"/>
                <a:cs typeface="Noto Sans JP"/>
              </a:rPr>
              <a:t>環境・基準値を用意</a:t>
            </a:r>
          </a:p>
        </p:txBody>
      </p:sp>
      <p:sp>
        <p:nvSpPr>
          <p:cNvPr id="16" name="TextBox 15"/>
          <p:cNvSpPr txBox="1"/>
          <p:nvPr/>
        </p:nvSpPr>
        <p:spPr>
          <a:xfrm>
            <a:off x="838200" y="4572000"/>
            <a:ext cx="2057400" cy="495300"/>
          </a:xfrm>
          <a:prstGeom prst="rect">
            <a:avLst/>
          </a:prstGeom>
          <a:noFill/>
        </p:spPr>
        <p:txBody>
          <a:bodyPr wrap="square" lIns="0" rIns="0" tIns="0" bIns="0" anchor="t">
            <a:spAutoFit/>
          </a:bodyPr>
          <a:lstStyle/>
          <a:p>
            <a:pPr algn="l">
              <a:lnSpc>
                <a:spcPct val="160000"/>
              </a:lnSpc>
            </a:pPr>
            <a:r>
              <a:rPr sz="1350" b="1">
                <a:solidFill>
                  <a:srgbClr val="0017C1"/>
                </a:solidFill>
                <a:latin typeface="Noto Sans JP"/>
                <a:ea typeface="Noto Sans JP"/>
                <a:cs typeface="Noto Sans JP"/>
              </a:rPr>
              <a:t>成果物：試行計画</a:t>
            </a:r>
          </a:p>
        </p:txBody>
      </p:sp>
      <p:sp>
        <p:nvSpPr>
          <p:cNvPr id="17" name="Isosceles Triangle 16"/>
          <p:cNvSpPr/>
          <p:nvPr/>
        </p:nvSpPr>
        <p:spPr>
          <a:xfrm rot="5400000">
            <a:off x="3200400" y="3619500"/>
            <a:ext cx="152400" cy="152400"/>
          </a:xfrm>
          <a:prstGeom prst="triangle">
            <a:avLst/>
          </a:prstGeom>
          <a:solidFill>
            <a:srgbClr val="0017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429000" y="2057400"/>
            <a:ext cx="2514600" cy="3162300"/>
          </a:xfrm>
          <a:prstGeom prst="rect">
            <a:avLst/>
          </a:prstGeom>
          <a:solidFill>
            <a:srgbClr val="FFFFFF"/>
          </a:solidFill>
          <a:ln w="9525">
            <a:solidFill>
              <a:srgbClr val="94949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3429000" y="2057400"/>
            <a:ext cx="2514600" cy="457200"/>
          </a:xfrm>
          <a:prstGeom prst="rect">
            <a:avLst/>
          </a:prstGeom>
          <a:solidFill>
            <a:srgbClr val="0017C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3657600" y="2057400"/>
            <a:ext cx="2057400" cy="457200"/>
          </a:xfrm>
          <a:prstGeom prst="rect">
            <a:avLst/>
          </a:prstGeom>
          <a:noFill/>
        </p:spPr>
        <p:txBody>
          <a:bodyPr wrap="square" lIns="0" rIns="0" tIns="0" bIns="0" anchor="ctr">
            <a:spAutoFit/>
          </a:bodyPr>
          <a:lstStyle/>
          <a:p>
            <a:pPr algn="l">
              <a:lnSpc>
                <a:spcPct val="100000"/>
              </a:lnSpc>
            </a:pPr>
            <a:r>
              <a:rPr sz="1200" b="1">
                <a:solidFill>
                  <a:srgbClr val="FFFFFF"/>
                </a:solidFill>
                <a:latin typeface="Noto Sans JP"/>
                <a:ea typeface="Noto Sans JP"/>
                <a:cs typeface="Noto Sans JP"/>
              </a:rPr>
              <a:t>WEEK 2</a:t>
            </a:r>
          </a:p>
        </p:txBody>
      </p:sp>
      <p:sp>
        <p:nvSpPr>
          <p:cNvPr id="21" name="TextBox 20"/>
          <p:cNvSpPr txBox="1"/>
          <p:nvPr/>
        </p:nvSpPr>
        <p:spPr>
          <a:xfrm>
            <a:off x="3657600" y="2705100"/>
            <a:ext cx="2057400" cy="457200"/>
          </a:xfrm>
          <a:prstGeom prst="rect">
            <a:avLst/>
          </a:prstGeom>
          <a:noFill/>
        </p:spPr>
        <p:txBody>
          <a:bodyPr wrap="square" lIns="0" rIns="0" tIns="0" bIns="0" anchor="t">
            <a:spAutoFit/>
          </a:bodyPr>
          <a:lstStyle/>
          <a:p>
            <a:pPr algn="l">
              <a:lnSpc>
                <a:spcPct val="150000"/>
              </a:lnSpc>
            </a:pPr>
            <a:r>
              <a:rPr sz="2100" b="1">
                <a:solidFill>
                  <a:srgbClr val="1A1A1A"/>
                </a:solidFill>
                <a:latin typeface="Noto Sans JP"/>
                <a:ea typeface="Noto Sans JP"/>
                <a:cs typeface="Noto Sans JP"/>
              </a:rPr>
              <a:t>実践</a:t>
            </a:r>
          </a:p>
        </p:txBody>
      </p:sp>
      <p:sp>
        <p:nvSpPr>
          <p:cNvPr id="22" name="TextBox 21"/>
          <p:cNvSpPr txBox="1"/>
          <p:nvPr/>
        </p:nvSpPr>
        <p:spPr>
          <a:xfrm>
            <a:off x="3657600" y="3352800"/>
            <a:ext cx="2057400" cy="1066800"/>
          </a:xfrm>
          <a:prstGeom prst="rect">
            <a:avLst/>
          </a:prstGeom>
          <a:noFill/>
        </p:spPr>
        <p:txBody>
          <a:bodyPr wrap="square" lIns="0" rIns="0" tIns="0" bIns="0" anchor="t">
            <a:spAutoFit/>
          </a:bodyPr>
          <a:lstStyle/>
          <a:p>
            <a:pPr algn="l">
              <a:lnSpc>
                <a:spcPct val="150000"/>
              </a:lnSpc>
            </a:pPr>
            <a:r>
              <a:rPr sz="1500" b="0">
                <a:solidFill>
                  <a:srgbClr val="4D4D4D"/>
                </a:solidFill>
                <a:latin typeface="Noto Sans JP"/>
                <a:ea typeface="Noto Sans JP"/>
                <a:cs typeface="Noto Sans JP"/>
              </a:rPr>
              <a:t>小さなタスクで試す</a:t>
            </a:r>
          </a:p>
          <a:p>
            <a:pPr algn="l">
              <a:lnSpc>
                <a:spcPct val="150000"/>
              </a:lnSpc>
            </a:pPr>
            <a:r>
              <a:rPr sz="1500" b="0">
                <a:solidFill>
                  <a:srgbClr val="4D4D4D"/>
                </a:solidFill>
                <a:latin typeface="Noto Sans JP"/>
                <a:ea typeface="Noto Sans JP"/>
                <a:cs typeface="Noto Sans JP"/>
              </a:rPr>
              <a:t>時間と失敗を記録する</a:t>
            </a:r>
          </a:p>
        </p:txBody>
      </p:sp>
      <p:sp>
        <p:nvSpPr>
          <p:cNvPr id="23" name="TextBox 22"/>
          <p:cNvSpPr txBox="1"/>
          <p:nvPr/>
        </p:nvSpPr>
        <p:spPr>
          <a:xfrm>
            <a:off x="3657600" y="4572000"/>
            <a:ext cx="2057400" cy="495300"/>
          </a:xfrm>
          <a:prstGeom prst="rect">
            <a:avLst/>
          </a:prstGeom>
          <a:noFill/>
        </p:spPr>
        <p:txBody>
          <a:bodyPr wrap="square" lIns="0" rIns="0" tIns="0" bIns="0" anchor="t">
            <a:spAutoFit/>
          </a:bodyPr>
          <a:lstStyle/>
          <a:p>
            <a:pPr algn="l">
              <a:lnSpc>
                <a:spcPct val="160000"/>
              </a:lnSpc>
            </a:pPr>
            <a:r>
              <a:rPr sz="1350" b="1">
                <a:solidFill>
                  <a:srgbClr val="0017C1"/>
                </a:solidFill>
                <a:latin typeface="Noto Sans JP"/>
                <a:ea typeface="Noto Sans JP"/>
                <a:cs typeface="Noto Sans JP"/>
              </a:rPr>
              <a:t>成果物：実践ログ</a:t>
            </a:r>
          </a:p>
        </p:txBody>
      </p:sp>
      <p:sp>
        <p:nvSpPr>
          <p:cNvPr id="24" name="Isosceles Triangle 23"/>
          <p:cNvSpPr/>
          <p:nvPr/>
        </p:nvSpPr>
        <p:spPr>
          <a:xfrm rot="5400000">
            <a:off x="6019800" y="3619500"/>
            <a:ext cx="152400" cy="152400"/>
          </a:xfrm>
          <a:prstGeom prst="triangle">
            <a:avLst/>
          </a:prstGeom>
          <a:solidFill>
            <a:srgbClr val="0017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48400" y="2057400"/>
            <a:ext cx="2514600" cy="3162300"/>
          </a:xfrm>
          <a:prstGeom prst="rect">
            <a:avLst/>
          </a:prstGeom>
          <a:solidFill>
            <a:srgbClr val="FFFFFF"/>
          </a:solidFill>
          <a:ln w="9525">
            <a:solidFill>
              <a:srgbClr val="94949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6248400" y="2057400"/>
            <a:ext cx="2514600" cy="457200"/>
          </a:xfrm>
          <a:prstGeom prst="rect">
            <a:avLst/>
          </a:prstGeom>
          <a:solidFill>
            <a:srgbClr val="0017C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477000" y="2057400"/>
            <a:ext cx="2057400" cy="457200"/>
          </a:xfrm>
          <a:prstGeom prst="rect">
            <a:avLst/>
          </a:prstGeom>
          <a:noFill/>
        </p:spPr>
        <p:txBody>
          <a:bodyPr wrap="square" lIns="0" rIns="0" tIns="0" bIns="0" anchor="ctr">
            <a:spAutoFit/>
          </a:bodyPr>
          <a:lstStyle/>
          <a:p>
            <a:pPr algn="l">
              <a:lnSpc>
                <a:spcPct val="100000"/>
              </a:lnSpc>
            </a:pPr>
            <a:r>
              <a:rPr sz="1200" b="1">
                <a:solidFill>
                  <a:srgbClr val="FFFFFF"/>
                </a:solidFill>
                <a:latin typeface="Noto Sans JP"/>
                <a:ea typeface="Noto Sans JP"/>
                <a:cs typeface="Noto Sans JP"/>
              </a:rPr>
              <a:t>WEEK 3</a:t>
            </a:r>
          </a:p>
        </p:txBody>
      </p:sp>
      <p:sp>
        <p:nvSpPr>
          <p:cNvPr id="28" name="TextBox 27"/>
          <p:cNvSpPr txBox="1"/>
          <p:nvPr/>
        </p:nvSpPr>
        <p:spPr>
          <a:xfrm>
            <a:off x="6477000" y="2705100"/>
            <a:ext cx="2057400" cy="457200"/>
          </a:xfrm>
          <a:prstGeom prst="rect">
            <a:avLst/>
          </a:prstGeom>
          <a:noFill/>
        </p:spPr>
        <p:txBody>
          <a:bodyPr wrap="square" lIns="0" rIns="0" tIns="0" bIns="0" anchor="t">
            <a:spAutoFit/>
          </a:bodyPr>
          <a:lstStyle/>
          <a:p>
            <a:pPr algn="l">
              <a:lnSpc>
                <a:spcPct val="150000"/>
              </a:lnSpc>
            </a:pPr>
            <a:r>
              <a:rPr sz="2100" b="1">
                <a:solidFill>
                  <a:srgbClr val="1A1A1A"/>
                </a:solidFill>
                <a:latin typeface="Noto Sans JP"/>
                <a:ea typeface="Noto Sans JP"/>
                <a:cs typeface="Noto Sans JP"/>
              </a:rPr>
              <a:t>改善</a:t>
            </a:r>
          </a:p>
        </p:txBody>
      </p:sp>
      <p:sp>
        <p:nvSpPr>
          <p:cNvPr id="29" name="TextBox 28"/>
          <p:cNvSpPr txBox="1"/>
          <p:nvPr/>
        </p:nvSpPr>
        <p:spPr>
          <a:xfrm>
            <a:off x="6477000" y="3352800"/>
            <a:ext cx="2057400" cy="1066800"/>
          </a:xfrm>
          <a:prstGeom prst="rect">
            <a:avLst/>
          </a:prstGeom>
          <a:noFill/>
        </p:spPr>
        <p:txBody>
          <a:bodyPr wrap="square" lIns="0" rIns="0" tIns="0" bIns="0" anchor="t">
            <a:spAutoFit/>
          </a:bodyPr>
          <a:lstStyle/>
          <a:p>
            <a:pPr algn="l">
              <a:lnSpc>
                <a:spcPct val="150000"/>
              </a:lnSpc>
            </a:pPr>
            <a:r>
              <a:rPr sz="1500" b="0">
                <a:solidFill>
                  <a:srgbClr val="4D4D4D"/>
                </a:solidFill>
                <a:latin typeface="Noto Sans JP"/>
                <a:ea typeface="Noto Sans JP"/>
                <a:cs typeface="Noto Sans JP"/>
              </a:rPr>
              <a:t>依頼と検証を見直す</a:t>
            </a:r>
          </a:p>
          <a:p>
            <a:pPr algn="l">
              <a:lnSpc>
                <a:spcPct val="150000"/>
              </a:lnSpc>
            </a:pPr>
            <a:r>
              <a:rPr sz="1500" b="0">
                <a:solidFill>
                  <a:srgbClr val="4D4D4D"/>
                </a:solidFill>
                <a:latin typeface="Noto Sans JP"/>
                <a:ea typeface="Noto Sans JP"/>
                <a:cs typeface="Noto Sans JP"/>
              </a:rPr>
              <a:t>よい例を共有する</a:t>
            </a:r>
          </a:p>
        </p:txBody>
      </p:sp>
      <p:sp>
        <p:nvSpPr>
          <p:cNvPr id="30" name="TextBox 29"/>
          <p:cNvSpPr txBox="1"/>
          <p:nvPr/>
        </p:nvSpPr>
        <p:spPr>
          <a:xfrm>
            <a:off x="6477000" y="4572000"/>
            <a:ext cx="2057400" cy="495300"/>
          </a:xfrm>
          <a:prstGeom prst="rect">
            <a:avLst/>
          </a:prstGeom>
          <a:noFill/>
        </p:spPr>
        <p:txBody>
          <a:bodyPr wrap="square" lIns="0" rIns="0" tIns="0" bIns="0" anchor="t">
            <a:spAutoFit/>
          </a:bodyPr>
          <a:lstStyle/>
          <a:p>
            <a:pPr algn="l">
              <a:lnSpc>
                <a:spcPct val="160000"/>
              </a:lnSpc>
            </a:pPr>
            <a:r>
              <a:rPr sz="1350" b="1">
                <a:solidFill>
                  <a:srgbClr val="0017C1"/>
                </a:solidFill>
                <a:latin typeface="Noto Sans JP"/>
                <a:ea typeface="Noto Sans JP"/>
                <a:cs typeface="Noto Sans JP"/>
              </a:rPr>
              <a:t>成果物：共通の依頼文</a:t>
            </a:r>
          </a:p>
        </p:txBody>
      </p:sp>
      <p:sp>
        <p:nvSpPr>
          <p:cNvPr id="31" name="Isosceles Triangle 30"/>
          <p:cNvSpPr/>
          <p:nvPr/>
        </p:nvSpPr>
        <p:spPr>
          <a:xfrm rot="5400000">
            <a:off x="8839200" y="3619500"/>
            <a:ext cx="152400" cy="152400"/>
          </a:xfrm>
          <a:prstGeom prst="triangle">
            <a:avLst/>
          </a:prstGeom>
          <a:solidFill>
            <a:srgbClr val="0017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067800" y="2057400"/>
            <a:ext cx="2514600" cy="3162300"/>
          </a:xfrm>
          <a:prstGeom prst="rect">
            <a:avLst/>
          </a:prstGeom>
          <a:solidFill>
            <a:srgbClr val="FFFFFF"/>
          </a:solidFill>
          <a:ln w="9525">
            <a:solidFill>
              <a:srgbClr val="94949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9067800" y="2057400"/>
            <a:ext cx="2514600" cy="457200"/>
          </a:xfrm>
          <a:prstGeom prst="rect">
            <a:avLst/>
          </a:prstGeom>
          <a:solidFill>
            <a:srgbClr val="0017C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9296400" y="2057400"/>
            <a:ext cx="2057400" cy="457200"/>
          </a:xfrm>
          <a:prstGeom prst="rect">
            <a:avLst/>
          </a:prstGeom>
          <a:noFill/>
        </p:spPr>
        <p:txBody>
          <a:bodyPr wrap="square" lIns="0" rIns="0" tIns="0" bIns="0" anchor="ctr">
            <a:spAutoFit/>
          </a:bodyPr>
          <a:lstStyle/>
          <a:p>
            <a:pPr algn="l">
              <a:lnSpc>
                <a:spcPct val="100000"/>
              </a:lnSpc>
            </a:pPr>
            <a:r>
              <a:rPr sz="1200" b="1">
                <a:solidFill>
                  <a:srgbClr val="FFFFFF"/>
                </a:solidFill>
                <a:latin typeface="Noto Sans JP"/>
                <a:ea typeface="Noto Sans JP"/>
                <a:cs typeface="Noto Sans JP"/>
              </a:rPr>
              <a:t>WEEK 4</a:t>
            </a:r>
          </a:p>
        </p:txBody>
      </p:sp>
      <p:sp>
        <p:nvSpPr>
          <p:cNvPr id="35" name="TextBox 34"/>
          <p:cNvSpPr txBox="1"/>
          <p:nvPr/>
        </p:nvSpPr>
        <p:spPr>
          <a:xfrm>
            <a:off x="9296400" y="2705100"/>
            <a:ext cx="2057400" cy="457200"/>
          </a:xfrm>
          <a:prstGeom prst="rect">
            <a:avLst/>
          </a:prstGeom>
          <a:noFill/>
        </p:spPr>
        <p:txBody>
          <a:bodyPr wrap="square" lIns="0" rIns="0" tIns="0" bIns="0" anchor="t">
            <a:spAutoFit/>
          </a:bodyPr>
          <a:lstStyle/>
          <a:p>
            <a:pPr algn="l">
              <a:lnSpc>
                <a:spcPct val="150000"/>
              </a:lnSpc>
            </a:pPr>
            <a:r>
              <a:rPr sz="2100" b="1">
                <a:solidFill>
                  <a:srgbClr val="1A1A1A"/>
                </a:solidFill>
                <a:latin typeface="Noto Sans JP"/>
                <a:ea typeface="Noto Sans JP"/>
                <a:cs typeface="Noto Sans JP"/>
              </a:rPr>
              <a:t>判断</a:t>
            </a:r>
          </a:p>
        </p:txBody>
      </p:sp>
      <p:sp>
        <p:nvSpPr>
          <p:cNvPr id="36" name="TextBox 35"/>
          <p:cNvSpPr txBox="1"/>
          <p:nvPr/>
        </p:nvSpPr>
        <p:spPr>
          <a:xfrm>
            <a:off x="9296400" y="3352800"/>
            <a:ext cx="2057400" cy="1066800"/>
          </a:xfrm>
          <a:prstGeom prst="rect">
            <a:avLst/>
          </a:prstGeom>
          <a:noFill/>
        </p:spPr>
        <p:txBody>
          <a:bodyPr wrap="square" lIns="0" rIns="0" tIns="0" bIns="0" anchor="t">
            <a:spAutoFit/>
          </a:bodyPr>
          <a:lstStyle/>
          <a:p>
            <a:pPr algn="l">
              <a:lnSpc>
                <a:spcPct val="150000"/>
              </a:lnSpc>
            </a:pPr>
            <a:r>
              <a:rPr sz="1500" b="0">
                <a:solidFill>
                  <a:srgbClr val="4D4D4D"/>
                </a:solidFill>
                <a:latin typeface="Noto Sans JP"/>
                <a:ea typeface="Noto Sans JP"/>
                <a:cs typeface="Noto Sans JP"/>
              </a:rPr>
              <a:t>同種タスクと比べる</a:t>
            </a:r>
          </a:p>
          <a:p>
            <a:pPr algn="l">
              <a:lnSpc>
                <a:spcPct val="150000"/>
              </a:lnSpc>
            </a:pPr>
            <a:r>
              <a:rPr sz="1500" b="0">
                <a:solidFill>
                  <a:srgbClr val="4D4D4D"/>
                </a:solidFill>
                <a:latin typeface="Noto Sans JP"/>
                <a:ea typeface="Noto Sans JP"/>
                <a:cs typeface="Noto Sans JP"/>
              </a:rPr>
              <a:t>継続・拡大・見直し</a:t>
            </a:r>
          </a:p>
        </p:txBody>
      </p:sp>
      <p:sp>
        <p:nvSpPr>
          <p:cNvPr id="37" name="TextBox 36"/>
          <p:cNvSpPr txBox="1"/>
          <p:nvPr/>
        </p:nvSpPr>
        <p:spPr>
          <a:xfrm>
            <a:off x="9296400" y="4572000"/>
            <a:ext cx="2057400" cy="495300"/>
          </a:xfrm>
          <a:prstGeom prst="rect">
            <a:avLst/>
          </a:prstGeom>
          <a:noFill/>
        </p:spPr>
        <p:txBody>
          <a:bodyPr wrap="square" lIns="0" rIns="0" tIns="0" bIns="0" anchor="t">
            <a:spAutoFit/>
          </a:bodyPr>
          <a:lstStyle/>
          <a:p>
            <a:pPr algn="l">
              <a:lnSpc>
                <a:spcPct val="160000"/>
              </a:lnSpc>
            </a:pPr>
            <a:r>
              <a:rPr sz="1350" b="1">
                <a:solidFill>
                  <a:srgbClr val="0017C1"/>
                </a:solidFill>
                <a:latin typeface="Noto Sans JP"/>
                <a:ea typeface="Noto Sans JP"/>
                <a:cs typeface="Noto Sans JP"/>
              </a:rPr>
              <a:t>成果物：判断と次の対象</a:t>
            </a:r>
          </a:p>
        </p:txBody>
      </p:sp>
      <p:sp>
        <p:nvSpPr>
          <p:cNvPr id="38" name="Rectangle 37"/>
          <p:cNvSpPr/>
          <p:nvPr/>
        </p:nvSpPr>
        <p:spPr>
          <a:xfrm>
            <a:off x="609600" y="5524500"/>
            <a:ext cx="10972800" cy="571500"/>
          </a:xfrm>
          <a:prstGeom prst="rect">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838200" y="5524500"/>
            <a:ext cx="10515600" cy="571500"/>
          </a:xfrm>
          <a:prstGeom prst="rect">
            <a:avLst/>
          </a:prstGeom>
          <a:noFill/>
        </p:spPr>
        <p:txBody>
          <a:bodyPr wrap="square" lIns="0" rIns="0" tIns="0" bIns="0" anchor="ctr">
            <a:spAutoFit/>
          </a:bodyPr>
          <a:lstStyle/>
          <a:p>
            <a:pPr algn="l">
              <a:lnSpc>
                <a:spcPct val="150000"/>
              </a:lnSpc>
            </a:pPr>
            <a:r>
              <a:rPr sz="1500" b="1">
                <a:solidFill>
                  <a:srgbClr val="00118F"/>
                </a:solidFill>
                <a:latin typeface="Noto Sans JP"/>
                <a:ea typeface="Noto Sans JP"/>
                <a:cs typeface="Noto Sans JP"/>
              </a:rPr>
              <a:t>拡大は、品質・負担を許容範囲に保ち、チームで繰り返し実践できてから。</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609600" y="495300"/>
            <a:ext cx="57150" cy="228600"/>
          </a:xfrm>
          <a:prstGeom prst="rect">
            <a:avLst/>
          </a:prstGeom>
          <a:solidFill>
            <a:srgbClr val="0017C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62000" y="495300"/>
            <a:ext cx="9334500" cy="228600"/>
          </a:xfrm>
          <a:prstGeom prst="rect">
            <a:avLst/>
          </a:prstGeom>
          <a:noFill/>
        </p:spPr>
        <p:txBody>
          <a:bodyPr wrap="square" lIns="0" rIns="0" tIns="0" bIns="0" anchor="ctr">
            <a:spAutoFit/>
          </a:bodyPr>
          <a:lstStyle/>
          <a:p>
            <a:pPr algn="l">
              <a:lnSpc>
                <a:spcPct val="100000"/>
              </a:lnSpc>
            </a:pPr>
            <a:r>
              <a:rPr sz="1050" b="1">
                <a:solidFill>
                  <a:srgbClr val="0017C1"/>
                </a:solidFill>
                <a:latin typeface="Noto Sans JP"/>
                <a:ea typeface="Noto Sans JP"/>
                <a:cs typeface="Noto Sans JP"/>
              </a:rPr>
              <a:t>04 / チームに定着させる</a:t>
            </a:r>
          </a:p>
        </p:txBody>
      </p:sp>
      <p:sp>
        <p:nvSpPr>
          <p:cNvPr id="5" name="TextBox 4"/>
          <p:cNvSpPr txBox="1"/>
          <p:nvPr/>
        </p:nvSpPr>
        <p:spPr>
          <a:xfrm>
            <a:off x="609600" y="800100"/>
            <a:ext cx="10972800" cy="457200"/>
          </a:xfrm>
          <a:prstGeom prst="rect">
            <a:avLst/>
          </a:prstGeom>
          <a:noFill/>
        </p:spPr>
        <p:txBody>
          <a:bodyPr wrap="square" lIns="0" rIns="0" tIns="0" bIns="0" anchor="t">
            <a:spAutoFit/>
          </a:bodyPr>
          <a:lstStyle/>
          <a:p>
            <a:pPr algn="l">
              <a:lnSpc>
                <a:spcPct val="150000"/>
              </a:lnSpc>
            </a:pPr>
            <a:r>
              <a:rPr sz="2400" b="1">
                <a:solidFill>
                  <a:srgbClr val="1A1A1A"/>
                </a:solidFill>
                <a:latin typeface="Noto Sans JP"/>
                <a:ea typeface="Noto Sans JP"/>
                <a:cs typeface="Noto Sans JP"/>
              </a:rPr>
              <a:t>明日の1件は、このチェックから始める</a:t>
            </a:r>
          </a:p>
        </p:txBody>
      </p:sp>
      <p:sp>
        <p:nvSpPr>
          <p:cNvPr id="6" name="Rectangle 5"/>
          <p:cNvSpPr/>
          <p:nvPr/>
        </p:nvSpPr>
        <p:spPr>
          <a:xfrm>
            <a:off x="609600" y="1333500"/>
            <a:ext cx="10972800" cy="19050"/>
          </a:xfrm>
          <a:prstGeom prst="rect">
            <a:avLst/>
          </a:prstGeom>
          <a:solidFill>
            <a:srgbClr val="9494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09600" y="1447800"/>
            <a:ext cx="10972800" cy="304800"/>
          </a:xfrm>
          <a:prstGeom prst="rect">
            <a:avLst/>
          </a:prstGeom>
          <a:noFill/>
        </p:spPr>
        <p:txBody>
          <a:bodyPr wrap="square" lIns="0" rIns="0" tIns="0" bIns="0" anchor="t">
            <a:spAutoFit/>
          </a:bodyPr>
          <a:lstStyle/>
          <a:p>
            <a:pPr algn="l">
              <a:lnSpc>
                <a:spcPct val="160000"/>
              </a:lnSpc>
            </a:pPr>
            <a:r>
              <a:rPr sz="1350" b="0">
                <a:solidFill>
                  <a:srgbClr val="4D4D4D"/>
                </a:solidFill>
                <a:latin typeface="Noto Sans JP"/>
                <a:ea typeface="Noto Sans JP"/>
                <a:cs typeface="Noto Sans JP"/>
              </a:rPr>
              <a:t>開始時と完了時に確認する、持ち帰り用チェックリスト。</a:t>
            </a:r>
          </a:p>
        </p:txBody>
      </p:sp>
      <p:sp>
        <p:nvSpPr>
          <p:cNvPr id="8" name="Rectangle 7"/>
          <p:cNvSpPr/>
          <p:nvPr/>
        </p:nvSpPr>
        <p:spPr>
          <a:xfrm>
            <a:off x="609600" y="6286500"/>
            <a:ext cx="10972800" cy="9525"/>
          </a:xfrm>
          <a:prstGeom prst="rect">
            <a:avLst/>
          </a:prstGeom>
          <a:solidFill>
            <a:srgbClr val="B3B3B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09600" y="6419850"/>
            <a:ext cx="4191000" cy="190500"/>
          </a:xfrm>
          <a:prstGeom prst="rect">
            <a:avLst/>
          </a:prstGeom>
          <a:noFill/>
        </p:spPr>
        <p:txBody>
          <a:bodyPr wrap="square" lIns="0" rIns="0" tIns="0" bIns="0" anchor="t">
            <a:spAutoFit/>
          </a:bodyPr>
          <a:lstStyle/>
          <a:p>
            <a:pPr algn="l">
              <a:lnSpc>
                <a:spcPct val="130000"/>
              </a:lnSpc>
            </a:pPr>
            <a:r>
              <a:rPr sz="1050" b="0">
                <a:solidFill>
                  <a:srgbClr val="767676"/>
                </a:solidFill>
                <a:latin typeface="Noto Sans JP"/>
                <a:ea typeface="Noto Sans JP"/>
                <a:cs typeface="Noto Sans JP"/>
              </a:rPr>
              <a:t>AI駆動開発ガイド</a:t>
            </a:r>
          </a:p>
        </p:txBody>
      </p:sp>
      <p:sp>
        <p:nvSpPr>
          <p:cNvPr id="10" name="TextBox 9"/>
          <p:cNvSpPr txBox="1"/>
          <p:nvPr/>
        </p:nvSpPr>
        <p:spPr>
          <a:xfrm>
            <a:off x="10668000" y="6419850"/>
            <a:ext cx="914400" cy="190500"/>
          </a:xfrm>
          <a:prstGeom prst="rect">
            <a:avLst/>
          </a:prstGeom>
          <a:noFill/>
        </p:spPr>
        <p:txBody>
          <a:bodyPr wrap="square" lIns="0" rIns="0" tIns="0" bIns="0" anchor="t">
            <a:spAutoFit/>
          </a:bodyPr>
          <a:lstStyle/>
          <a:p>
            <a:pPr algn="r">
              <a:lnSpc>
                <a:spcPct val="130000"/>
              </a:lnSpc>
            </a:pPr>
            <a:r>
              <a:rPr sz="1050" b="1">
                <a:solidFill>
                  <a:srgbClr val="767676"/>
                </a:solidFill>
                <a:latin typeface="Noto Sans JP"/>
                <a:ea typeface="Noto Sans JP"/>
                <a:cs typeface="Noto Sans JP"/>
              </a:rPr>
              <a:t>19 / 20</a:t>
            </a:r>
          </a:p>
        </p:txBody>
      </p:sp>
      <p:sp>
        <p:nvSpPr>
          <p:cNvPr id="11" name="Rectangle 10"/>
          <p:cNvSpPr/>
          <p:nvPr/>
        </p:nvSpPr>
        <p:spPr>
          <a:xfrm>
            <a:off x="609600" y="1981200"/>
            <a:ext cx="5334000" cy="3124200"/>
          </a:xfrm>
          <a:prstGeom prst="rect">
            <a:avLst/>
          </a:prstGeom>
          <a:solidFill>
            <a:srgbClr val="FFFFFF"/>
          </a:solidFill>
          <a:ln w="9525">
            <a:solidFill>
              <a:srgbClr val="94949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38200" y="2209800"/>
            <a:ext cx="4876800" cy="457200"/>
          </a:xfrm>
          <a:prstGeom prst="rect">
            <a:avLst/>
          </a:prstGeom>
          <a:noFill/>
        </p:spPr>
        <p:txBody>
          <a:bodyPr wrap="square" lIns="0" rIns="0" tIns="0" bIns="0" anchor="t">
            <a:spAutoFit/>
          </a:bodyPr>
          <a:lstStyle/>
          <a:p>
            <a:pPr algn="l">
              <a:lnSpc>
                <a:spcPct val="150000"/>
              </a:lnSpc>
            </a:pPr>
            <a:r>
              <a:rPr sz="2100" b="1">
                <a:solidFill>
                  <a:srgbClr val="0017C1"/>
                </a:solidFill>
                <a:latin typeface="Noto Sans JP"/>
                <a:ea typeface="Noto Sans JP"/>
                <a:cs typeface="Noto Sans JP"/>
              </a:rPr>
              <a:t>開始前</a:t>
            </a:r>
          </a:p>
        </p:txBody>
      </p:sp>
      <p:sp>
        <p:nvSpPr>
          <p:cNvPr id="13" name="Rectangle 12"/>
          <p:cNvSpPr/>
          <p:nvPr/>
        </p:nvSpPr>
        <p:spPr>
          <a:xfrm>
            <a:off x="876300" y="2962275"/>
            <a:ext cx="190500" cy="190500"/>
          </a:xfrm>
          <a:prstGeom prst="rect">
            <a:avLst/>
          </a:prstGeom>
          <a:solidFill>
            <a:srgbClr val="FFFFFF"/>
          </a:solidFill>
          <a:ln w="9525">
            <a:solidFill>
              <a:srgbClr val="0017C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1219200" y="2895600"/>
            <a:ext cx="4495800" cy="381000"/>
          </a:xfrm>
          <a:prstGeom prst="rect">
            <a:avLst/>
          </a:prstGeom>
          <a:noFill/>
        </p:spPr>
        <p:txBody>
          <a:bodyPr wrap="square" lIns="0" rIns="0" tIns="0" bIns="0" anchor="t">
            <a:spAutoFit/>
          </a:bodyPr>
          <a:lstStyle/>
          <a:p>
            <a:pPr algn="l">
              <a:lnSpc>
                <a:spcPct val="150000"/>
              </a:lnSpc>
            </a:pPr>
            <a:r>
              <a:rPr sz="1650" b="1">
                <a:solidFill>
                  <a:srgbClr val="1A1A1A"/>
                </a:solidFill>
                <a:latin typeface="Noto Sans JP"/>
                <a:ea typeface="Noto Sans JP"/>
                <a:cs typeface="Noto Sans JP"/>
              </a:rPr>
              <a:t>目的と対象外を説明できる</a:t>
            </a:r>
          </a:p>
        </p:txBody>
      </p:sp>
      <p:sp>
        <p:nvSpPr>
          <p:cNvPr id="15" name="Rectangle 14"/>
          <p:cNvSpPr/>
          <p:nvPr/>
        </p:nvSpPr>
        <p:spPr>
          <a:xfrm>
            <a:off x="876300" y="3457575"/>
            <a:ext cx="190500" cy="190500"/>
          </a:xfrm>
          <a:prstGeom prst="rect">
            <a:avLst/>
          </a:prstGeom>
          <a:solidFill>
            <a:srgbClr val="FFFFFF"/>
          </a:solidFill>
          <a:ln w="9525">
            <a:solidFill>
              <a:srgbClr val="0017C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1219200" y="3390900"/>
            <a:ext cx="4495800" cy="381000"/>
          </a:xfrm>
          <a:prstGeom prst="rect">
            <a:avLst/>
          </a:prstGeom>
          <a:noFill/>
        </p:spPr>
        <p:txBody>
          <a:bodyPr wrap="square" lIns="0" rIns="0" tIns="0" bIns="0" anchor="t">
            <a:spAutoFit/>
          </a:bodyPr>
          <a:lstStyle/>
          <a:p>
            <a:pPr algn="l">
              <a:lnSpc>
                <a:spcPct val="150000"/>
              </a:lnSpc>
            </a:pPr>
            <a:r>
              <a:rPr sz="1650" b="1">
                <a:solidFill>
                  <a:srgbClr val="1A1A1A"/>
                </a:solidFill>
                <a:latin typeface="Noto Sans JP"/>
                <a:ea typeface="Noto Sans JP"/>
                <a:cs typeface="Noto Sans JP"/>
              </a:rPr>
              <a:t>受け入れ条件が具体的</a:t>
            </a:r>
          </a:p>
        </p:txBody>
      </p:sp>
      <p:sp>
        <p:nvSpPr>
          <p:cNvPr id="17" name="Rectangle 16"/>
          <p:cNvSpPr/>
          <p:nvPr/>
        </p:nvSpPr>
        <p:spPr>
          <a:xfrm>
            <a:off x="876300" y="3952875"/>
            <a:ext cx="190500" cy="190500"/>
          </a:xfrm>
          <a:prstGeom prst="rect">
            <a:avLst/>
          </a:prstGeom>
          <a:solidFill>
            <a:srgbClr val="FFFFFF"/>
          </a:solidFill>
          <a:ln w="9525">
            <a:solidFill>
              <a:srgbClr val="0017C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1219200" y="3886200"/>
            <a:ext cx="4495800" cy="381000"/>
          </a:xfrm>
          <a:prstGeom prst="rect">
            <a:avLst/>
          </a:prstGeom>
          <a:noFill/>
        </p:spPr>
        <p:txBody>
          <a:bodyPr wrap="square" lIns="0" rIns="0" tIns="0" bIns="0" anchor="t">
            <a:spAutoFit/>
          </a:bodyPr>
          <a:lstStyle/>
          <a:p>
            <a:pPr algn="l">
              <a:lnSpc>
                <a:spcPct val="150000"/>
              </a:lnSpc>
            </a:pPr>
            <a:r>
              <a:rPr sz="1650" b="1">
                <a:solidFill>
                  <a:srgbClr val="1A1A1A"/>
                </a:solidFill>
                <a:latin typeface="Noto Sans JP"/>
                <a:ea typeface="Noto Sans JP"/>
                <a:cs typeface="Noto Sans JP"/>
              </a:rPr>
              <a:t>関連ファイルと実行方法がある</a:t>
            </a:r>
          </a:p>
        </p:txBody>
      </p:sp>
      <p:sp>
        <p:nvSpPr>
          <p:cNvPr id="19" name="Rectangle 18"/>
          <p:cNvSpPr/>
          <p:nvPr/>
        </p:nvSpPr>
        <p:spPr>
          <a:xfrm>
            <a:off x="876300" y="4448175"/>
            <a:ext cx="190500" cy="190500"/>
          </a:xfrm>
          <a:prstGeom prst="rect">
            <a:avLst/>
          </a:prstGeom>
          <a:solidFill>
            <a:srgbClr val="FFFFFF"/>
          </a:solidFill>
          <a:ln w="9525">
            <a:solidFill>
              <a:srgbClr val="0017C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1219200" y="4381500"/>
            <a:ext cx="4495800" cy="381000"/>
          </a:xfrm>
          <a:prstGeom prst="rect">
            <a:avLst/>
          </a:prstGeom>
          <a:noFill/>
        </p:spPr>
        <p:txBody>
          <a:bodyPr wrap="square" lIns="0" rIns="0" tIns="0" bIns="0" anchor="t">
            <a:spAutoFit/>
          </a:bodyPr>
          <a:lstStyle/>
          <a:p>
            <a:pPr algn="l">
              <a:lnSpc>
                <a:spcPct val="150000"/>
              </a:lnSpc>
            </a:pPr>
            <a:r>
              <a:rPr sz="1650" b="1">
                <a:solidFill>
                  <a:srgbClr val="1A1A1A"/>
                </a:solidFill>
                <a:latin typeface="Noto Sans JP"/>
                <a:ea typeface="Noto Sans JP"/>
                <a:cs typeface="Noto Sans JP"/>
              </a:rPr>
              <a:t>データと実行権限を確認した</a:t>
            </a:r>
          </a:p>
        </p:txBody>
      </p:sp>
      <p:sp>
        <p:nvSpPr>
          <p:cNvPr id="21" name="Rectangle 20"/>
          <p:cNvSpPr/>
          <p:nvPr/>
        </p:nvSpPr>
        <p:spPr>
          <a:xfrm>
            <a:off x="6248400" y="1981200"/>
            <a:ext cx="5334000" cy="3124200"/>
          </a:xfrm>
          <a:prstGeom prst="rect">
            <a:avLst/>
          </a:prstGeom>
          <a:solidFill>
            <a:srgbClr val="FFFFFF"/>
          </a:solidFill>
          <a:ln w="9525">
            <a:solidFill>
              <a:srgbClr val="94949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477000" y="2209800"/>
            <a:ext cx="4876800" cy="457200"/>
          </a:xfrm>
          <a:prstGeom prst="rect">
            <a:avLst/>
          </a:prstGeom>
          <a:noFill/>
        </p:spPr>
        <p:txBody>
          <a:bodyPr wrap="square" lIns="0" rIns="0" tIns="0" bIns="0" anchor="t">
            <a:spAutoFit/>
          </a:bodyPr>
          <a:lstStyle/>
          <a:p>
            <a:pPr algn="l">
              <a:lnSpc>
                <a:spcPct val="150000"/>
              </a:lnSpc>
            </a:pPr>
            <a:r>
              <a:rPr sz="2100" b="1">
                <a:solidFill>
                  <a:srgbClr val="0017C1"/>
                </a:solidFill>
                <a:latin typeface="Noto Sans JP"/>
                <a:ea typeface="Noto Sans JP"/>
                <a:cs typeface="Noto Sans JP"/>
              </a:rPr>
              <a:t>完了前</a:t>
            </a:r>
          </a:p>
        </p:txBody>
      </p:sp>
      <p:sp>
        <p:nvSpPr>
          <p:cNvPr id="23" name="Rectangle 22"/>
          <p:cNvSpPr/>
          <p:nvPr/>
        </p:nvSpPr>
        <p:spPr>
          <a:xfrm>
            <a:off x="6515100" y="2962275"/>
            <a:ext cx="190500" cy="190500"/>
          </a:xfrm>
          <a:prstGeom prst="rect">
            <a:avLst/>
          </a:prstGeom>
          <a:solidFill>
            <a:srgbClr val="FFFFFF"/>
          </a:solidFill>
          <a:ln w="9525">
            <a:solidFill>
              <a:srgbClr val="0017C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858000" y="2895600"/>
            <a:ext cx="4495800" cy="381000"/>
          </a:xfrm>
          <a:prstGeom prst="rect">
            <a:avLst/>
          </a:prstGeom>
          <a:noFill/>
        </p:spPr>
        <p:txBody>
          <a:bodyPr wrap="square" lIns="0" rIns="0" tIns="0" bIns="0" anchor="t">
            <a:spAutoFit/>
          </a:bodyPr>
          <a:lstStyle/>
          <a:p>
            <a:pPr algn="l">
              <a:lnSpc>
                <a:spcPct val="150000"/>
              </a:lnSpc>
            </a:pPr>
            <a:r>
              <a:rPr sz="1650" b="1">
                <a:solidFill>
                  <a:srgbClr val="1A1A1A"/>
                </a:solidFill>
                <a:latin typeface="Noto Sans JP"/>
                <a:ea typeface="Noto Sans JP"/>
                <a:cs typeface="Noto Sans JP"/>
              </a:rPr>
              <a:t>差分を読み、意図を説明できる</a:t>
            </a:r>
          </a:p>
        </p:txBody>
      </p:sp>
      <p:sp>
        <p:nvSpPr>
          <p:cNvPr id="25" name="Rectangle 24"/>
          <p:cNvSpPr/>
          <p:nvPr/>
        </p:nvSpPr>
        <p:spPr>
          <a:xfrm>
            <a:off x="6515100" y="3457575"/>
            <a:ext cx="190500" cy="190500"/>
          </a:xfrm>
          <a:prstGeom prst="rect">
            <a:avLst/>
          </a:prstGeom>
          <a:solidFill>
            <a:srgbClr val="FFFFFF"/>
          </a:solidFill>
          <a:ln w="9525">
            <a:solidFill>
              <a:srgbClr val="0017C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6858000" y="3390900"/>
            <a:ext cx="4495800" cy="381000"/>
          </a:xfrm>
          <a:prstGeom prst="rect">
            <a:avLst/>
          </a:prstGeom>
          <a:noFill/>
        </p:spPr>
        <p:txBody>
          <a:bodyPr wrap="square" lIns="0" rIns="0" tIns="0" bIns="0" anchor="t">
            <a:spAutoFit/>
          </a:bodyPr>
          <a:lstStyle/>
          <a:p>
            <a:pPr algn="l">
              <a:lnSpc>
                <a:spcPct val="150000"/>
              </a:lnSpc>
            </a:pPr>
            <a:r>
              <a:rPr sz="1650" b="1">
                <a:solidFill>
                  <a:srgbClr val="1A1A1A"/>
                </a:solidFill>
                <a:latin typeface="Noto Sans JP"/>
                <a:ea typeface="Noto Sans JP"/>
                <a:cs typeface="Noto Sans JP"/>
              </a:rPr>
              <a:t>テスト・解析の実行結果がある</a:t>
            </a:r>
          </a:p>
        </p:txBody>
      </p:sp>
      <p:sp>
        <p:nvSpPr>
          <p:cNvPr id="27" name="Rectangle 26"/>
          <p:cNvSpPr/>
          <p:nvPr/>
        </p:nvSpPr>
        <p:spPr>
          <a:xfrm>
            <a:off x="6515100" y="3952875"/>
            <a:ext cx="190500" cy="190500"/>
          </a:xfrm>
          <a:prstGeom prst="rect">
            <a:avLst/>
          </a:prstGeom>
          <a:solidFill>
            <a:srgbClr val="FFFFFF"/>
          </a:solidFill>
          <a:ln w="9525">
            <a:solidFill>
              <a:srgbClr val="0017C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6858000" y="3886200"/>
            <a:ext cx="4495800" cy="381000"/>
          </a:xfrm>
          <a:prstGeom prst="rect">
            <a:avLst/>
          </a:prstGeom>
          <a:noFill/>
        </p:spPr>
        <p:txBody>
          <a:bodyPr wrap="square" lIns="0" rIns="0" tIns="0" bIns="0" anchor="t">
            <a:spAutoFit/>
          </a:bodyPr>
          <a:lstStyle/>
          <a:p>
            <a:pPr algn="l">
              <a:lnSpc>
                <a:spcPct val="150000"/>
              </a:lnSpc>
            </a:pPr>
            <a:r>
              <a:rPr sz="1650" b="1">
                <a:solidFill>
                  <a:srgbClr val="1A1A1A"/>
                </a:solidFill>
                <a:latin typeface="Noto Sans JP"/>
                <a:ea typeface="Noto Sans JP"/>
                <a:cs typeface="Noto Sans JP"/>
              </a:rPr>
              <a:t>未検証の範囲を明記した</a:t>
            </a:r>
          </a:p>
        </p:txBody>
      </p:sp>
      <p:sp>
        <p:nvSpPr>
          <p:cNvPr id="29" name="Rectangle 28"/>
          <p:cNvSpPr/>
          <p:nvPr/>
        </p:nvSpPr>
        <p:spPr>
          <a:xfrm>
            <a:off x="6515100" y="4448175"/>
            <a:ext cx="190500" cy="190500"/>
          </a:xfrm>
          <a:prstGeom prst="rect">
            <a:avLst/>
          </a:prstGeom>
          <a:solidFill>
            <a:srgbClr val="FFFFFF"/>
          </a:solidFill>
          <a:ln w="9525">
            <a:solidFill>
              <a:srgbClr val="0017C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6858000" y="4381500"/>
            <a:ext cx="4495800" cy="381000"/>
          </a:xfrm>
          <a:prstGeom prst="rect">
            <a:avLst/>
          </a:prstGeom>
          <a:noFill/>
        </p:spPr>
        <p:txBody>
          <a:bodyPr wrap="square" lIns="0" rIns="0" tIns="0" bIns="0" anchor="t">
            <a:spAutoFit/>
          </a:bodyPr>
          <a:lstStyle/>
          <a:p>
            <a:pPr algn="l">
              <a:lnSpc>
                <a:spcPct val="150000"/>
              </a:lnSpc>
            </a:pPr>
            <a:r>
              <a:rPr sz="1650" b="1">
                <a:solidFill>
                  <a:srgbClr val="1A1A1A"/>
                </a:solidFill>
                <a:latin typeface="Noto Sans JP"/>
                <a:ea typeface="Noto Sans JP"/>
                <a:cs typeface="Noto Sans JP"/>
              </a:rPr>
              <a:t>レビュー担当者が確認した</a:t>
            </a:r>
          </a:p>
        </p:txBody>
      </p:sp>
      <p:sp>
        <p:nvSpPr>
          <p:cNvPr id="31" name="Rectangle 30"/>
          <p:cNvSpPr/>
          <p:nvPr/>
        </p:nvSpPr>
        <p:spPr>
          <a:xfrm>
            <a:off x="609600" y="5410200"/>
            <a:ext cx="10972800" cy="685800"/>
          </a:xfrm>
          <a:prstGeom prst="rect">
            <a:avLst/>
          </a:prstGeom>
          <a:solidFill>
            <a:srgbClr val="0011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838200" y="5410200"/>
            <a:ext cx="10515600" cy="685800"/>
          </a:xfrm>
          <a:prstGeom prst="rect">
            <a:avLst/>
          </a:prstGeom>
          <a:noFill/>
        </p:spPr>
        <p:txBody>
          <a:bodyPr wrap="square" lIns="0" rIns="0" tIns="0" bIns="0" anchor="ctr">
            <a:spAutoFit/>
          </a:bodyPr>
          <a:lstStyle/>
          <a:p>
            <a:pPr algn="ctr">
              <a:lnSpc>
                <a:spcPct val="150000"/>
              </a:lnSpc>
            </a:pPr>
            <a:r>
              <a:rPr sz="2100" b="1">
                <a:solidFill>
                  <a:srgbClr val="FFFFFF"/>
                </a:solidFill>
                <a:latin typeface="Noto Sans JP"/>
                <a:ea typeface="Noto Sans JP"/>
                <a:cs typeface="Noto Sans JP"/>
              </a:rPr>
              <a:t>小さく任せる。結果を確かめる。学びをチームに残す。</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609600" y="495300"/>
            <a:ext cx="57150" cy="228600"/>
          </a:xfrm>
          <a:prstGeom prst="rect">
            <a:avLst/>
          </a:prstGeom>
          <a:solidFill>
            <a:srgbClr val="0017C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62000" y="495300"/>
            <a:ext cx="9334500" cy="228600"/>
          </a:xfrm>
          <a:prstGeom prst="rect">
            <a:avLst/>
          </a:prstGeom>
          <a:noFill/>
        </p:spPr>
        <p:txBody>
          <a:bodyPr wrap="square" lIns="0" rIns="0" tIns="0" bIns="0" anchor="ctr">
            <a:spAutoFit/>
          </a:bodyPr>
          <a:lstStyle/>
          <a:p>
            <a:pPr algn="l">
              <a:lnSpc>
                <a:spcPct val="100000"/>
              </a:lnSpc>
            </a:pPr>
            <a:r>
              <a:rPr sz="1050" b="1">
                <a:solidFill>
                  <a:srgbClr val="0017C1"/>
                </a:solidFill>
                <a:latin typeface="Noto Sans JP"/>
                <a:ea typeface="Noto Sans JP"/>
                <a:cs typeface="Noto Sans JP"/>
              </a:rPr>
              <a:t>REFERENCES</a:t>
            </a:r>
          </a:p>
        </p:txBody>
      </p:sp>
      <p:sp>
        <p:nvSpPr>
          <p:cNvPr id="5" name="TextBox 4"/>
          <p:cNvSpPr txBox="1"/>
          <p:nvPr/>
        </p:nvSpPr>
        <p:spPr>
          <a:xfrm>
            <a:off x="609600" y="800100"/>
            <a:ext cx="10972800" cy="457200"/>
          </a:xfrm>
          <a:prstGeom prst="rect">
            <a:avLst/>
          </a:prstGeom>
          <a:noFill/>
        </p:spPr>
        <p:txBody>
          <a:bodyPr wrap="square" lIns="0" rIns="0" tIns="0" bIns="0" anchor="t">
            <a:spAutoFit/>
          </a:bodyPr>
          <a:lstStyle/>
          <a:p>
            <a:pPr algn="l">
              <a:lnSpc>
                <a:spcPct val="150000"/>
              </a:lnSpc>
            </a:pPr>
            <a:r>
              <a:rPr sz="2400" b="1">
                <a:solidFill>
                  <a:srgbClr val="1A1A1A"/>
                </a:solidFill>
                <a:latin typeface="Noto Sans JP"/>
                <a:ea typeface="Noto Sans JP"/>
                <a:cs typeface="Noto Sans JP"/>
              </a:rPr>
              <a:t>参考資料・出典</a:t>
            </a:r>
          </a:p>
        </p:txBody>
      </p:sp>
      <p:sp>
        <p:nvSpPr>
          <p:cNvPr id="6" name="Rectangle 5"/>
          <p:cNvSpPr/>
          <p:nvPr/>
        </p:nvSpPr>
        <p:spPr>
          <a:xfrm>
            <a:off x="609600" y="1333500"/>
            <a:ext cx="10972800" cy="19050"/>
          </a:xfrm>
          <a:prstGeom prst="rect">
            <a:avLst/>
          </a:prstGeom>
          <a:solidFill>
            <a:srgbClr val="9494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09600" y="1447800"/>
            <a:ext cx="10972800" cy="304800"/>
          </a:xfrm>
          <a:prstGeom prst="rect">
            <a:avLst/>
          </a:prstGeom>
          <a:noFill/>
        </p:spPr>
        <p:txBody>
          <a:bodyPr wrap="square" lIns="0" rIns="0" tIns="0" bIns="0" anchor="t">
            <a:spAutoFit/>
          </a:bodyPr>
          <a:lstStyle/>
          <a:p>
            <a:pPr algn="l">
              <a:lnSpc>
                <a:spcPct val="160000"/>
              </a:lnSpc>
            </a:pPr>
            <a:r>
              <a:rPr sz="1350" b="0">
                <a:solidFill>
                  <a:srgbClr val="4D4D4D"/>
                </a:solidFill>
                <a:latin typeface="Noto Sans JP"/>
                <a:ea typeface="Noto Sans JP"/>
                <a:cs typeface="Noto Sans JP"/>
              </a:rPr>
              <a:t>2026年9月8日参照。一般化した実践手順と、独自の仕様例・導入案を含みます。</a:t>
            </a:r>
          </a:p>
        </p:txBody>
      </p:sp>
      <p:sp>
        <p:nvSpPr>
          <p:cNvPr id="8" name="Rectangle 7"/>
          <p:cNvSpPr/>
          <p:nvPr/>
        </p:nvSpPr>
        <p:spPr>
          <a:xfrm>
            <a:off x="609600" y="6286500"/>
            <a:ext cx="10972800" cy="9525"/>
          </a:xfrm>
          <a:prstGeom prst="rect">
            <a:avLst/>
          </a:prstGeom>
          <a:solidFill>
            <a:srgbClr val="B3B3B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09600" y="6419850"/>
            <a:ext cx="4191000" cy="190500"/>
          </a:xfrm>
          <a:prstGeom prst="rect">
            <a:avLst/>
          </a:prstGeom>
          <a:noFill/>
        </p:spPr>
        <p:txBody>
          <a:bodyPr wrap="square" lIns="0" rIns="0" tIns="0" bIns="0" anchor="t">
            <a:spAutoFit/>
          </a:bodyPr>
          <a:lstStyle/>
          <a:p>
            <a:pPr algn="l">
              <a:lnSpc>
                <a:spcPct val="130000"/>
              </a:lnSpc>
            </a:pPr>
            <a:r>
              <a:rPr sz="1050" b="0">
                <a:solidFill>
                  <a:srgbClr val="767676"/>
                </a:solidFill>
                <a:latin typeface="Noto Sans JP"/>
                <a:ea typeface="Noto Sans JP"/>
                <a:cs typeface="Noto Sans JP"/>
              </a:rPr>
              <a:t>AI駆動開発ガイド</a:t>
            </a:r>
          </a:p>
        </p:txBody>
      </p:sp>
      <p:sp>
        <p:nvSpPr>
          <p:cNvPr id="10" name="TextBox 9"/>
          <p:cNvSpPr txBox="1"/>
          <p:nvPr/>
        </p:nvSpPr>
        <p:spPr>
          <a:xfrm>
            <a:off x="10668000" y="6419850"/>
            <a:ext cx="914400" cy="190500"/>
          </a:xfrm>
          <a:prstGeom prst="rect">
            <a:avLst/>
          </a:prstGeom>
          <a:noFill/>
        </p:spPr>
        <p:txBody>
          <a:bodyPr wrap="square" lIns="0" rIns="0" tIns="0" bIns="0" anchor="t">
            <a:spAutoFit/>
          </a:bodyPr>
          <a:lstStyle/>
          <a:p>
            <a:pPr algn="r">
              <a:lnSpc>
                <a:spcPct val="130000"/>
              </a:lnSpc>
            </a:pPr>
            <a:r>
              <a:rPr sz="1050" b="1">
                <a:solidFill>
                  <a:srgbClr val="767676"/>
                </a:solidFill>
                <a:latin typeface="Noto Sans JP"/>
                <a:ea typeface="Noto Sans JP"/>
                <a:cs typeface="Noto Sans JP"/>
              </a:rPr>
              <a:t>20 / 20</a:t>
            </a:r>
          </a:p>
        </p:txBody>
      </p:sp>
      <p:sp>
        <p:nvSpPr>
          <p:cNvPr id="11" name="TextBox 10"/>
          <p:cNvSpPr txBox="1"/>
          <p:nvPr/>
        </p:nvSpPr>
        <p:spPr>
          <a:xfrm>
            <a:off x="609600" y="1905000"/>
            <a:ext cx="609600" cy="285750"/>
          </a:xfrm>
          <a:prstGeom prst="rect">
            <a:avLst/>
          </a:prstGeom>
          <a:noFill/>
        </p:spPr>
        <p:txBody>
          <a:bodyPr wrap="square" lIns="0" rIns="0" tIns="0" bIns="0" anchor="t">
            <a:spAutoFit/>
          </a:bodyPr>
          <a:lstStyle/>
          <a:p>
            <a:pPr algn="l">
              <a:lnSpc>
                <a:spcPct val="160000"/>
              </a:lnSpc>
            </a:pPr>
            <a:r>
              <a:rPr sz="1350" b="1">
                <a:solidFill>
                  <a:srgbClr val="0017C1"/>
                </a:solidFill>
                <a:latin typeface="Noto Sans JP"/>
                <a:ea typeface="Noto Sans JP"/>
                <a:cs typeface="Noto Sans JP"/>
              </a:rPr>
              <a:t>[1]</a:t>
            </a:r>
          </a:p>
        </p:txBody>
      </p:sp>
      <p:sp>
        <p:nvSpPr>
          <p:cNvPr id="12" name="TextBox 11"/>
          <p:cNvSpPr txBox="1"/>
          <p:nvPr/>
        </p:nvSpPr>
        <p:spPr>
          <a:xfrm>
            <a:off x="1219200" y="1905000"/>
            <a:ext cx="7086600" cy="285750"/>
          </a:xfrm>
          <a:prstGeom prst="rect">
            <a:avLst/>
          </a:prstGeom>
          <a:noFill/>
        </p:spPr>
        <p:txBody>
          <a:bodyPr wrap="square" lIns="0" rIns="0" tIns="0" bIns="0" anchor="t">
            <a:spAutoFit/>
          </a:bodyPr>
          <a:lstStyle/>
          <a:p>
            <a:pPr algn="l">
              <a:lnSpc>
                <a:spcPct val="160000"/>
              </a:lnSpc>
            </a:pPr>
            <a:r>
              <a:rPr sz="1350" b="1">
                <a:solidFill>
                  <a:srgbClr val="1A1A1A"/>
                </a:solidFill>
                <a:latin typeface="Noto Sans JP"/>
                <a:ea typeface="Noto Sans JP"/>
                <a:cs typeface="Noto Sans JP"/>
              </a:rPr>
              <a:t>Anthropic｜Best practices for Claude Code</a:t>
            </a:r>
          </a:p>
        </p:txBody>
      </p:sp>
      <p:sp>
        <p:nvSpPr>
          <p:cNvPr id="13" name="TextBox 12"/>
          <p:cNvSpPr txBox="1"/>
          <p:nvPr/>
        </p:nvSpPr>
        <p:spPr>
          <a:xfrm>
            <a:off x="1219200" y="2190750"/>
            <a:ext cx="7239000" cy="266700"/>
          </a:xfrm>
          <a:prstGeom prst="rect">
            <a:avLst/>
          </a:prstGeom>
          <a:noFill/>
        </p:spPr>
        <p:txBody>
          <a:bodyPr wrap="square" lIns="0" rIns="0" tIns="0" bIns="0" anchor="t">
            <a:spAutoFit/>
          </a:bodyPr>
          <a:lstStyle/>
          <a:p>
            <a:pPr algn="l">
              <a:lnSpc>
                <a:spcPct val="130000"/>
              </a:lnSpc>
            </a:pPr>
            <a:r>
              <a:rPr sz="1200" b="0" u="sng">
                <a:solidFill>
                  <a:srgbClr val="0017C1"/>
                </a:solidFill>
                <a:latin typeface="Noto Sans JP"/>
                <a:ea typeface="Noto Sans JP"/>
                <a:cs typeface="Noto Sans JP"/>
                <a:hlinkClick r:id="rId3"/>
              </a:rPr>
              <a:t>https://code.claude.com/docs/en/best-practices</a:t>
            </a:r>
          </a:p>
        </p:txBody>
      </p:sp>
      <p:sp>
        <p:nvSpPr>
          <p:cNvPr id="14" name="TextBox 13"/>
          <p:cNvSpPr txBox="1"/>
          <p:nvPr/>
        </p:nvSpPr>
        <p:spPr>
          <a:xfrm>
            <a:off x="8686800" y="1943100"/>
            <a:ext cx="2895600" cy="533400"/>
          </a:xfrm>
          <a:prstGeom prst="rect">
            <a:avLst/>
          </a:prstGeom>
          <a:noFill/>
        </p:spPr>
        <p:txBody>
          <a:bodyPr wrap="square" lIns="0" rIns="0" tIns="0" bIns="0" anchor="t">
            <a:spAutoFit/>
          </a:bodyPr>
          <a:lstStyle/>
          <a:p>
            <a:pPr algn="l">
              <a:lnSpc>
                <a:spcPct val="170000"/>
              </a:lnSpc>
            </a:pPr>
            <a:r>
              <a:rPr sz="1200" b="0">
                <a:solidFill>
                  <a:srgbClr val="4D4D4D"/>
                </a:solidFill>
                <a:latin typeface="Noto Sans JP"/>
                <a:ea typeface="Noto Sans JP"/>
                <a:cs typeface="Noto Sans JP"/>
              </a:rPr>
              <a:t>タスクの具体化・文脈・実行による検証</a:t>
            </a:r>
          </a:p>
        </p:txBody>
      </p:sp>
      <p:sp>
        <p:nvSpPr>
          <p:cNvPr id="15" name="TextBox 14"/>
          <p:cNvSpPr txBox="1"/>
          <p:nvPr/>
        </p:nvSpPr>
        <p:spPr>
          <a:xfrm>
            <a:off x="609600" y="2533650"/>
            <a:ext cx="609600" cy="285750"/>
          </a:xfrm>
          <a:prstGeom prst="rect">
            <a:avLst/>
          </a:prstGeom>
          <a:noFill/>
        </p:spPr>
        <p:txBody>
          <a:bodyPr wrap="square" lIns="0" rIns="0" tIns="0" bIns="0" anchor="t">
            <a:spAutoFit/>
          </a:bodyPr>
          <a:lstStyle/>
          <a:p>
            <a:pPr algn="l">
              <a:lnSpc>
                <a:spcPct val="160000"/>
              </a:lnSpc>
            </a:pPr>
            <a:r>
              <a:rPr sz="1350" b="1">
                <a:solidFill>
                  <a:srgbClr val="0017C1"/>
                </a:solidFill>
                <a:latin typeface="Noto Sans JP"/>
                <a:ea typeface="Noto Sans JP"/>
                <a:cs typeface="Noto Sans JP"/>
              </a:rPr>
              <a:t>[2]</a:t>
            </a:r>
          </a:p>
        </p:txBody>
      </p:sp>
      <p:sp>
        <p:nvSpPr>
          <p:cNvPr id="16" name="TextBox 15"/>
          <p:cNvSpPr txBox="1"/>
          <p:nvPr/>
        </p:nvSpPr>
        <p:spPr>
          <a:xfrm>
            <a:off x="1219200" y="2533650"/>
            <a:ext cx="7086600" cy="285750"/>
          </a:xfrm>
          <a:prstGeom prst="rect">
            <a:avLst/>
          </a:prstGeom>
          <a:noFill/>
        </p:spPr>
        <p:txBody>
          <a:bodyPr wrap="square" lIns="0" rIns="0" tIns="0" bIns="0" anchor="t">
            <a:spAutoFit/>
          </a:bodyPr>
          <a:lstStyle/>
          <a:p>
            <a:pPr algn="l">
              <a:lnSpc>
                <a:spcPct val="160000"/>
              </a:lnSpc>
            </a:pPr>
            <a:r>
              <a:rPr sz="1350" b="1">
                <a:solidFill>
                  <a:srgbClr val="1A1A1A"/>
                </a:solidFill>
                <a:latin typeface="Noto Sans JP"/>
                <a:ea typeface="Noto Sans JP"/>
                <a:cs typeface="Noto Sans JP"/>
              </a:rPr>
              <a:t>GitHub｜Application card: GitHub Copilot Agents</a:t>
            </a:r>
          </a:p>
        </p:txBody>
      </p:sp>
      <p:sp>
        <p:nvSpPr>
          <p:cNvPr id="17" name="TextBox 16"/>
          <p:cNvSpPr txBox="1"/>
          <p:nvPr/>
        </p:nvSpPr>
        <p:spPr>
          <a:xfrm>
            <a:off x="1219200" y="2819400"/>
            <a:ext cx="7239000" cy="266700"/>
          </a:xfrm>
          <a:prstGeom prst="rect">
            <a:avLst/>
          </a:prstGeom>
          <a:noFill/>
        </p:spPr>
        <p:txBody>
          <a:bodyPr wrap="square" lIns="0" rIns="0" tIns="0" bIns="0" anchor="t">
            <a:spAutoFit/>
          </a:bodyPr>
          <a:lstStyle/>
          <a:p>
            <a:pPr algn="l">
              <a:lnSpc>
                <a:spcPct val="130000"/>
              </a:lnSpc>
            </a:pPr>
            <a:r>
              <a:rPr sz="1200" b="0" u="sng">
                <a:solidFill>
                  <a:srgbClr val="0017C1"/>
                </a:solidFill>
                <a:latin typeface="Noto Sans JP"/>
                <a:ea typeface="Noto Sans JP"/>
                <a:cs typeface="Noto Sans JP"/>
                <a:hlinkClick r:id="rId4"/>
              </a:rPr>
              <a:t>https://docs.github.com/en/copilot/responsible-use/agents</a:t>
            </a:r>
          </a:p>
        </p:txBody>
      </p:sp>
      <p:sp>
        <p:nvSpPr>
          <p:cNvPr id="18" name="TextBox 17"/>
          <p:cNvSpPr txBox="1"/>
          <p:nvPr/>
        </p:nvSpPr>
        <p:spPr>
          <a:xfrm>
            <a:off x="8686800" y="2571750"/>
            <a:ext cx="2895600" cy="533400"/>
          </a:xfrm>
          <a:prstGeom prst="rect">
            <a:avLst/>
          </a:prstGeom>
          <a:noFill/>
        </p:spPr>
        <p:txBody>
          <a:bodyPr wrap="square" lIns="0" rIns="0" tIns="0" bIns="0" anchor="t">
            <a:spAutoFit/>
          </a:bodyPr>
          <a:lstStyle/>
          <a:p>
            <a:pPr algn="l">
              <a:lnSpc>
                <a:spcPct val="170000"/>
              </a:lnSpc>
            </a:pPr>
            <a:r>
              <a:rPr sz="1200" b="0">
                <a:solidFill>
                  <a:srgbClr val="4D4D4D"/>
                </a:solidFill>
                <a:latin typeface="Noto Sans JP"/>
                <a:ea typeface="Noto Sans JP"/>
                <a:cs typeface="Noto Sans JP"/>
              </a:rPr>
              <a:t>生成コードとAIレビューの限界・人の責任</a:t>
            </a:r>
          </a:p>
        </p:txBody>
      </p:sp>
      <p:sp>
        <p:nvSpPr>
          <p:cNvPr id="19" name="TextBox 18"/>
          <p:cNvSpPr txBox="1"/>
          <p:nvPr/>
        </p:nvSpPr>
        <p:spPr>
          <a:xfrm>
            <a:off x="609600" y="3162300"/>
            <a:ext cx="609600" cy="285750"/>
          </a:xfrm>
          <a:prstGeom prst="rect">
            <a:avLst/>
          </a:prstGeom>
          <a:noFill/>
        </p:spPr>
        <p:txBody>
          <a:bodyPr wrap="square" lIns="0" rIns="0" tIns="0" bIns="0" anchor="t">
            <a:spAutoFit/>
          </a:bodyPr>
          <a:lstStyle/>
          <a:p>
            <a:pPr algn="l">
              <a:lnSpc>
                <a:spcPct val="160000"/>
              </a:lnSpc>
            </a:pPr>
            <a:r>
              <a:rPr sz="1350" b="1">
                <a:solidFill>
                  <a:srgbClr val="0017C1"/>
                </a:solidFill>
                <a:latin typeface="Noto Sans JP"/>
                <a:ea typeface="Noto Sans JP"/>
                <a:cs typeface="Noto Sans JP"/>
              </a:rPr>
              <a:t>[3]</a:t>
            </a:r>
          </a:p>
        </p:txBody>
      </p:sp>
      <p:sp>
        <p:nvSpPr>
          <p:cNvPr id="20" name="TextBox 19"/>
          <p:cNvSpPr txBox="1"/>
          <p:nvPr/>
        </p:nvSpPr>
        <p:spPr>
          <a:xfrm>
            <a:off x="1219200" y="3162300"/>
            <a:ext cx="7086600" cy="285750"/>
          </a:xfrm>
          <a:prstGeom prst="rect">
            <a:avLst/>
          </a:prstGeom>
          <a:noFill/>
        </p:spPr>
        <p:txBody>
          <a:bodyPr wrap="square" lIns="0" rIns="0" tIns="0" bIns="0" anchor="t">
            <a:spAutoFit/>
          </a:bodyPr>
          <a:lstStyle/>
          <a:p>
            <a:pPr algn="l">
              <a:lnSpc>
                <a:spcPct val="160000"/>
              </a:lnSpc>
            </a:pPr>
            <a:r>
              <a:rPr sz="1350" b="1">
                <a:solidFill>
                  <a:srgbClr val="1A1A1A"/>
                </a:solidFill>
                <a:latin typeface="Noto Sans JP"/>
                <a:ea typeface="Noto Sans JP"/>
                <a:cs typeface="Noto Sans JP"/>
              </a:rPr>
              <a:t>OWASP｜LLM01:2025 Prompt Injection</a:t>
            </a:r>
          </a:p>
        </p:txBody>
      </p:sp>
      <p:sp>
        <p:nvSpPr>
          <p:cNvPr id="21" name="TextBox 20"/>
          <p:cNvSpPr txBox="1"/>
          <p:nvPr/>
        </p:nvSpPr>
        <p:spPr>
          <a:xfrm>
            <a:off x="1219200" y="3448050"/>
            <a:ext cx="7239000" cy="266700"/>
          </a:xfrm>
          <a:prstGeom prst="rect">
            <a:avLst/>
          </a:prstGeom>
          <a:noFill/>
        </p:spPr>
        <p:txBody>
          <a:bodyPr wrap="square" lIns="0" rIns="0" tIns="0" bIns="0" anchor="t">
            <a:spAutoFit/>
          </a:bodyPr>
          <a:lstStyle/>
          <a:p>
            <a:pPr algn="l">
              <a:lnSpc>
                <a:spcPct val="130000"/>
              </a:lnSpc>
            </a:pPr>
            <a:r>
              <a:rPr sz="1200" b="0" u="sng">
                <a:solidFill>
                  <a:srgbClr val="0017C1"/>
                </a:solidFill>
                <a:latin typeface="Noto Sans JP"/>
                <a:ea typeface="Noto Sans JP"/>
                <a:cs typeface="Noto Sans JP"/>
                <a:hlinkClick r:id="rId5"/>
              </a:rPr>
              <a:t>https://genai.owasp.org/llmrisk/llm01-prompt-injection/</a:t>
            </a:r>
          </a:p>
        </p:txBody>
      </p:sp>
      <p:sp>
        <p:nvSpPr>
          <p:cNvPr id="22" name="TextBox 21"/>
          <p:cNvSpPr txBox="1"/>
          <p:nvPr/>
        </p:nvSpPr>
        <p:spPr>
          <a:xfrm>
            <a:off x="8686800" y="3200400"/>
            <a:ext cx="2895600" cy="533400"/>
          </a:xfrm>
          <a:prstGeom prst="rect">
            <a:avLst/>
          </a:prstGeom>
          <a:noFill/>
        </p:spPr>
        <p:txBody>
          <a:bodyPr wrap="square" lIns="0" rIns="0" tIns="0" bIns="0" anchor="t">
            <a:spAutoFit/>
          </a:bodyPr>
          <a:lstStyle/>
          <a:p>
            <a:pPr algn="l">
              <a:lnSpc>
                <a:spcPct val="170000"/>
              </a:lnSpc>
            </a:pPr>
            <a:r>
              <a:rPr sz="1200" b="0">
                <a:solidFill>
                  <a:srgbClr val="4D4D4D"/>
                </a:solidFill>
                <a:latin typeface="Noto Sans JP"/>
                <a:ea typeface="Noto Sans JP"/>
                <a:cs typeface="Noto Sans JP"/>
              </a:rPr>
              <a:t>外部コンテンツを介した指示の混入</a:t>
            </a:r>
          </a:p>
        </p:txBody>
      </p:sp>
      <p:sp>
        <p:nvSpPr>
          <p:cNvPr id="23" name="TextBox 22"/>
          <p:cNvSpPr txBox="1"/>
          <p:nvPr/>
        </p:nvSpPr>
        <p:spPr>
          <a:xfrm>
            <a:off x="609600" y="3790950"/>
            <a:ext cx="609600" cy="285750"/>
          </a:xfrm>
          <a:prstGeom prst="rect">
            <a:avLst/>
          </a:prstGeom>
          <a:noFill/>
        </p:spPr>
        <p:txBody>
          <a:bodyPr wrap="square" lIns="0" rIns="0" tIns="0" bIns="0" anchor="t">
            <a:spAutoFit/>
          </a:bodyPr>
          <a:lstStyle/>
          <a:p>
            <a:pPr algn="l">
              <a:lnSpc>
                <a:spcPct val="160000"/>
              </a:lnSpc>
            </a:pPr>
            <a:r>
              <a:rPr sz="1350" b="1">
                <a:solidFill>
                  <a:srgbClr val="0017C1"/>
                </a:solidFill>
                <a:latin typeface="Noto Sans JP"/>
                <a:ea typeface="Noto Sans JP"/>
                <a:cs typeface="Noto Sans JP"/>
              </a:rPr>
              <a:t>[4]</a:t>
            </a:r>
          </a:p>
        </p:txBody>
      </p:sp>
      <p:sp>
        <p:nvSpPr>
          <p:cNvPr id="24" name="TextBox 23"/>
          <p:cNvSpPr txBox="1"/>
          <p:nvPr/>
        </p:nvSpPr>
        <p:spPr>
          <a:xfrm>
            <a:off x="1219200" y="3790950"/>
            <a:ext cx="7086600" cy="285750"/>
          </a:xfrm>
          <a:prstGeom prst="rect">
            <a:avLst/>
          </a:prstGeom>
          <a:noFill/>
        </p:spPr>
        <p:txBody>
          <a:bodyPr wrap="square" lIns="0" rIns="0" tIns="0" bIns="0" anchor="t">
            <a:spAutoFit/>
          </a:bodyPr>
          <a:lstStyle/>
          <a:p>
            <a:pPr algn="l">
              <a:lnSpc>
                <a:spcPct val="160000"/>
              </a:lnSpc>
            </a:pPr>
            <a:r>
              <a:rPr sz="1350" b="1">
                <a:solidFill>
                  <a:srgbClr val="1A1A1A"/>
                </a:solidFill>
                <a:latin typeface="Noto Sans JP"/>
                <a:ea typeface="Noto Sans JP"/>
                <a:cs typeface="Noto Sans JP"/>
              </a:rPr>
              <a:t>OWASP｜LLM06:2025 Excessive Agency</a:t>
            </a:r>
          </a:p>
        </p:txBody>
      </p:sp>
      <p:sp>
        <p:nvSpPr>
          <p:cNvPr id="25" name="TextBox 24"/>
          <p:cNvSpPr txBox="1"/>
          <p:nvPr/>
        </p:nvSpPr>
        <p:spPr>
          <a:xfrm>
            <a:off x="1219200" y="4076700"/>
            <a:ext cx="7239000" cy="266700"/>
          </a:xfrm>
          <a:prstGeom prst="rect">
            <a:avLst/>
          </a:prstGeom>
          <a:noFill/>
        </p:spPr>
        <p:txBody>
          <a:bodyPr wrap="square" lIns="0" rIns="0" tIns="0" bIns="0" anchor="t">
            <a:spAutoFit/>
          </a:bodyPr>
          <a:lstStyle/>
          <a:p>
            <a:pPr algn="l">
              <a:lnSpc>
                <a:spcPct val="130000"/>
              </a:lnSpc>
            </a:pPr>
            <a:r>
              <a:rPr sz="1200" b="0" u="sng">
                <a:solidFill>
                  <a:srgbClr val="0017C1"/>
                </a:solidFill>
                <a:latin typeface="Noto Sans JP"/>
                <a:ea typeface="Noto Sans JP"/>
                <a:cs typeface="Noto Sans JP"/>
                <a:hlinkClick r:id="rId6"/>
              </a:rPr>
              <a:t>https://genai.owasp.org/llmrisk/llm062025-excessive-agency/</a:t>
            </a:r>
          </a:p>
        </p:txBody>
      </p:sp>
      <p:sp>
        <p:nvSpPr>
          <p:cNvPr id="26" name="TextBox 25"/>
          <p:cNvSpPr txBox="1"/>
          <p:nvPr/>
        </p:nvSpPr>
        <p:spPr>
          <a:xfrm>
            <a:off x="8686800" y="3829050"/>
            <a:ext cx="2895600" cy="533400"/>
          </a:xfrm>
          <a:prstGeom prst="rect">
            <a:avLst/>
          </a:prstGeom>
          <a:noFill/>
        </p:spPr>
        <p:txBody>
          <a:bodyPr wrap="square" lIns="0" rIns="0" tIns="0" bIns="0" anchor="t">
            <a:spAutoFit/>
          </a:bodyPr>
          <a:lstStyle/>
          <a:p>
            <a:pPr algn="l">
              <a:lnSpc>
                <a:spcPct val="170000"/>
              </a:lnSpc>
            </a:pPr>
            <a:r>
              <a:rPr sz="1200" b="0">
                <a:solidFill>
                  <a:srgbClr val="4D4D4D"/>
                </a:solidFill>
                <a:latin typeface="Noto Sans JP"/>
                <a:ea typeface="Noto Sans JP"/>
                <a:cs typeface="Noto Sans JP"/>
              </a:rPr>
              <a:t>権限の最小化・重要操作の制御</a:t>
            </a:r>
          </a:p>
        </p:txBody>
      </p:sp>
      <p:sp>
        <p:nvSpPr>
          <p:cNvPr id="27" name="TextBox 26"/>
          <p:cNvSpPr txBox="1"/>
          <p:nvPr/>
        </p:nvSpPr>
        <p:spPr>
          <a:xfrm>
            <a:off x="609600" y="4419600"/>
            <a:ext cx="609600" cy="285750"/>
          </a:xfrm>
          <a:prstGeom prst="rect">
            <a:avLst/>
          </a:prstGeom>
          <a:noFill/>
        </p:spPr>
        <p:txBody>
          <a:bodyPr wrap="square" lIns="0" rIns="0" tIns="0" bIns="0" anchor="t">
            <a:spAutoFit/>
          </a:bodyPr>
          <a:lstStyle/>
          <a:p>
            <a:pPr algn="l">
              <a:lnSpc>
                <a:spcPct val="160000"/>
              </a:lnSpc>
            </a:pPr>
            <a:r>
              <a:rPr sz="1350" b="1">
                <a:solidFill>
                  <a:srgbClr val="0017C1"/>
                </a:solidFill>
                <a:latin typeface="Noto Sans JP"/>
                <a:ea typeface="Noto Sans JP"/>
                <a:cs typeface="Noto Sans JP"/>
              </a:rPr>
              <a:t>[5]</a:t>
            </a:r>
          </a:p>
        </p:txBody>
      </p:sp>
      <p:sp>
        <p:nvSpPr>
          <p:cNvPr id="28" name="TextBox 27"/>
          <p:cNvSpPr txBox="1"/>
          <p:nvPr/>
        </p:nvSpPr>
        <p:spPr>
          <a:xfrm>
            <a:off x="1219200" y="4419600"/>
            <a:ext cx="7086600" cy="285750"/>
          </a:xfrm>
          <a:prstGeom prst="rect">
            <a:avLst/>
          </a:prstGeom>
          <a:noFill/>
        </p:spPr>
        <p:txBody>
          <a:bodyPr wrap="square" lIns="0" rIns="0" tIns="0" bIns="0" anchor="t">
            <a:spAutoFit/>
          </a:bodyPr>
          <a:lstStyle/>
          <a:p>
            <a:pPr algn="l">
              <a:lnSpc>
                <a:spcPct val="160000"/>
              </a:lnSpc>
            </a:pPr>
            <a:r>
              <a:rPr sz="1350" b="1">
                <a:solidFill>
                  <a:srgbClr val="1A1A1A"/>
                </a:solidFill>
                <a:latin typeface="Noto Sans JP"/>
                <a:ea typeface="Noto Sans JP"/>
                <a:cs typeface="Noto Sans JP"/>
              </a:rPr>
              <a:t>DORA｜Software delivery performance metrics</a:t>
            </a:r>
          </a:p>
        </p:txBody>
      </p:sp>
      <p:sp>
        <p:nvSpPr>
          <p:cNvPr id="29" name="TextBox 28"/>
          <p:cNvSpPr txBox="1"/>
          <p:nvPr/>
        </p:nvSpPr>
        <p:spPr>
          <a:xfrm>
            <a:off x="1219200" y="4705350"/>
            <a:ext cx="7239000" cy="266700"/>
          </a:xfrm>
          <a:prstGeom prst="rect">
            <a:avLst/>
          </a:prstGeom>
          <a:noFill/>
        </p:spPr>
        <p:txBody>
          <a:bodyPr wrap="square" lIns="0" rIns="0" tIns="0" bIns="0" anchor="t">
            <a:spAutoFit/>
          </a:bodyPr>
          <a:lstStyle/>
          <a:p>
            <a:pPr algn="l">
              <a:lnSpc>
                <a:spcPct val="130000"/>
              </a:lnSpc>
            </a:pPr>
            <a:r>
              <a:rPr sz="1200" b="0" u="sng">
                <a:solidFill>
                  <a:srgbClr val="0017C1"/>
                </a:solidFill>
                <a:latin typeface="Noto Sans JP"/>
                <a:ea typeface="Noto Sans JP"/>
                <a:cs typeface="Noto Sans JP"/>
                <a:hlinkClick r:id="rId7"/>
              </a:rPr>
              <a:t>https://dora.dev/guides/dora-metrics/</a:t>
            </a:r>
          </a:p>
        </p:txBody>
      </p:sp>
      <p:sp>
        <p:nvSpPr>
          <p:cNvPr id="30" name="TextBox 29"/>
          <p:cNvSpPr txBox="1"/>
          <p:nvPr/>
        </p:nvSpPr>
        <p:spPr>
          <a:xfrm>
            <a:off x="8686800" y="4457700"/>
            <a:ext cx="2895600" cy="533400"/>
          </a:xfrm>
          <a:prstGeom prst="rect">
            <a:avLst/>
          </a:prstGeom>
          <a:noFill/>
        </p:spPr>
        <p:txBody>
          <a:bodyPr wrap="square" lIns="0" rIns="0" tIns="0" bIns="0" anchor="t">
            <a:spAutoFit/>
          </a:bodyPr>
          <a:lstStyle/>
          <a:p>
            <a:pPr algn="l">
              <a:lnSpc>
                <a:spcPct val="170000"/>
              </a:lnSpc>
            </a:pPr>
            <a:r>
              <a:rPr sz="1200" b="0">
                <a:solidFill>
                  <a:srgbClr val="4D4D4D"/>
                </a:solidFill>
                <a:latin typeface="Noto Sans JP"/>
                <a:ea typeface="Noto Sans JP"/>
                <a:cs typeface="Noto Sans JP"/>
              </a:rPr>
              <a:t>変更の流れと不安定性を測る観点</a:t>
            </a:r>
          </a:p>
        </p:txBody>
      </p:sp>
      <p:sp>
        <p:nvSpPr>
          <p:cNvPr id="31" name="Rectangle 30"/>
          <p:cNvSpPr/>
          <p:nvPr/>
        </p:nvSpPr>
        <p:spPr>
          <a:xfrm>
            <a:off x="609600" y="5181600"/>
            <a:ext cx="10972800" cy="9525"/>
          </a:xfrm>
          <a:prstGeom prst="rect">
            <a:avLst/>
          </a:prstGeom>
          <a:solidFill>
            <a:srgbClr val="9494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609600" y="5353050"/>
            <a:ext cx="10972800" cy="476250"/>
          </a:xfrm>
          <a:prstGeom prst="rect">
            <a:avLst/>
          </a:prstGeom>
          <a:noFill/>
        </p:spPr>
        <p:txBody>
          <a:bodyPr wrap="square" lIns="0" rIns="0" tIns="0" bIns="0" anchor="t">
            <a:spAutoFit/>
          </a:bodyPr>
          <a:lstStyle/>
          <a:p>
            <a:pPr algn="l">
              <a:lnSpc>
                <a:spcPct val="170000"/>
              </a:lnSpc>
            </a:pPr>
            <a:r>
              <a:rPr sz="1200" b="0">
                <a:solidFill>
                  <a:srgbClr val="4D4D4D"/>
                </a:solidFill>
                <a:latin typeface="Noto Sans JP"/>
                <a:ea typeface="Noto Sans JP"/>
                <a:cs typeface="Noto Sans JP"/>
              </a:rPr>
              <a:t>出典：デジタル庁デザインシステムウェブサイト https://design.digital.go.jp/dads/ のコンテンツを加工して作成</a:t>
            </a:r>
          </a:p>
        </p:txBody>
      </p:sp>
      <p:sp>
        <p:nvSpPr>
          <p:cNvPr id="33" name="TextBox 32"/>
          <p:cNvSpPr txBox="1"/>
          <p:nvPr/>
        </p:nvSpPr>
        <p:spPr>
          <a:xfrm>
            <a:off x="609600" y="5810250"/>
            <a:ext cx="10972800" cy="266700"/>
          </a:xfrm>
          <a:prstGeom prst="rect">
            <a:avLst/>
          </a:prstGeom>
          <a:noFill/>
        </p:spPr>
        <p:txBody>
          <a:bodyPr wrap="square" lIns="0" rIns="0" tIns="0" bIns="0" anchor="t">
            <a:spAutoFit/>
          </a:bodyPr>
          <a:lstStyle/>
          <a:p>
            <a:pPr algn="l">
              <a:lnSpc>
                <a:spcPct val="170000"/>
              </a:lnSpc>
            </a:pPr>
            <a:r>
              <a:rPr sz="1200" b="0">
                <a:solidFill>
                  <a:srgbClr val="4D4D4D"/>
                </a:solidFill>
                <a:latin typeface="Noto Sans JP"/>
                <a:ea typeface="Noto Sans JP"/>
                <a:cs typeface="Noto Sans JP"/>
              </a:rPr>
              <a:t>本資料はデジタル庁が作成・監修したものではありません。</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AI駆動開発ガイド</dc:title>
  <dc:subject>AIを使う開発チームのための実践ガイド</dc:subject>
  <dc:creator/>
  <cp:keywords>AI駆動開発, 生成AI, ソフトウェア開発, DADS</cp:keywords>
  <dc:description>DADSの基本デザインをPowerPointへ写像。公式の監修資料ではありません。</dc:description>
  <cp:lastModifiedBy>Steve Canny</cp:lastModifiedBy>
  <cp:revision>1</cp:revision>
  <dcterms:created xsi:type="dcterms:W3CDTF">2013-01-27T09:14:16Z</dcterms:created>
  <dcterms:modified xsi:type="dcterms:W3CDTF">2013-01-27T09:15:58Z</dcterms:modified>
  <cp:category/>
</cp:coreProperties>
</file>