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497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200" y="1905000"/>
            <a:ext cx="8572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DB7F9"/>
                </a:solidFill>
                <a:latin typeface="Noto Sans JP"/>
                <a:ea typeface="Noto Sans JP"/>
                <a:cs typeface="Noto Sans JP"/>
              </a:rPr>
              <a:t>AI-DRIVEN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2343150"/>
            <a:ext cx="9525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4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AI駆動開発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3543300"/>
            <a:ext cx="1143000" cy="38100"/>
          </a:xfrm>
          <a:prstGeom prst="rect">
            <a:avLst/>
          </a:prstGeom>
          <a:solidFill>
            <a:srgbClr val="497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3848100"/>
            <a:ext cx="8191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D9E6FF"/>
                </a:solidFill>
                <a:latin typeface="Noto Sans JP"/>
                <a:ea typeface="Noto Sans JP"/>
                <a:cs typeface="Noto Sans JP"/>
              </a:rPr>
              <a:t>開発プロセス全体にAIを組み込むための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D9E6FF"/>
                </a:solidFill>
                <a:latin typeface="Noto Sans JP"/>
                <a:ea typeface="Noto Sans JP"/>
                <a:cs typeface="Noto Sans JP"/>
              </a:rPr>
              <a:t>考え方・進め方・リスク対策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200" y="5715000"/>
            <a:ext cx="10515600" cy="9525"/>
          </a:xfrm>
          <a:prstGeom prst="rect">
            <a:avLst/>
          </a:prstGeom>
          <a:solidFill>
            <a:srgbClr val="000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" y="590550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C5D7FB"/>
                </a:solidFill>
                <a:latin typeface="Noto Sans JP"/>
                <a:ea typeface="Noto Sans JP"/>
                <a:cs typeface="Noto Sans JP"/>
              </a:rPr>
              <a:t>社内勉強会資料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590550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0">
                <a:solidFill>
                  <a:srgbClr val="C5D7FB"/>
                </a:solidFill>
                <a:latin typeface="Noto Sans JP"/>
                <a:ea typeface="Noto Sans JP"/>
                <a:cs typeface="Noto Sans JP"/>
              </a:rPr>
              <a:t>2026年9月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95300"/>
            <a:ext cx="57150" cy="24765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495300"/>
            <a:ext cx="108204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001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目次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33500"/>
            <a:ext cx="10972800" cy="19050"/>
          </a:xfrm>
          <a:prstGeom prst="rect">
            <a:avLst/>
          </a:prstGeom>
          <a:solidFill>
            <a:srgbClr val="949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1790700"/>
            <a:ext cx="53340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1981200"/>
            <a:ext cx="38100" cy="68580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6300" y="1790700"/>
            <a:ext cx="533400" cy="1066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210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1790700"/>
            <a:ext cx="4229100" cy="1066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AI駆動開発とは</a:t>
            </a:r>
          </a:p>
          <a:p>
            <a:pPr algn="l">
              <a:lnSpc>
                <a:spcPct val="170000"/>
              </a:lnSpc>
              <a:spcBef>
                <a:spcPts val="300"/>
              </a:spcBef>
            </a:pPr>
            <a:r>
              <a:rPr sz="120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定義と、従来の開発との違い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600" y="3086100"/>
            <a:ext cx="53340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3276600"/>
            <a:ext cx="38100" cy="68580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6300" y="3086100"/>
            <a:ext cx="533400" cy="1066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210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5900" y="3086100"/>
            <a:ext cx="4229100" cy="1066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取り組む背景</a:t>
            </a:r>
          </a:p>
          <a:p>
            <a:pPr algn="l">
              <a:lnSpc>
                <a:spcPct val="170000"/>
              </a:lnSpc>
              <a:spcBef>
                <a:spcPts val="300"/>
              </a:spcBef>
            </a:pPr>
            <a:r>
              <a:rPr sz="120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いま検討する理由と、前提の整理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600" y="4381500"/>
            <a:ext cx="53340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600" y="4572000"/>
            <a:ext cx="38100" cy="68580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6300" y="4381500"/>
            <a:ext cx="533400" cy="1066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210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5900" y="4381500"/>
            <a:ext cx="4229100" cy="1066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適用領域とツール</a:t>
            </a:r>
          </a:p>
          <a:p>
            <a:pPr algn="l">
              <a:lnSpc>
                <a:spcPct val="170000"/>
              </a:lnSpc>
              <a:spcBef>
                <a:spcPts val="300"/>
              </a:spcBef>
            </a:pPr>
            <a:r>
              <a:rPr sz="120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工程ごとの使いどころと選定観点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8400" y="1790700"/>
            <a:ext cx="53340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8400" y="1981200"/>
            <a:ext cx="38100" cy="68580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5100" y="1790700"/>
            <a:ext cx="533400" cy="1066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210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24700" y="1790700"/>
            <a:ext cx="4229100" cy="1066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導入の進め方</a:t>
            </a:r>
          </a:p>
          <a:p>
            <a:pPr algn="l">
              <a:lnSpc>
                <a:spcPct val="170000"/>
              </a:lnSpc>
              <a:spcBef>
                <a:spcPts val="300"/>
              </a:spcBef>
            </a:pPr>
            <a:r>
              <a:rPr sz="120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4フェーズのロードマップとKPI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8400" y="3086100"/>
            <a:ext cx="53340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48400" y="3276600"/>
            <a:ext cx="38100" cy="68580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5100" y="3086100"/>
            <a:ext cx="533400" cy="1066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210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24700" y="3086100"/>
            <a:ext cx="4229100" cy="1066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品質・リスク・ガバナンス</a:t>
            </a:r>
          </a:p>
          <a:p>
            <a:pPr algn="l">
              <a:lnSpc>
                <a:spcPct val="170000"/>
              </a:lnSpc>
              <a:spcBef>
                <a:spcPts val="300"/>
              </a:spcBef>
            </a:pPr>
            <a:r>
              <a:rPr sz="120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検証の仕組みとルール整備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48400" y="4381500"/>
            <a:ext cx="53340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48400" y="4572000"/>
            <a:ext cx="38100" cy="68580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5100" y="4381500"/>
            <a:ext cx="533400" cy="1066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210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24700" y="4381500"/>
            <a:ext cx="4229100" cy="1066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組織と役割の変化</a:t>
            </a:r>
          </a:p>
          <a:p>
            <a:pPr algn="l">
              <a:lnSpc>
                <a:spcPct val="170000"/>
              </a:lnSpc>
              <a:spcBef>
                <a:spcPts val="300"/>
              </a:spcBef>
            </a:pPr>
            <a:r>
              <a:rPr sz="120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スキルシフトとアンチパターン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" y="6286500"/>
            <a:ext cx="109728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9600" y="6400800"/>
            <a:ext cx="666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AI駆動開発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77400" y="64008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95300"/>
            <a:ext cx="57150" cy="24765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495300"/>
            <a:ext cx="108204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01 ── AI駆動開発とは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001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AIを前提に開発プロセスを組み直すこと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33500"/>
            <a:ext cx="10972800" cy="19050"/>
          </a:xfrm>
          <a:prstGeom prst="rect">
            <a:avLst/>
          </a:prstGeom>
          <a:solidFill>
            <a:srgbClr val="949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1828800"/>
            <a:ext cx="10972800" cy="914400"/>
          </a:xfrm>
          <a:prstGeom prst="roundRect">
            <a:avLst>
              <a:gd name="adj" fmla="val 12500"/>
            </a:avLst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3632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00118F"/>
                </a:solidFill>
                <a:latin typeface="Noto Sans JP"/>
                <a:ea typeface="Noto Sans JP"/>
                <a:cs typeface="Noto Sans JP"/>
              </a:rPr>
              <a:t>生成AI・AIエージェントを開発の主要な作業単位として組み込み、要件定義から運用まで</a:t>
            </a:r>
          </a:p>
          <a:p>
            <a:pPr algn="l">
              <a:lnSpc>
                <a:spcPct val="150000"/>
              </a:lnSpc>
            </a:pPr>
            <a:r>
              <a:rPr sz="1500" b="1">
                <a:solidFill>
                  <a:srgbClr val="00118F"/>
                </a:solidFill>
                <a:latin typeface="Noto Sans JP"/>
                <a:ea typeface="Noto Sans JP"/>
                <a:cs typeface="Noto Sans JP"/>
              </a:rPr>
              <a:t>の各工程を「AIが下書きし、人が判断・検証する」形へ再設計する開発スタイル。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2971800"/>
            <a:ext cx="3556000" cy="1771650"/>
          </a:xfrm>
          <a:prstGeom prst="rect">
            <a:avLst/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2971800"/>
            <a:ext cx="3556000" cy="5715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3276600"/>
            <a:ext cx="309880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コード生成だけではない</a:t>
            </a:r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要件整理、設計案の比較、テスト設計、レビュー、ドキュメント、運用時の調査まで対象になる。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8000" y="2971800"/>
            <a:ext cx="3556000" cy="1771650"/>
          </a:xfrm>
          <a:prstGeom prst="rect">
            <a:avLst/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8000" y="2971800"/>
            <a:ext cx="3556000" cy="5715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3276600"/>
            <a:ext cx="309880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人の役割は「決める・確かめる」</a:t>
            </a:r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書く時間が減る分を、課題定義・受け入れ基準の設計・検証に再配分する。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26400" y="2971800"/>
            <a:ext cx="3556000" cy="1771650"/>
          </a:xfrm>
          <a:prstGeom prst="rect">
            <a:avLst/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26400" y="2971800"/>
            <a:ext cx="3556000" cy="5715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5000" y="3276600"/>
            <a:ext cx="309880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前提は再現可能なプロセス</a:t>
            </a:r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仕様・テスト・CIが整っているほど、AIの出力品質と安全性が安定する。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4991100"/>
            <a:ext cx="10972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90500" indent="-190500">
              <a:lnSpc>
                <a:spcPct val="170000"/>
              </a:lnSpc>
              <a:buFont typeface="Noto Sans JP"/>
              <a:buChar char="※"/>
            </a:pPr>
            <a:r>
              <a:rPr sz="1275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ツールを配布することがAI駆動開発ではない。作業の分担と検証の方法を定義して、はじめて成立する。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600" y="6286500"/>
            <a:ext cx="109728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600" y="6400800"/>
            <a:ext cx="666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AI駆動開発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77400" y="64008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95300"/>
            <a:ext cx="57150" cy="24765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495300"/>
            <a:ext cx="108204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01 ── AI駆動開発とは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001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従来の開発との違い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33500"/>
            <a:ext cx="10972800" cy="19050"/>
          </a:xfrm>
          <a:prstGeom prst="rect">
            <a:avLst/>
          </a:prstGeom>
          <a:solidFill>
            <a:srgbClr val="949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1447800"/>
            <a:ext cx="109728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75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ボトルネックが「実装速度」から「仕様の曖昧さとレビュー容量」へ移る。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1905000"/>
            <a:ext cx="10972800" cy="457200"/>
          </a:xfrm>
          <a:prstGeom prst="rect">
            <a:avLst/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1905000"/>
            <a:ext cx="210921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観点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76016" y="1905000"/>
            <a:ext cx="39745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従来の開発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5408" y="1905000"/>
            <a:ext cx="39745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AI駆動開発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2362200"/>
            <a:ext cx="10972800" cy="1905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2381250"/>
            <a:ext cx="2109216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成果物の起点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76016" y="2381250"/>
            <a:ext cx="3974592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人が一次ドラフトを作成する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5408" y="2381250"/>
            <a:ext cx="3974592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AIが一次ドラフト、人が確定させる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2933700"/>
            <a:ext cx="109728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000" y="2943225"/>
            <a:ext cx="2109216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主なボトルネック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76016" y="2943225"/>
            <a:ext cx="3974592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実装そのものの速度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5408" y="2943225"/>
            <a:ext cx="3974592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仕様の曖昧さ・レビューの処理量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3495675"/>
            <a:ext cx="109728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2000" y="3505200"/>
            <a:ext cx="2109216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品質の担保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76016" y="3505200"/>
            <a:ext cx="3974592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レビューとテスト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5408" y="3505200"/>
            <a:ext cx="3974592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自動テストと静的解析＋人のレビュー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600" y="4057650"/>
            <a:ext cx="109728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2000" y="4067175"/>
            <a:ext cx="2109216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求められるスキル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76016" y="4067175"/>
            <a:ext cx="3974592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実装力・設計力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5408" y="4067175"/>
            <a:ext cx="3974592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課題定義力・検証設計力・文脈の言語化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600" y="4619625"/>
            <a:ext cx="109728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000" y="4629150"/>
            <a:ext cx="2109216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コスト構造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76016" y="4629150"/>
            <a:ext cx="3974592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人月が中心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5408" y="4629150"/>
            <a:ext cx="3974592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人月＋AI利用料（従量）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09600" y="5295900"/>
            <a:ext cx="10972800" cy="647700"/>
          </a:xfrm>
          <a:prstGeom prst="roundRect">
            <a:avLst>
              <a:gd name="adj" fmla="val 17647"/>
            </a:avLst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295900"/>
            <a:ext cx="10363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75" b="0">
                <a:solidFill>
                  <a:srgbClr val="00118F"/>
                </a:solidFill>
                <a:latin typeface="Noto Sans JP"/>
                <a:ea typeface="Noto Sans JP"/>
                <a:cs typeface="Noto Sans JP"/>
              </a:rPr>
              <a:t>違いの本質は「速く書けること」ではなく、判断と検証にかける時間の配分が変わること。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9600" y="6286500"/>
            <a:ext cx="109728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600" y="6400800"/>
            <a:ext cx="666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AI駆動開発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77400" y="64008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95300"/>
            <a:ext cx="57150" cy="24765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495300"/>
            <a:ext cx="108204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02 ── 取り組む背景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001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いま検討する理由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33500"/>
            <a:ext cx="10972800" cy="19050"/>
          </a:xfrm>
          <a:prstGeom prst="rect">
            <a:avLst/>
          </a:prstGeom>
          <a:solidFill>
            <a:srgbClr val="949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1809750"/>
            <a:ext cx="10972800" cy="1104900"/>
          </a:xfrm>
          <a:prstGeom prst="roundRect">
            <a:avLst>
              <a:gd name="adj" fmla="val 10344"/>
            </a:avLst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6300" y="2133600"/>
            <a:ext cx="457200" cy="457200"/>
          </a:xfrm>
          <a:prstGeom prst="ellipse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6300" y="2133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62100" y="1981200"/>
            <a:ext cx="97155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モデルと実行環境の進歩</a:t>
            </a:r>
          </a:p>
          <a:p>
            <a:pPr algn="l" marL="190500" indent="-190500">
              <a:lnSpc>
                <a:spcPct val="170000"/>
              </a:lnSpc>
              <a:buFont typeface="Noto Sans JP"/>
              <a:buChar char="・"/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長い文脈を扱えるようになり、リポジトリ全体を前提とした作業が可能になった。</a:t>
            </a:r>
          </a:p>
          <a:p>
            <a:pPr algn="l" marL="190500" indent="-190500">
              <a:lnSpc>
                <a:spcPct val="170000"/>
              </a:lnSpc>
              <a:buFont typeface="Noto Sans JP"/>
              <a:buChar char="・"/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計画・実行・検証を繰り返すエージェント型の利用が現実的になった。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600" y="3067050"/>
            <a:ext cx="10972800" cy="1104900"/>
          </a:xfrm>
          <a:prstGeom prst="roundRect">
            <a:avLst>
              <a:gd name="adj" fmla="val 10344"/>
            </a:avLst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6300" y="3390900"/>
            <a:ext cx="457200" cy="457200"/>
          </a:xfrm>
          <a:prstGeom prst="ellipse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6300" y="33909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62100" y="3238500"/>
            <a:ext cx="97155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開発ワークフローへの統合</a:t>
            </a:r>
          </a:p>
          <a:p>
            <a:pPr algn="l" marL="190500" indent="-190500">
              <a:lnSpc>
                <a:spcPct val="170000"/>
              </a:lnSpc>
              <a:buFont typeface="Noto Sans JP"/>
              <a:buChar char="・"/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IDE・CI・課題管理に組み込まれ、日常の作業導線の中で使えるようになった。</a:t>
            </a:r>
          </a:p>
          <a:p>
            <a:pPr algn="l" marL="190500" indent="-190500">
              <a:lnSpc>
                <a:spcPct val="170000"/>
              </a:lnSpc>
              <a:buFont typeface="Noto Sans JP"/>
              <a:buChar char="・"/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利用ログや権限管理など、組織で運用するための機能が整ってきた。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600" y="4324350"/>
            <a:ext cx="10972800" cy="1104900"/>
          </a:xfrm>
          <a:prstGeom prst="roundRect">
            <a:avLst>
              <a:gd name="adj" fmla="val 10344"/>
            </a:avLst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76300" y="4648200"/>
            <a:ext cx="457200" cy="457200"/>
          </a:xfrm>
          <a:prstGeom prst="ellipse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6300" y="4648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62100" y="4495800"/>
            <a:ext cx="97155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増員に頼らない生産性の要求</a:t>
            </a:r>
          </a:p>
          <a:p>
            <a:pPr algn="l" marL="190500" indent="-190500">
              <a:lnSpc>
                <a:spcPct val="170000"/>
              </a:lnSpc>
              <a:buFont typeface="Noto Sans JP"/>
              <a:buChar char="・"/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人材の確保が難しく、既存チームの生産性向上が現実的な選択肢になっている。</a:t>
            </a:r>
          </a:p>
          <a:p>
            <a:pPr algn="l" marL="190500" indent="-190500">
              <a:lnSpc>
                <a:spcPct val="170000"/>
              </a:lnSpc>
              <a:buFont typeface="Noto Sans JP"/>
              <a:buChar char="・"/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レガシー資産の保守・移行など、労力の大きい領域が残っている。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600" y="5638800"/>
            <a:ext cx="10972800" cy="533400"/>
          </a:xfrm>
          <a:prstGeom prst="roundRect">
            <a:avLst>
              <a:gd name="adj" fmla="val 14285"/>
            </a:avLst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200" y="5638800"/>
            <a:ext cx="105156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75" b="0">
                <a:solidFill>
                  <a:srgbClr val="00118F"/>
                </a:solidFill>
                <a:latin typeface="Noto Sans JP"/>
                <a:ea typeface="Noto Sans JP"/>
                <a:cs typeface="Noto Sans JP"/>
              </a:rPr>
              <a:t>注意：「導入すれば速くなる」わけではない。効果は対象工程の選び方と運用ルールの設計に依存する。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" y="6286500"/>
            <a:ext cx="109728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600" y="6400800"/>
            <a:ext cx="666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AI駆動開発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77400" y="64008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95300"/>
            <a:ext cx="57150" cy="24765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495300"/>
            <a:ext cx="108204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03 ── 適用領域とツール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001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開発プロセスにおける適用領域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33500"/>
            <a:ext cx="10972800" cy="19050"/>
          </a:xfrm>
          <a:prstGeom prst="rect">
            <a:avLst/>
          </a:prstGeom>
          <a:solidFill>
            <a:srgbClr val="949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1447800"/>
            <a:ext cx="109728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75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上流ほど「案出しと整理」、下流ほど「生成と検査」に効く。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133600"/>
            <a:ext cx="173355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133600"/>
            <a:ext cx="1733550" cy="38100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2133600"/>
            <a:ext cx="17335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要件定義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667000"/>
            <a:ext cx="1428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論点の洗い出し／ユーザーストーリーの草案／曖昧な記述の検出</a:t>
            </a:r>
          </a:p>
        </p:txBody>
      </p:sp>
      <p:sp>
        <p:nvSpPr>
          <p:cNvPr id="12" name="Isosceles Triangle 11"/>
          <p:cNvSpPr/>
          <p:nvPr/>
        </p:nvSpPr>
        <p:spPr>
          <a:xfrm rot="5400000">
            <a:off x="2352675" y="2276475"/>
            <a:ext cx="95250" cy="95250"/>
          </a:xfrm>
          <a:prstGeom prst="triangle">
            <a:avLst/>
          </a:prstGeom>
          <a:solidFill>
            <a:srgbClr val="949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57450" y="2133600"/>
            <a:ext cx="173355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57450" y="2133600"/>
            <a:ext cx="1733550" cy="38100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57450" y="2133600"/>
            <a:ext cx="17335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設計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9850" y="2667000"/>
            <a:ext cx="1428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方式の比較検討／インターフェース定義／設計判断記録のたたき台</a:t>
            </a:r>
          </a:p>
        </p:txBody>
      </p:sp>
      <p:sp>
        <p:nvSpPr>
          <p:cNvPr id="17" name="Isosceles Triangle 16"/>
          <p:cNvSpPr/>
          <p:nvPr/>
        </p:nvSpPr>
        <p:spPr>
          <a:xfrm rot="5400000">
            <a:off x="4200525" y="2276475"/>
            <a:ext cx="95250" cy="95250"/>
          </a:xfrm>
          <a:prstGeom prst="triangle">
            <a:avLst/>
          </a:prstGeom>
          <a:solidFill>
            <a:srgbClr val="949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5300" y="2133600"/>
            <a:ext cx="173355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05300" y="2133600"/>
            <a:ext cx="1733550" cy="38100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05300" y="2133600"/>
            <a:ext cx="17335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実装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7700" y="2667000"/>
            <a:ext cx="1428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コード生成／リファクタリング／既存資産の移行・移植</a:t>
            </a:r>
          </a:p>
        </p:txBody>
      </p:sp>
      <p:sp>
        <p:nvSpPr>
          <p:cNvPr id="22" name="Isosceles Triangle 21"/>
          <p:cNvSpPr/>
          <p:nvPr/>
        </p:nvSpPr>
        <p:spPr>
          <a:xfrm rot="5400000">
            <a:off x="6048375" y="2276475"/>
            <a:ext cx="95250" cy="95250"/>
          </a:xfrm>
          <a:prstGeom prst="triangle">
            <a:avLst/>
          </a:prstGeom>
          <a:solidFill>
            <a:srgbClr val="949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53150" y="2133600"/>
            <a:ext cx="173355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53150" y="2133600"/>
            <a:ext cx="1733550" cy="38100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53150" y="2133600"/>
            <a:ext cx="17335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テスト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5550" y="2667000"/>
            <a:ext cx="1428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テスト観点の列挙／単体テストの生成／テストデータの作成</a:t>
            </a:r>
          </a:p>
        </p:txBody>
      </p:sp>
      <p:sp>
        <p:nvSpPr>
          <p:cNvPr id="27" name="Isosceles Triangle 26"/>
          <p:cNvSpPr/>
          <p:nvPr/>
        </p:nvSpPr>
        <p:spPr>
          <a:xfrm rot="5400000">
            <a:off x="7896225" y="2276475"/>
            <a:ext cx="95250" cy="95250"/>
          </a:xfrm>
          <a:prstGeom prst="triangle">
            <a:avLst/>
          </a:prstGeom>
          <a:solidFill>
            <a:srgbClr val="949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01000" y="2133600"/>
            <a:ext cx="173355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01000" y="2133600"/>
            <a:ext cx="1733550" cy="38100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2133600"/>
            <a:ext cx="17335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レビュー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53400" y="2667000"/>
            <a:ext cx="1428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差分の要約／観点別の指摘／静的解析結果の整理</a:t>
            </a:r>
          </a:p>
        </p:txBody>
      </p:sp>
      <p:sp>
        <p:nvSpPr>
          <p:cNvPr id="32" name="Isosceles Triangle 31"/>
          <p:cNvSpPr/>
          <p:nvPr/>
        </p:nvSpPr>
        <p:spPr>
          <a:xfrm rot="5400000">
            <a:off x="9744075" y="2276475"/>
            <a:ext cx="95250" cy="95250"/>
          </a:xfrm>
          <a:prstGeom prst="triangle">
            <a:avLst/>
          </a:prstGeom>
          <a:solidFill>
            <a:srgbClr val="949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848850" y="2133600"/>
            <a:ext cx="173355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848850" y="2133600"/>
            <a:ext cx="1733550" cy="38100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48850" y="2133600"/>
            <a:ext cx="17335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運用・保守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01250" y="2667000"/>
            <a:ext cx="1428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障害調査の補助／ログ要約／ドキュメントの追随更新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9600" y="4381500"/>
            <a:ext cx="10972800" cy="1333500"/>
          </a:xfrm>
          <a:prstGeom prst="roundRect">
            <a:avLst>
              <a:gd name="adj" fmla="val 8571"/>
            </a:avLst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610100"/>
            <a:ext cx="103632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50" b="1">
                <a:solidFill>
                  <a:srgbClr val="00118F"/>
                </a:solidFill>
                <a:latin typeface="Noto Sans JP"/>
                <a:ea typeface="Noto Sans JP"/>
                <a:cs typeface="Noto Sans JP"/>
              </a:rPr>
              <a:t>最初に着手する領域の選び方</a:t>
            </a:r>
          </a:p>
          <a:p>
            <a:pPr algn="l">
              <a:lnSpc>
                <a:spcPct val="170000"/>
              </a:lnSpc>
              <a:spcBef>
                <a:spcPts val="300"/>
              </a:spcBef>
            </a:pPr>
            <a:r>
              <a:rPr sz="120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影響範囲が閉じている／正解の判定が自動化できる／繰り返し発生する、の3条件を満たす作業から始める。</a:t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例：単体テストの追加、定型的な移行作業、レビュー前の差分要約、ドキュメントの更新。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9600" y="6286500"/>
            <a:ext cx="109728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600" y="6400800"/>
            <a:ext cx="666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AI駆動開発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77400" y="64008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95300"/>
            <a:ext cx="57150" cy="24765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495300"/>
            <a:ext cx="108204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03 ── 適用領域とツール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001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ツールの分類と選定の観点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33500"/>
            <a:ext cx="10972800" cy="19050"/>
          </a:xfrm>
          <a:prstGeom prst="rect">
            <a:avLst/>
          </a:prstGeom>
          <a:solidFill>
            <a:srgbClr val="949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1828800"/>
            <a:ext cx="2628900" cy="205740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0100" y="2057400"/>
            <a:ext cx="2247900" cy="266700"/>
          </a:xfrm>
          <a:prstGeom prst="roundRect">
            <a:avLst>
              <a:gd name="adj" fmla="val 28571"/>
            </a:avLst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補完型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2476500"/>
            <a:ext cx="22479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5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インラインでの入力補完</a:t>
            </a:r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導入が容易で既存フローを変えない。効果は実装工程に限定される。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0900" y="1828800"/>
            <a:ext cx="2628900" cy="205740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81400" y="2057400"/>
            <a:ext cx="2247900" cy="266700"/>
          </a:xfrm>
          <a:prstGeom prst="roundRect">
            <a:avLst>
              <a:gd name="adj" fmla="val 28571"/>
            </a:avLst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対話型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1400" y="2476500"/>
            <a:ext cx="22479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5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チャット／IDE統合</a:t>
            </a:r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設計相談・調査・影響範囲の把握に向く。文脈の与え方で品質が変わる。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828800"/>
            <a:ext cx="2628900" cy="205740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62700" y="2057400"/>
            <a:ext cx="2247900" cy="266700"/>
          </a:xfrm>
          <a:prstGeom prst="roundRect">
            <a:avLst>
              <a:gd name="adj" fmla="val 28571"/>
            </a:avLst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エージェント型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2700" y="2476500"/>
            <a:ext cx="22479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5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自律的に複数手順を実行</a:t>
            </a:r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横断的な変更やテスト実行まで担う。権限と実行範囲の設計が要になる。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3500" y="1828800"/>
            <a:ext cx="2628900" cy="205740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0" y="2057400"/>
            <a:ext cx="2247900" cy="266700"/>
          </a:xfrm>
          <a:prstGeom prst="roundRect">
            <a:avLst>
              <a:gd name="adj" fmla="val 28571"/>
            </a:avLst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自動化組込型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476500"/>
            <a:ext cx="22479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5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CI／レビューへの組込</a:t>
            </a:r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レビュー補助やテスト生成を常時実行。属人性を減らせる。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4152900"/>
            <a:ext cx="109728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選定時に確認する4点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600" y="4533900"/>
            <a:ext cx="2628900" cy="12573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0100" y="4762500"/>
            <a:ext cx="114300" cy="114300"/>
          </a:xfrm>
          <a:prstGeom prst="roundRect">
            <a:avLst>
              <a:gd name="adj" fmla="val 16666"/>
            </a:avLst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" y="4972050"/>
            <a:ext cx="22479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75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入力データの扱い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05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学習利用の有無、保存期間、リージョン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90900" y="4533900"/>
            <a:ext cx="2628900" cy="12573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81400" y="4762500"/>
            <a:ext cx="114300" cy="114300"/>
          </a:xfrm>
          <a:prstGeom prst="roundRect">
            <a:avLst>
              <a:gd name="adj" fmla="val 16666"/>
            </a:avLst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81400" y="4972050"/>
            <a:ext cx="22479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75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権限とログ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05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アカウント管理、操作ログ、実行範囲の制限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533900"/>
            <a:ext cx="2628900" cy="12573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62700" y="4762500"/>
            <a:ext cx="114300" cy="114300"/>
          </a:xfrm>
          <a:prstGeom prst="roundRect">
            <a:avLst>
              <a:gd name="adj" fmla="val 16666"/>
            </a:avLst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2700" y="4972050"/>
            <a:ext cx="22479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75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既存環境との接続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05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IDE・CI・課題管理・認証基盤との統合可否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53500" y="4533900"/>
            <a:ext cx="2628900" cy="12573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44000" y="4762500"/>
            <a:ext cx="114300" cy="114300"/>
          </a:xfrm>
          <a:prstGeom prst="roundRect">
            <a:avLst>
              <a:gd name="adj" fmla="val 16666"/>
            </a:avLst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0" y="4972050"/>
            <a:ext cx="22479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75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コストの可視性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05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従量課金の単位、上限設定、部門別の把握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600" y="6286500"/>
            <a:ext cx="109728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9600" y="6400800"/>
            <a:ext cx="666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AI駆動開発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7400" y="64008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95300"/>
            <a:ext cx="57150" cy="24765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495300"/>
            <a:ext cx="108204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04 ── 導入の進め方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001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4フェーズのロードマップ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33500"/>
            <a:ext cx="10972800" cy="19050"/>
          </a:xfrm>
          <a:prstGeom prst="rect">
            <a:avLst/>
          </a:prstGeom>
          <a:solidFill>
            <a:srgbClr val="949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1447800"/>
            <a:ext cx="109728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75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小さく試し、記録を残し、ルールとセットで広げる。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1981200"/>
            <a:ext cx="2600325" cy="2781300"/>
          </a:xfrm>
          <a:prstGeom prst="rect">
            <a:avLst/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1981200"/>
            <a:ext cx="2600325" cy="7239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1981200"/>
            <a:ext cx="2143125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Phase 0</a:t>
            </a: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sz="1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準備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57500"/>
            <a:ext cx="21431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〜1か月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162300"/>
            <a:ext cx="2143125" cy="148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90500" indent="-190500">
              <a:lnSpc>
                <a:spcPct val="170000"/>
              </a:lnSpc>
              <a:buFont typeface="Noto Sans JP"/>
              <a:buChar char="・"/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利用ルールと対象範囲の決定</a:t>
            </a:r>
          </a:p>
          <a:p>
            <a:pPr algn="l" marL="190500" indent="-190500">
              <a:lnSpc>
                <a:spcPct val="170000"/>
              </a:lnSpc>
              <a:buFont typeface="Noto Sans JP"/>
              <a:buChar char="・"/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利用するツールと権限の整備</a:t>
            </a:r>
          </a:p>
          <a:p>
            <a:pPr algn="l" marL="190500" indent="-190500">
              <a:lnSpc>
                <a:spcPct val="170000"/>
              </a:lnSpc>
              <a:buFont typeface="Noto Sans JP"/>
              <a:buChar char="・"/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現状のベースライン計測</a:t>
            </a:r>
          </a:p>
        </p:txBody>
      </p:sp>
      <p:sp>
        <p:nvSpPr>
          <p:cNvPr id="13" name="Isosceles Triangle 12"/>
          <p:cNvSpPr/>
          <p:nvPr/>
        </p:nvSpPr>
        <p:spPr>
          <a:xfrm rot="5400000">
            <a:off x="3248025" y="2286000"/>
            <a:ext cx="114300" cy="114300"/>
          </a:xfrm>
          <a:prstGeom prst="triangle">
            <a:avLst/>
          </a:prstGeom>
          <a:solidFill>
            <a:srgbClr val="949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0425" y="1981200"/>
            <a:ext cx="2600325" cy="2781300"/>
          </a:xfrm>
          <a:prstGeom prst="rect">
            <a:avLst/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00425" y="1981200"/>
            <a:ext cx="2600325" cy="723900"/>
          </a:xfrm>
          <a:prstGeom prst="rect">
            <a:avLst/>
          </a:prstGeom>
          <a:solidFill>
            <a:srgbClr val="003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9025" y="1981200"/>
            <a:ext cx="2143125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Phase 1</a:t>
            </a: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sz="1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試行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9025" y="2857500"/>
            <a:ext cx="21431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1〜3か月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9025" y="3162300"/>
            <a:ext cx="2143125" cy="148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90500" indent="-190500">
              <a:lnSpc>
                <a:spcPct val="170000"/>
              </a:lnSpc>
              <a:buFont typeface="Noto Sans JP"/>
              <a:buChar char="・"/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少人数・低リスク領域で検証</a:t>
            </a:r>
          </a:p>
          <a:p>
            <a:pPr algn="l" marL="190500" indent="-190500">
              <a:lnSpc>
                <a:spcPct val="170000"/>
              </a:lnSpc>
              <a:buFont typeface="Noto Sans JP"/>
              <a:buChar char="・"/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うまくいった使い方を記録</a:t>
            </a:r>
          </a:p>
          <a:p>
            <a:pPr algn="l" marL="190500" indent="-190500">
              <a:lnSpc>
                <a:spcPct val="170000"/>
              </a:lnSpc>
              <a:buFont typeface="Noto Sans JP"/>
              <a:buChar char="・"/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阻害要因の洗い出し</a:t>
            </a:r>
          </a:p>
        </p:txBody>
      </p:sp>
      <p:sp>
        <p:nvSpPr>
          <p:cNvPr id="19" name="Isosceles Triangle 18"/>
          <p:cNvSpPr/>
          <p:nvPr/>
        </p:nvSpPr>
        <p:spPr>
          <a:xfrm rot="5400000">
            <a:off x="6038850" y="2286000"/>
            <a:ext cx="114300" cy="114300"/>
          </a:xfrm>
          <a:prstGeom prst="triangle">
            <a:avLst/>
          </a:prstGeom>
          <a:solidFill>
            <a:srgbClr val="949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1250" y="1981200"/>
            <a:ext cx="2600325" cy="2781300"/>
          </a:xfrm>
          <a:prstGeom prst="rect">
            <a:avLst/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1250" y="1981200"/>
            <a:ext cx="2600325" cy="72390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850" y="1981200"/>
            <a:ext cx="2143125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Phase 2</a:t>
            </a: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sz="1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定着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850" y="2857500"/>
            <a:ext cx="21431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3〜6か月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850" y="3162300"/>
            <a:ext cx="2143125" cy="148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90500" indent="-190500">
              <a:lnSpc>
                <a:spcPct val="170000"/>
              </a:lnSpc>
              <a:buFont typeface="Noto Sans JP"/>
              <a:buChar char="・"/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定型プロンプトと事例の共有</a:t>
            </a:r>
          </a:p>
          <a:p>
            <a:pPr algn="l" marL="190500" indent="-190500">
              <a:lnSpc>
                <a:spcPct val="170000"/>
              </a:lnSpc>
              <a:buFont typeface="Noto Sans JP"/>
              <a:buChar char="・"/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CI・レビューへの組込</a:t>
            </a:r>
          </a:p>
          <a:p>
            <a:pPr algn="l" marL="190500" indent="-190500">
              <a:lnSpc>
                <a:spcPct val="170000"/>
              </a:lnSpc>
              <a:buFont typeface="Noto Sans JP"/>
              <a:buChar char="・"/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教育とオンボーディング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8829675" y="2286000"/>
            <a:ext cx="114300" cy="114300"/>
          </a:xfrm>
          <a:prstGeom prst="triangle">
            <a:avLst/>
          </a:prstGeom>
          <a:solidFill>
            <a:srgbClr val="949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2075" y="1981200"/>
            <a:ext cx="2600325" cy="2781300"/>
          </a:xfrm>
          <a:prstGeom prst="rect">
            <a:avLst/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82075" y="1981200"/>
            <a:ext cx="2600325" cy="723900"/>
          </a:xfrm>
          <a:prstGeom prst="rect">
            <a:avLst/>
          </a:prstGeom>
          <a:solidFill>
            <a:srgbClr val="001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0675" y="1981200"/>
            <a:ext cx="2143125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Phase 3</a:t>
            </a: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sz="1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拡大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0675" y="2857500"/>
            <a:ext cx="21431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6か月〜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10675" y="3162300"/>
            <a:ext cx="2143125" cy="148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90500" indent="-190500">
              <a:lnSpc>
                <a:spcPct val="170000"/>
              </a:lnSpc>
              <a:buFont typeface="Noto Sans JP"/>
              <a:buChar char="・"/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適用工程を上流・運用へ拡大</a:t>
            </a:r>
          </a:p>
          <a:p>
            <a:pPr algn="l" marL="190500" indent="-190500">
              <a:lnSpc>
                <a:spcPct val="170000"/>
              </a:lnSpc>
              <a:buFont typeface="Noto Sans JP"/>
              <a:buChar char="・"/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KPIによる継続的な見直し</a:t>
            </a:r>
          </a:p>
          <a:p>
            <a:pPr algn="l" marL="190500" indent="-190500">
              <a:lnSpc>
                <a:spcPct val="170000"/>
              </a:lnSpc>
              <a:buFont typeface="Noto Sans JP"/>
              <a:buChar char="・"/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ルールと体制の更新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9600" y="4991100"/>
            <a:ext cx="10972800" cy="952500"/>
          </a:xfrm>
          <a:prstGeom prst="roundRect">
            <a:avLst>
              <a:gd name="adj" fmla="val 12000"/>
            </a:avLst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181600"/>
            <a:ext cx="103632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50" b="1">
                <a:solidFill>
                  <a:srgbClr val="00118F"/>
                </a:solidFill>
                <a:latin typeface="Noto Sans JP"/>
                <a:ea typeface="Noto Sans JP"/>
                <a:cs typeface="Noto Sans JP"/>
              </a:rPr>
              <a:t>Phase 0 で必ずやること：ベースラインの計測</a:t>
            </a:r>
          </a:p>
          <a:p>
            <a:pPr algn="l">
              <a:lnSpc>
                <a:spcPct val="170000"/>
              </a:lnSpc>
              <a:spcBef>
                <a:spcPts val="300"/>
              </a:spcBef>
            </a:pPr>
            <a:r>
              <a:rPr sz="120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導入前のリードタイム・変更失敗率・レビュー待ち時間を記録しておかないと、後から効果を説明できない。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9600" y="6286500"/>
            <a:ext cx="109728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9600" y="6400800"/>
            <a:ext cx="666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AI駆動開発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7400" y="64008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95300"/>
            <a:ext cx="57150" cy="24765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495300"/>
            <a:ext cx="108204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04 ── 導入の進め方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001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効果測定：KPIは速度と品質を対で置く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33500"/>
            <a:ext cx="10972800" cy="19050"/>
          </a:xfrm>
          <a:prstGeom prst="rect">
            <a:avLst/>
          </a:prstGeom>
          <a:solidFill>
            <a:srgbClr val="949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1866900"/>
            <a:ext cx="10972800" cy="457200"/>
          </a:xfrm>
          <a:prstGeom prst="rect">
            <a:avLst/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1866900"/>
            <a:ext cx="16703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観点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37104" y="1866900"/>
            <a:ext cx="4084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指標の例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26224" y="1866900"/>
            <a:ext cx="43037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運用上の注意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2324100"/>
            <a:ext cx="10972800" cy="1905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2343150"/>
            <a:ext cx="1670304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スピード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37104" y="2343150"/>
            <a:ext cx="408432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変更のリードタイム／レビュー待ち時間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6224" y="2343150"/>
            <a:ext cx="4303776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工程別に分けて見ないと改善点が特定できない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2876550"/>
            <a:ext cx="109728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2886075"/>
            <a:ext cx="1670304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品質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37104" y="2886075"/>
            <a:ext cx="408432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変更失敗率／障害の復旧時間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26224" y="2886075"/>
            <a:ext cx="4303776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速度指標と必ず同時に確認する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600" y="3419475"/>
            <a:ext cx="109728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000" y="3429000"/>
            <a:ext cx="1670304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37104" y="3429000"/>
            <a:ext cx="408432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変更件数／自動テストの網羅範囲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26224" y="3429000"/>
            <a:ext cx="4303776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件数だけを目標にすると分割の乱用を招く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600" y="3962400"/>
            <a:ext cx="109728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000" y="3971925"/>
            <a:ext cx="1670304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開発者体験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37104" y="3971925"/>
            <a:ext cx="408432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満足度調査／手戻りの発生率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26224" y="3971925"/>
            <a:ext cx="4303776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定量指標を定性調査で補う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600" y="4505325"/>
            <a:ext cx="109728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000" y="4514850"/>
            <a:ext cx="1670304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コスト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37104" y="4514850"/>
            <a:ext cx="408432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変更1件あたりのAI利用料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26224" y="4514850"/>
            <a:ext cx="4303776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効果と対で見て、上限を設定する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" y="5048250"/>
            <a:ext cx="109728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600" y="5257800"/>
            <a:ext cx="109728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C74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9600" y="5257800"/>
            <a:ext cx="57150" cy="571500"/>
          </a:xfrm>
          <a:prstGeom prst="rect">
            <a:avLst/>
          </a:prstGeom>
          <a:solidFill>
            <a:srgbClr val="C74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6300" y="5257800"/>
            <a:ext cx="104394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75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速度指標のみを追うと、品質の劣化が数か月遅れて表面化する。導入初期ほど品質指標を主に見る。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9600" y="6286500"/>
            <a:ext cx="109728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600" y="6400800"/>
            <a:ext cx="666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AI駆動開発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77400" y="64008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95300"/>
            <a:ext cx="57150" cy="24765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495300"/>
            <a:ext cx="108204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05 ── 品質・リスク・ガバナンス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001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品質を担保する3つの層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33500"/>
            <a:ext cx="10972800" cy="19050"/>
          </a:xfrm>
          <a:prstGeom prst="rect">
            <a:avLst/>
          </a:prstGeom>
          <a:solidFill>
            <a:srgbClr val="949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1905000"/>
            <a:ext cx="3530600" cy="2476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2133600"/>
            <a:ext cx="30734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LAYER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438400"/>
            <a:ext cx="3073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入力の管理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AIに渡す前提を揃える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8200" y="3162300"/>
            <a:ext cx="30734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3314700"/>
            <a:ext cx="30734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90500" indent="-190500">
              <a:lnSpc>
                <a:spcPct val="170000"/>
              </a:lnSpc>
              <a:buFont typeface="Noto Sans JP"/>
              <a:buChar char="・"/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仕様・制約・既存の設計方針を明示する</a:t>
            </a:r>
          </a:p>
          <a:p>
            <a:pPr algn="l" marL="190500" indent="-190500">
              <a:lnSpc>
                <a:spcPct val="170000"/>
              </a:lnSpc>
              <a:buFont typeface="Noto Sans JP"/>
              <a:buChar char="・"/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参照させる範囲を限定する</a:t>
            </a:r>
          </a:p>
          <a:p>
            <a:pPr algn="l" marL="190500" indent="-190500">
              <a:lnSpc>
                <a:spcPct val="170000"/>
              </a:lnSpc>
              <a:buFont typeface="Noto Sans JP"/>
              <a:buChar char="・"/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禁止事項を先に伝える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0700" y="1905000"/>
            <a:ext cx="3530600" cy="2476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9300" y="2133600"/>
            <a:ext cx="30734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LAYER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9300" y="2438400"/>
            <a:ext cx="3073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出力の検証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人とツールの二重で確かめる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59300" y="3162300"/>
            <a:ext cx="30734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9300" y="3314700"/>
            <a:ext cx="30734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90500" indent="-190500">
              <a:lnSpc>
                <a:spcPct val="170000"/>
              </a:lnSpc>
              <a:buFont typeface="Noto Sans JP"/>
              <a:buChar char="・"/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自動テストと静的解析を必ず通す</a:t>
            </a:r>
          </a:p>
          <a:p>
            <a:pPr algn="l" marL="190500" indent="-190500">
              <a:lnSpc>
                <a:spcPct val="170000"/>
              </a:lnSpc>
              <a:buFont typeface="Noto Sans JP"/>
              <a:buChar char="・"/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生成コードも通常と同じレビュー基準</a:t>
            </a:r>
          </a:p>
          <a:p>
            <a:pPr algn="l" marL="190500" indent="-190500">
              <a:lnSpc>
                <a:spcPct val="170000"/>
              </a:lnSpc>
              <a:buFont typeface="Noto Sans JP"/>
              <a:buChar char="・"/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根拠と代替案の提示を求める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1800" y="1905000"/>
            <a:ext cx="3530600" cy="2476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0400" y="2133600"/>
            <a:ext cx="30734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LAYER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0400" y="2438400"/>
            <a:ext cx="3073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記録の保全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後から説明できる状態にする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80400" y="3162300"/>
            <a:ext cx="30734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0400" y="3314700"/>
            <a:ext cx="30734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90500" indent="-190500">
              <a:lnSpc>
                <a:spcPct val="170000"/>
              </a:lnSpc>
              <a:buFont typeface="Noto Sans JP"/>
              <a:buChar char="・"/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生成の経緯とレビュー結果を残す</a:t>
            </a:r>
          </a:p>
          <a:p>
            <a:pPr algn="l" marL="190500" indent="-190500">
              <a:lnSpc>
                <a:spcPct val="170000"/>
              </a:lnSpc>
              <a:buFont typeface="Noto Sans JP"/>
              <a:buChar char="・"/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利用ログを保管する</a:t>
            </a:r>
          </a:p>
          <a:p>
            <a:pPr algn="l" marL="190500" indent="-190500">
              <a:lnSpc>
                <a:spcPct val="170000"/>
              </a:lnSpc>
              <a:buFont typeface="Noto Sans JP"/>
              <a:buChar char="・"/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判断の理由を記録に残す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9600" y="4610100"/>
            <a:ext cx="1097280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38700"/>
            <a:ext cx="103632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レビューが律速になることを前提に設計する</a:t>
            </a:r>
          </a:p>
          <a:p>
            <a:pPr algn="l">
              <a:lnSpc>
                <a:spcPct val="170000"/>
              </a:lnSpc>
              <a:spcBef>
                <a:spcPts val="300"/>
              </a:spcBef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生成量が増えるとレビュー待ちが最大の停滞要因になる。差分を小さく保つ、観点を自動化する、</a:t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レビュー担当を分散させる、の3点を導入と同時に手当てする。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600" y="6286500"/>
            <a:ext cx="109728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9600" y="6400800"/>
            <a:ext cx="666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AI駆動開発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77400" y="64008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95300"/>
            <a:ext cx="57150" cy="24765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495300"/>
            <a:ext cx="108204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05 ── 品質・リスク・ガバナンス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001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主なリスクと対策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33500"/>
            <a:ext cx="10972800" cy="19050"/>
          </a:xfrm>
          <a:prstGeom prst="rect">
            <a:avLst/>
          </a:prstGeom>
          <a:solidFill>
            <a:srgbClr val="949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1866900"/>
            <a:ext cx="539115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1866900"/>
            <a:ext cx="57150" cy="1809750"/>
          </a:xfrm>
          <a:prstGeom prst="rect">
            <a:avLst/>
          </a:prstGeom>
          <a:solidFill>
            <a:srgbClr val="E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95500"/>
            <a:ext cx="47815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情報漏えい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495550"/>
            <a:ext cx="478155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47950"/>
            <a:ext cx="47815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90500" indent="-190500">
              <a:lnSpc>
                <a:spcPct val="170000"/>
              </a:lnSpc>
              <a:buFont typeface="Noto Sans JP"/>
              <a:buChar char="・"/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入力してよい情報の分類を定める</a:t>
            </a:r>
          </a:p>
          <a:p>
            <a:pPr algn="l" marL="190500" indent="-190500">
              <a:lnSpc>
                <a:spcPct val="170000"/>
              </a:lnSpc>
              <a:buFont typeface="Noto Sans JP"/>
              <a:buChar char="・"/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送信先・保存期間・学習利用の有無を確認</a:t>
            </a:r>
          </a:p>
          <a:p>
            <a:pPr algn="l" marL="190500" indent="-190500">
              <a:lnSpc>
                <a:spcPct val="170000"/>
              </a:lnSpc>
              <a:buFont typeface="Noto Sans JP"/>
              <a:buChar char="・"/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業務データは管理された基盤に限定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1250" y="1866900"/>
            <a:ext cx="539115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1250" y="1866900"/>
            <a:ext cx="57150" cy="1809750"/>
          </a:xfrm>
          <a:prstGeom prst="rect">
            <a:avLst/>
          </a:prstGeom>
          <a:solidFill>
            <a:srgbClr val="C74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6050" y="2095500"/>
            <a:ext cx="47815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誤りの混入（ハルシネーション）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6050" y="2495550"/>
            <a:ext cx="478155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6050" y="2647950"/>
            <a:ext cx="47815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90500" indent="-190500">
              <a:lnSpc>
                <a:spcPct val="170000"/>
              </a:lnSpc>
              <a:buFont typeface="Noto Sans JP"/>
              <a:buChar char="・"/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出力は必ず実行・テストで検証</a:t>
            </a:r>
          </a:p>
          <a:p>
            <a:pPr algn="l" marL="190500" indent="-190500">
              <a:lnSpc>
                <a:spcPct val="170000"/>
              </a:lnSpc>
              <a:buFont typeface="Noto Sans JP"/>
              <a:buChar char="・"/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存在しないAPIや依存の確認を自動化</a:t>
            </a:r>
          </a:p>
          <a:p>
            <a:pPr algn="l" marL="190500" indent="-190500">
              <a:lnSpc>
                <a:spcPct val="170000"/>
              </a:lnSpc>
              <a:buFont typeface="Noto Sans JP"/>
              <a:buChar char="・"/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確信度ではなく根拠で判断する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" y="3905250"/>
            <a:ext cx="539115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600" y="3905250"/>
            <a:ext cx="57150" cy="1809750"/>
          </a:xfrm>
          <a:prstGeom prst="rect">
            <a:avLst/>
          </a:prstGeom>
          <a:solidFill>
            <a:srgbClr val="B7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133850"/>
            <a:ext cx="47815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ライセンス・権利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533900"/>
            <a:ext cx="478155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686300"/>
            <a:ext cx="47815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90500" indent="-190500">
              <a:lnSpc>
                <a:spcPct val="170000"/>
              </a:lnSpc>
              <a:buFont typeface="Noto Sans JP"/>
              <a:buChar char="・"/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依存関係とライセンスを自動スキャン</a:t>
            </a:r>
          </a:p>
          <a:p>
            <a:pPr algn="l" marL="190500" indent="-190500">
              <a:lnSpc>
                <a:spcPct val="170000"/>
              </a:lnSpc>
              <a:buFont typeface="Noto Sans JP"/>
              <a:buChar char="・"/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生成物の扱いを規程に明記</a:t>
            </a:r>
          </a:p>
          <a:p>
            <a:pPr algn="l" marL="190500" indent="-190500">
              <a:lnSpc>
                <a:spcPct val="170000"/>
              </a:lnSpc>
              <a:buFont typeface="Noto Sans JP"/>
              <a:buChar char="・"/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外部提供物は特に確認を厚く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1250" y="3905250"/>
            <a:ext cx="539115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1250" y="3905250"/>
            <a:ext cx="57150" cy="1809750"/>
          </a:xfrm>
          <a:prstGeom prst="rect">
            <a:avLst/>
          </a:prstGeom>
          <a:solidFill>
            <a:srgbClr val="19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6050" y="4133850"/>
            <a:ext cx="47815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スキルの空洞化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6050" y="4533900"/>
            <a:ext cx="478155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6050" y="4686300"/>
            <a:ext cx="47815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90500" indent="-190500">
              <a:lnSpc>
                <a:spcPct val="170000"/>
              </a:lnSpc>
              <a:buFont typeface="Noto Sans JP"/>
              <a:buChar char="・"/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意図を説明できることをレビュー要件に</a:t>
            </a:r>
          </a:p>
          <a:p>
            <a:pPr algn="l" marL="190500" indent="-190500">
              <a:lnSpc>
                <a:spcPct val="170000"/>
              </a:lnSpc>
              <a:buFont typeface="Noto Sans JP"/>
              <a:buChar char="・"/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基礎の教育計画とセットで進める</a:t>
            </a:r>
          </a:p>
          <a:p>
            <a:pPr algn="l" marL="190500" indent="-190500">
              <a:lnSpc>
                <a:spcPct val="170000"/>
              </a:lnSpc>
              <a:buFont typeface="Noto Sans JP"/>
              <a:buChar char="・"/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重要領域は人の設計を先行させる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600" y="6286500"/>
            <a:ext cx="109728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9600" y="6400800"/>
            <a:ext cx="666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AI駆動開発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77400" y="64008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95300"/>
            <a:ext cx="57150" cy="24765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495300"/>
            <a:ext cx="108204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05 ── 品質・リスク・ガバナンス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001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ルールとガバナンスの整備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33500"/>
            <a:ext cx="10972800" cy="19050"/>
          </a:xfrm>
          <a:prstGeom prst="rect">
            <a:avLst/>
          </a:prstGeom>
          <a:solidFill>
            <a:srgbClr val="949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1447800"/>
            <a:ext cx="109728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75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現場が守れる粒度で定め、四半期ごとに見直す。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1905000"/>
            <a:ext cx="5372100" cy="3048000"/>
          </a:xfrm>
          <a:prstGeom prst="rect">
            <a:avLst/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1905000"/>
            <a:ext cx="5372100" cy="53340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1905000"/>
            <a:ext cx="49149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あらかじめ定めること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8200" y="27051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7750" y="2628900"/>
            <a:ext cx="47053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利用を許可するツールとアカウントの管理方法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8200" y="3143250"/>
            <a:ext cx="95250" cy="95250"/>
          </a:xfrm>
          <a:prstGeom prst="roundRect">
            <a:avLst>
              <a:gd name="adj" fmla="val 20000"/>
            </a:avLst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3067050"/>
            <a:ext cx="47053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入力してよい情報／禁止する情報の分類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35814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7750" y="3505200"/>
            <a:ext cx="47053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生成物の権利・責任の所在と表示の要否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8200" y="4019550"/>
            <a:ext cx="95250" cy="95250"/>
          </a:xfrm>
          <a:prstGeom prst="roundRect">
            <a:avLst>
              <a:gd name="adj" fmla="val 20000"/>
            </a:avLst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7750" y="3943350"/>
            <a:ext cx="47053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ログの取得範囲と保管期間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8200" y="44577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7750" y="4381500"/>
            <a:ext cx="47053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ルールから外れる場合の申請と承認の経路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0300" y="1905000"/>
            <a:ext cx="5372100" cy="3048000"/>
          </a:xfrm>
          <a:prstGeom prst="rect">
            <a:avLst/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0300" y="1905000"/>
            <a:ext cx="5372100" cy="533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38900" y="1905000"/>
            <a:ext cx="49149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運用として回すこと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38900" y="27051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48450" y="2628900"/>
            <a:ext cx="47053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相談窓口を1か所に集約し、判断のばらつきを防ぐ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38900" y="3143250"/>
            <a:ext cx="95250" cy="95250"/>
          </a:xfrm>
          <a:prstGeom prst="roundRect">
            <a:avLst>
              <a:gd name="adj" fmla="val 20000"/>
            </a:avLst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48450" y="3067050"/>
            <a:ext cx="47053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四半期ごとにルールと対象ツールを見直す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38900" y="35814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48450" y="3505200"/>
            <a:ext cx="47053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インシデント発生時の報告経路を明示する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38900" y="4019550"/>
            <a:ext cx="95250" cy="95250"/>
          </a:xfrm>
          <a:prstGeom prst="roundRect">
            <a:avLst>
              <a:gd name="adj" fmla="val 20000"/>
            </a:avLst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48450" y="3943350"/>
            <a:ext cx="47053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利用状況とコストを部門単位で可視化する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38900" y="44577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48450" y="4381500"/>
            <a:ext cx="47053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良い使い方の事例を継続的に共有する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9600" y="5181600"/>
            <a:ext cx="10972800" cy="647700"/>
          </a:xfrm>
          <a:prstGeom prst="roundRect">
            <a:avLst>
              <a:gd name="adj" fmla="val 17647"/>
            </a:avLst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181600"/>
            <a:ext cx="10363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75" b="0">
                <a:solidFill>
                  <a:srgbClr val="00118F"/>
                </a:solidFill>
                <a:latin typeface="Noto Sans JP"/>
                <a:ea typeface="Noto Sans JP"/>
                <a:cs typeface="Noto Sans JP"/>
              </a:rPr>
              <a:t>禁止事項を増やしすぎると、記録に残らない利用（シャドー利用）を招き、かえって統制が効かなくなる。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9600" y="6286500"/>
            <a:ext cx="109728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600" y="6400800"/>
            <a:ext cx="666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AI駆動開発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77400" y="64008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95300"/>
            <a:ext cx="57150" cy="24765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495300"/>
            <a:ext cx="108204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06 ── 組織と役割の変化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001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求められる力の移り変わり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33500"/>
            <a:ext cx="10972800" cy="19050"/>
          </a:xfrm>
          <a:prstGeom prst="rect">
            <a:avLst/>
          </a:prstGeom>
          <a:solidFill>
            <a:srgbClr val="949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1905000"/>
            <a:ext cx="5219700" cy="2552700"/>
          </a:xfrm>
          <a:prstGeom prst="roundRect">
            <a:avLst>
              <a:gd name="adj" fmla="val 4477"/>
            </a:avLst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6300" y="2133600"/>
            <a:ext cx="46863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これまで</a:t>
            </a:r>
          </a:p>
        </p:txBody>
      </p:sp>
      <p:sp>
        <p:nvSpPr>
          <p:cNvPr id="9" name="Rectangle 8"/>
          <p:cNvSpPr/>
          <p:nvPr/>
        </p:nvSpPr>
        <p:spPr>
          <a:xfrm>
            <a:off x="876300" y="2628900"/>
            <a:ext cx="4686300" cy="190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6300" y="2819400"/>
            <a:ext cx="46863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90500" indent="-190500">
              <a:lnSpc>
                <a:spcPct val="170000"/>
              </a:lnSpc>
              <a:spcAft>
                <a:spcPts val="600"/>
              </a:spcAft>
              <a:buFont typeface="Noto Sans JP"/>
              <a:buChar char="・"/>
            </a:pPr>
            <a:r>
              <a:rPr sz="1275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実装した量が成果として見えやすい</a:t>
            </a:r>
          </a:p>
          <a:p>
            <a:pPr algn="l" marL="190500" indent="-190500">
              <a:lnSpc>
                <a:spcPct val="170000"/>
              </a:lnSpc>
              <a:spcAft>
                <a:spcPts val="600"/>
              </a:spcAft>
              <a:buFont typeface="Noto Sans JP"/>
              <a:buChar char="・"/>
            </a:pPr>
            <a:r>
              <a:rPr sz="1275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レビューは最終工程での確認</a:t>
            </a:r>
          </a:p>
          <a:p>
            <a:pPr algn="l" marL="190500" indent="-190500">
              <a:lnSpc>
                <a:spcPct val="170000"/>
              </a:lnSpc>
              <a:spcAft>
                <a:spcPts val="600"/>
              </a:spcAft>
              <a:buFont typeface="Noto Sans JP"/>
              <a:buChar char="・"/>
            </a:pPr>
            <a:r>
              <a:rPr sz="1275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設計の意図は個人の頭の中に残る</a:t>
            </a:r>
          </a:p>
          <a:p>
            <a:pPr algn="l" marL="190500" indent="-190500">
              <a:lnSpc>
                <a:spcPct val="170000"/>
              </a:lnSpc>
              <a:spcAft>
                <a:spcPts val="600"/>
              </a:spcAft>
              <a:buFont typeface="Noto Sans JP"/>
              <a:buChar char="・"/>
            </a:pPr>
            <a:r>
              <a:rPr sz="1275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見積りは作業量から積み上げる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62700" y="1905000"/>
            <a:ext cx="5219700" cy="2552700"/>
          </a:xfrm>
          <a:prstGeom prst="roundRect">
            <a:avLst>
              <a:gd name="adj" fmla="val 4477"/>
            </a:avLst>
          </a:prstGeom>
          <a:solidFill>
            <a:srgbClr val="FFFFFF"/>
          </a:solidFill>
          <a:ln w="9525">
            <a:solidFill>
              <a:srgbClr val="001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33600"/>
            <a:ext cx="46863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これから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29400" y="2628900"/>
            <a:ext cx="4686300" cy="1905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819400"/>
            <a:ext cx="46863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90500" indent="-190500">
              <a:lnSpc>
                <a:spcPct val="170000"/>
              </a:lnSpc>
              <a:spcAft>
                <a:spcPts val="600"/>
              </a:spcAft>
              <a:buFont typeface="Noto Sans JP"/>
              <a:buChar char="・"/>
            </a:pPr>
            <a:r>
              <a:rPr sz="1275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何を作らないかの判断が成果になる</a:t>
            </a:r>
          </a:p>
          <a:p>
            <a:pPr algn="l" marL="190500" indent="-190500">
              <a:lnSpc>
                <a:spcPct val="170000"/>
              </a:lnSpc>
              <a:spcAft>
                <a:spcPts val="600"/>
              </a:spcAft>
              <a:buFont typeface="Noto Sans JP"/>
              <a:buChar char="・"/>
            </a:pPr>
            <a:r>
              <a:rPr sz="1275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レビューが律速。観点の自動化と分散が要る</a:t>
            </a:r>
          </a:p>
          <a:p>
            <a:pPr algn="l" marL="190500" indent="-190500">
              <a:lnSpc>
                <a:spcPct val="170000"/>
              </a:lnSpc>
              <a:spcAft>
                <a:spcPts val="600"/>
              </a:spcAft>
              <a:buFont typeface="Noto Sans JP"/>
              <a:buChar char="・"/>
            </a:pPr>
            <a:r>
              <a:rPr sz="1275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文脈を明文化して初めてAIが使える資産になる</a:t>
            </a:r>
          </a:p>
          <a:p>
            <a:pPr algn="l" marL="190500" indent="-190500">
              <a:lnSpc>
                <a:spcPct val="170000"/>
              </a:lnSpc>
              <a:spcAft>
                <a:spcPts val="600"/>
              </a:spcAft>
              <a:buFont typeface="Noto Sans JP"/>
              <a:buChar char="・"/>
            </a:pPr>
            <a:r>
              <a:rPr sz="1275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見積りは検証コストを含めて考える</a:t>
            </a:r>
          </a:p>
        </p:txBody>
      </p:sp>
      <p:sp>
        <p:nvSpPr>
          <p:cNvPr id="15" name="Isosceles Triangle 14"/>
          <p:cNvSpPr/>
          <p:nvPr/>
        </p:nvSpPr>
        <p:spPr>
          <a:xfrm rot="5400000">
            <a:off x="6000750" y="3048000"/>
            <a:ext cx="190500" cy="190500"/>
          </a:xfrm>
          <a:prstGeom prst="triangle">
            <a:avLst/>
          </a:prstGeom>
          <a:solidFill>
            <a:srgbClr val="949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" y="4686300"/>
            <a:ext cx="109728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陥りやすい進め方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600" y="5048250"/>
            <a:ext cx="355600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" y="5238750"/>
            <a:ext cx="31750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75" b="0">
                <a:solidFill>
                  <a:srgbClr val="EC0000"/>
                </a:solidFill>
                <a:latin typeface="Noto Sans JP"/>
                <a:ea typeface="Noto Sans JP"/>
                <a:cs typeface="Noto Sans JP"/>
              </a:rPr>
              <a:t>×　目的のないツール配布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05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配って終わりでは効果が測れず、使う人と使わない人に分かれて定着しない。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8000" y="5048250"/>
            <a:ext cx="355600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500" y="5238750"/>
            <a:ext cx="31750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75" b="0">
                <a:solidFill>
                  <a:srgbClr val="EC0000"/>
                </a:solidFill>
                <a:latin typeface="Noto Sans JP"/>
                <a:ea typeface="Noto Sans JP"/>
                <a:cs typeface="Noto Sans JP"/>
              </a:rPr>
              <a:t>×　速度だけのKPI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05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短期の指標は改善して見えるが、品質の劣化が遅れて表面化する。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26400" y="5048250"/>
            <a:ext cx="355600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6900" y="5238750"/>
            <a:ext cx="31750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75" b="0">
                <a:solidFill>
                  <a:srgbClr val="EC0000"/>
                </a:solidFill>
                <a:latin typeface="Noto Sans JP"/>
                <a:ea typeface="Noto Sans JP"/>
                <a:cs typeface="Noto Sans JP"/>
              </a:rPr>
              <a:t>×　例外の多すぎるルール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05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実態に合わないルールは守られず、記録に残らない利用を増やす。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600" y="6286500"/>
            <a:ext cx="109728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600" y="6400800"/>
            <a:ext cx="666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AI駆動開発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77400" y="64008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95300"/>
            <a:ext cx="57150" cy="24765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495300"/>
            <a:ext cx="108204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001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まとめ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33500"/>
            <a:ext cx="10972800" cy="19050"/>
          </a:xfrm>
          <a:prstGeom prst="rect">
            <a:avLst/>
          </a:prstGeom>
          <a:solidFill>
            <a:srgbClr val="949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1809750"/>
            <a:ext cx="10972800" cy="1047750"/>
          </a:xfrm>
          <a:prstGeom prst="rect">
            <a:avLst/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1809750"/>
            <a:ext cx="57150" cy="104775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09750"/>
            <a:ext cx="571500" cy="1047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210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62100" y="2038350"/>
            <a:ext cx="97155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50" b="1">
                <a:solidFill>
                  <a:srgbClr val="00118F"/>
                </a:solidFill>
                <a:latin typeface="Noto Sans JP"/>
                <a:ea typeface="Noto Sans JP"/>
                <a:cs typeface="Noto Sans JP"/>
              </a:rPr>
              <a:t>ツール導入ではなく、工程の再設計として扱う</a:t>
            </a:r>
          </a:p>
          <a:p>
            <a:pPr algn="l">
              <a:lnSpc>
                <a:spcPct val="170000"/>
              </a:lnSpc>
              <a:spcBef>
                <a:spcPts val="300"/>
              </a:spcBef>
            </a:pPr>
            <a:r>
              <a:rPr sz="120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誰が下書きし、誰が判断し、どこで検証するかを工程ごとに決める。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3009900"/>
            <a:ext cx="10972800" cy="1047750"/>
          </a:xfrm>
          <a:prstGeom prst="rect">
            <a:avLst/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3009900"/>
            <a:ext cx="57150" cy="104775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009900"/>
            <a:ext cx="571500" cy="1047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210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62100" y="3238500"/>
            <a:ext cx="97155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50" b="1">
                <a:solidFill>
                  <a:srgbClr val="00118F"/>
                </a:solidFill>
                <a:latin typeface="Noto Sans JP"/>
                <a:ea typeface="Noto Sans JP"/>
                <a:cs typeface="Noto Sans JP"/>
              </a:rPr>
              <a:t>効果は仕様の明確さと検証の仕組みに比例する</a:t>
            </a:r>
          </a:p>
          <a:p>
            <a:pPr algn="l">
              <a:lnSpc>
                <a:spcPct val="170000"/>
              </a:lnSpc>
              <a:spcBef>
                <a:spcPts val="300"/>
              </a:spcBef>
            </a:pPr>
            <a:r>
              <a:rPr sz="120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曖昧な仕様と手動頼りの検証のままでは、生成量が増えても成果にならない。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4210050"/>
            <a:ext cx="10972800" cy="1047750"/>
          </a:xfrm>
          <a:prstGeom prst="rect">
            <a:avLst/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600" y="4210050"/>
            <a:ext cx="57150" cy="104775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210050"/>
            <a:ext cx="571500" cy="1047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210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62100" y="4438650"/>
            <a:ext cx="97155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50" b="1">
                <a:solidFill>
                  <a:srgbClr val="00118F"/>
                </a:solidFill>
                <a:latin typeface="Noto Sans JP"/>
                <a:ea typeface="Noto Sans JP"/>
                <a:cs typeface="Noto Sans JP"/>
              </a:rPr>
              <a:t>速度と品質のKPIを対に置き、小さく試して広げる</a:t>
            </a:r>
          </a:p>
          <a:p>
            <a:pPr algn="l">
              <a:lnSpc>
                <a:spcPct val="170000"/>
              </a:lnSpc>
              <a:spcBef>
                <a:spcPts val="300"/>
              </a:spcBef>
            </a:pPr>
            <a:r>
              <a:rPr sz="120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低リスク領域で計測しながら、ルールと教育をセットで展開する。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5353050"/>
            <a:ext cx="109728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次のアクション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600" y="5676900"/>
            <a:ext cx="3556000" cy="4572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001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600" y="5676900"/>
            <a:ext cx="355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70000"/>
              </a:lnSpc>
            </a:pPr>
            <a:r>
              <a:rPr sz="1275" b="0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対象領域を1つ選ぶ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8000" y="5676900"/>
            <a:ext cx="3556000" cy="4572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001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18000" y="5676900"/>
            <a:ext cx="355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70000"/>
              </a:lnSpc>
            </a:pPr>
            <a:r>
              <a:rPr sz="1275" b="0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利用ルールの草案を作る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26400" y="5676900"/>
            <a:ext cx="3556000" cy="4572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001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6400" y="5676900"/>
            <a:ext cx="355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70000"/>
              </a:lnSpc>
            </a:pPr>
            <a:r>
              <a:rPr sz="1275" b="0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ベースラインを計測する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" y="6286500"/>
            <a:ext cx="109728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9600" y="6400800"/>
            <a:ext cx="666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AI駆動開発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7400" y="64008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95300"/>
            <a:ext cx="57150" cy="24765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495300"/>
            <a:ext cx="108204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001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本資料について（出典・注記）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33500"/>
            <a:ext cx="10972800" cy="19050"/>
          </a:xfrm>
          <a:prstGeom prst="rect">
            <a:avLst/>
          </a:prstGeom>
          <a:solidFill>
            <a:srgbClr val="949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1924050"/>
            <a:ext cx="990600" cy="266700"/>
          </a:xfrm>
          <a:prstGeom prst="roundRect">
            <a:avLst>
              <a:gd name="adj" fmla="val 28571"/>
            </a:avLst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デザイン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866900"/>
            <a:ext cx="97536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本資料のレイアウト・配色・書体・余白は、デジタル庁デザインシステムβ版 v2.17.1 の</a:t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基本デザイン（カラー、タイポグラフィ、余白、角の形状、エレベーション）を参考に構成しています。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600" y="2819400"/>
            <a:ext cx="990600" cy="266700"/>
          </a:xfrm>
          <a:prstGeom prst="roundRect">
            <a:avLst>
              <a:gd name="adj" fmla="val 28571"/>
            </a:avLst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カラー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762250"/>
            <a:ext cx="97536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プリミティブカラー Blue（キーカラー）とニュートラルカラー Solid Gray を使用。</a:t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テキストは4.5:1以上、罫線などの非テキスト要素は3:1以上のコントラスト比を確保しています。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600" y="3714750"/>
            <a:ext cx="990600" cy="266700"/>
          </a:xfrm>
          <a:prstGeom prst="roundRect">
            <a:avLst>
              <a:gd name="adj" fmla="val 28571"/>
            </a:avLst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書体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657600"/>
            <a:ext cx="97536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Noto Sans JP（SIL Open Font License 1.1）。テキストスタイルはDADSのトークン定義に準拠。</a:t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閲覧環境に当該書体がない場合は代替書体で表示されます。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" y="4610100"/>
            <a:ext cx="990600" cy="266700"/>
          </a:xfrm>
          <a:prstGeom prst="roundRect">
            <a:avLst>
              <a:gd name="adj" fmla="val 28571"/>
            </a:avLst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552950"/>
            <a:ext cx="97536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AI駆動開発に関する一般的な整理であり、特定の製品・サービスの推奨ではありません。</a:t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実際の導入は、各組織の情報管理規程および契約条件に従ってください。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5505450"/>
            <a:ext cx="10972800" cy="19050"/>
          </a:xfrm>
          <a:prstGeom prst="rect">
            <a:avLst/>
          </a:prstGeom>
          <a:solidFill>
            <a:srgbClr val="949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" y="5676900"/>
            <a:ext cx="10972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出典：デジタル庁デザインシステムウェブサイト https://design.digital.go.jp/dads/ のコンテンツを加工して作成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本資料はデジタル庁が作成・監修したものではありません。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" y="6286500"/>
            <a:ext cx="109728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6400800"/>
            <a:ext cx="666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AI駆動開発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77400" y="64008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