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クリック手順</a:t>
            </a:r>
          </a:p>
          <a:p>
            <a:r>
              <a:t>1. ゴール1：形の違いを説明できる</a:t>
            </a:r>
          </a:p>
          <a:p>
            <a:r>
              <a:t>2. ゴール2：SQLで横持ちに変換できる</a:t>
            </a:r>
          </a:p>
          <a:p>
            <a:r>
              <a:t>3. ゴール3：落とし穴を避けられる</a:t>
            </a:r>
          </a:p>
          <a:p>
            <a:r>
              <a:t>4. 前提の表示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クリック手順</a:t>
            </a:r>
          </a:p>
          <a:p>
            <a:r>
              <a:t>1. 横持ちの表を表示（東京4月は2行が合算されて150）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クリック手順</a:t>
            </a:r>
          </a:p>
          <a:p>
            <a:r>
              <a:t>1. 手順1：行キー・列キー・値を決める</a:t>
            </a:r>
          </a:p>
          <a:p>
            <a:r>
              <a:t>2. 手順2：CASE式で列ごとに振り分ける</a:t>
            </a:r>
          </a:p>
          <a:p>
            <a:r>
              <a:t>3. 手順3：GROUP BYで1行に畳む</a:t>
            </a:r>
          </a:p>
          <a:p>
            <a:r>
              <a:t>4. 手順4：NULL・合計・並び順を整える</a:t>
            </a:r>
          </a:p>
          <a:p>
            <a:r>
              <a:t>5. SQLの基本形を表示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クリック手順</a:t>
            </a:r>
          </a:p>
          <a:p>
            <a:r>
              <a:t>1. 行キー＝store（店舗） を示す</a:t>
            </a:r>
          </a:p>
          <a:p>
            <a:r>
              <a:t>2. 列キー＝month（月） を示す</a:t>
            </a:r>
          </a:p>
          <a:p>
            <a:r>
              <a:t>3. 値＝amount（売上） を示す</a:t>
            </a:r>
          </a:p>
          <a:p>
            <a:r>
              <a:t>4. 列は事前に固定される点を強調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クリック手順</a:t>
            </a:r>
          </a:p>
          <a:p>
            <a:r>
              <a:t>1. 4月のCASE式と4月列の値を表示</a:t>
            </a:r>
          </a:p>
          <a:p>
            <a:r>
              <a:t>2. 5月のCASE式と5月列の値を表示</a:t>
            </a:r>
          </a:p>
          <a:p>
            <a:r>
              <a:t>3. 6月のCASE式と6月列の値を表示</a:t>
            </a:r>
          </a:p>
          <a:p>
            <a:r>
              <a:t>4. まだ6行のままである点を示す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クリック手順</a:t>
            </a:r>
          </a:p>
          <a:p>
            <a:r>
              <a:t>1. SUM で包んだ部分を示す</a:t>
            </a:r>
          </a:p>
          <a:p>
            <a:r>
              <a:t>2. GROUP BY を示す</a:t>
            </a:r>
          </a:p>
          <a:p>
            <a:r>
              <a:t>3. 実行結果の行を表示</a:t>
            </a:r>
          </a:p>
          <a:p>
            <a:r>
              <a:t>4. 東京4月＝150 の理由</a:t>
            </a:r>
          </a:p>
          <a:p>
            <a:r>
              <a:t>5. 大阪6月＝NULL の理由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クリック手順</a:t>
            </a:r>
          </a:p>
          <a:p>
            <a:r>
              <a:t>1. CASE式で1行ずつ横に広げる（自動で6行続く）</a:t>
            </a:r>
          </a:p>
          <a:p>
            <a:r>
              <a:t>2. store ごとのグループを囲む</a:t>
            </a:r>
          </a:p>
          <a:p>
            <a:r>
              <a:t>3. SUM で畳んだ結果を表示</a:t>
            </a:r>
          </a:p>
          <a:p>
            <a:r>
              <a:t>4. まとめの一文を表示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クリック手順</a:t>
            </a:r>
          </a:p>
          <a:p>
            <a:r>
              <a:t>1. COALESCE で NULL を 0 に置き換える</a:t>
            </a:r>
          </a:p>
          <a:p>
            <a:r>
              <a:t>2. SUM(amount) で店舗ごとの合計列を足す</a:t>
            </a:r>
          </a:p>
          <a:p>
            <a:r>
              <a:t>3. ORDER BY で行の並び順を固定する</a:t>
            </a:r>
          </a:p>
          <a:p>
            <a:r>
              <a:t>4. 完成した結果を表示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クリック手順</a:t>
            </a:r>
          </a:p>
          <a:p>
            <a:r>
              <a:t>1. PostgreSQL / SQLite：FILTER句</a:t>
            </a:r>
          </a:p>
          <a:p>
            <a:r>
              <a:t>2. SQL Server：PIVOT演算子</a:t>
            </a:r>
          </a:p>
          <a:p>
            <a:r>
              <a:t>3. Oracle Database：PIVOT句</a:t>
            </a:r>
          </a:p>
          <a:p>
            <a:r>
              <a:t>4. MySQL：専用構文なし</a:t>
            </a:r>
          </a:p>
          <a:p>
            <a:r>
              <a:t>5. 推奨の書き方を表示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クリック手順</a:t>
            </a:r>
          </a:p>
          <a:p>
            <a:r>
              <a:t>1. 注意1：列は事前に固定される</a:t>
            </a:r>
          </a:p>
          <a:p>
            <a:r>
              <a:t>2. 注意2：COUNT では ELSE 0 を書かない</a:t>
            </a:r>
          </a:p>
          <a:p>
            <a:r>
              <a:t>3. 注意3：NULL と 0 を区別する</a:t>
            </a:r>
          </a:p>
          <a:p>
            <a:r>
              <a:t>4. 注意4：集計前に粒度をそろえる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クリック手順</a:t>
            </a:r>
          </a:p>
          <a:p>
            <a:r>
              <a:t>1. まとめ1：行キー・列キー・値を決める</a:t>
            </a:r>
          </a:p>
          <a:p>
            <a:r>
              <a:t>2. まとめ2：CASE式で列ごとに振り分ける</a:t>
            </a:r>
          </a:p>
          <a:p>
            <a:r>
              <a:t>3. まとめ3：GROUP BY と SUM で1行に畳む</a:t>
            </a:r>
          </a:p>
          <a:p>
            <a:r>
              <a:t>4. まとめ4：NULL・合計・並び順を整える</a:t>
            </a:r>
          </a:p>
          <a:p>
            <a:r>
              <a:t>5. 原則を表示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1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497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18669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B7F9"/>
                </a:solidFill>
                <a:latin typeface="Noto Sans JP"/>
                <a:ea typeface="Noto Sans JP"/>
                <a:cs typeface="Noto Sans JP"/>
              </a:rPr>
              <a:t>SQL CROSS TABULATION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286000"/>
            <a:ext cx="10287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4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縦持ちを横持ちへ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3429000"/>
            <a:ext cx="1143000" cy="38100"/>
          </a:xfrm>
          <a:prstGeom prst="rect">
            <a:avLst/>
          </a:prstGeom>
          <a:solidFill>
            <a:srgbClr val="497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3733800"/>
            <a:ext cx="952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D9E6FF"/>
                </a:solidFill>
                <a:latin typeface="Noto Sans JP"/>
                <a:ea typeface="Noto Sans JP"/>
                <a:cs typeface="Noto Sans JP"/>
              </a:rPr>
              <a:t>SQLでクロス集計する4つの手順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D9E6FF"/>
                </a:solidFill>
                <a:latin typeface="Noto Sans JP"/>
                <a:ea typeface="Noto Sans JP"/>
                <a:cs typeface="Noto Sans JP"/>
              </a:rPr>
              <a:t>CASE式・集計関数・GROUP BY の組み合わせ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200" y="5715000"/>
            <a:ext cx="10515600" cy="9525"/>
          </a:xfrm>
          <a:prstGeom prst="rect">
            <a:avLst/>
          </a:prstGeom>
          <a:solidFill>
            <a:srgbClr val="000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59055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5D7FB"/>
                </a:solidFill>
                <a:latin typeface="Noto Sans JP"/>
                <a:ea typeface="Noto Sans JP"/>
                <a:cs typeface="Noto Sans JP"/>
              </a:rPr>
              <a:t>データベース勉強会資料｜クリックで順に表示します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はじめに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この資料のゴール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縦に積まれたデータを、表として読み比べられる形にする。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SQLで縦持ちを横持ちへ ─ クロス集計の手順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02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1981200"/>
            <a:ext cx="3556000" cy="2971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" y="2209800"/>
            <a:ext cx="457200" cy="457200"/>
          </a:xfrm>
          <a:prstGeom prst="ellips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2209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8575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形の違いを説明できる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352800"/>
            <a:ext cx="309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縦持ちと横持ちの違いと、それぞれが向いている場面を理解する。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533900"/>
            <a:ext cx="309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対応：p.3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8000" y="1981200"/>
            <a:ext cx="3556000" cy="2971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46600" y="2209800"/>
            <a:ext cx="457200" cy="457200"/>
          </a:xfrm>
          <a:prstGeom prst="ellips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6600" y="2209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6600" y="28575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SQLで横持ちに変換できる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6600" y="3352800"/>
            <a:ext cx="309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CASE式・集計関数・GROUP BY を組み合わせて、どのDBでも動くクロス集計を書く。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6600" y="4533900"/>
            <a:ext cx="309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対応：p.4〜9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6400" y="1981200"/>
            <a:ext cx="3556000" cy="2971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5000" y="2209800"/>
            <a:ext cx="457200" cy="457200"/>
          </a:xfrm>
          <a:prstGeom prst="ellips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5000" y="2209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5000" y="2857500"/>
            <a:ext cx="3098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落とし穴を避けられる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5000" y="3352800"/>
            <a:ext cx="309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NULLと0の違い、COUNTの書き方、DBごとの専用構文（PIVOT・FILTER）を押さえる。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5000" y="4533900"/>
            <a:ext cx="309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対応：p.10〜11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257800"/>
            <a:ext cx="10972800" cy="6858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前提：SELECT・WHERE・GROUP BY の基本を知っていること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01 ── 基本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縦持ちと横持ち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同じデータでも、行に積むか列に並べるかで形が変わる。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SQLで縦持ちを横持ちへ ─ クロス集計の手順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03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" y="1905000"/>
            <a:ext cx="17526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縦持ち（ロング形式）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2286000"/>
            <a:ext cx="4953000" cy="3810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900" y="2286000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store（店舗）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7900" y="2286000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month（月）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0" y="22860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amount（売上）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2667000"/>
            <a:ext cx="4953000" cy="190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" y="2686050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7900" y="2686050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0" y="268605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067050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900" y="3076575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7900" y="3076575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1900" y="3076575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3457575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900" y="3467100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7900" y="3467100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5月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1900" y="34671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3848100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900" y="3857625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7900" y="3857625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6月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1900" y="3857625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4238625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900" y="4248150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7900" y="4248150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1900" y="424815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90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" y="4629150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3900" y="4638675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7900" y="4638675"/>
            <a:ext cx="1295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5月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1900" y="4638675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5019675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" y="5257800"/>
            <a:ext cx="4953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1件の売上＝1行。月が増えても列は増えない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DBへの保存・追記・絞り込みに向く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5962650" y="2914650"/>
            <a:ext cx="266700" cy="266700"/>
          </a:xfrm>
          <a:prstGeom prst="triangl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29400" y="1905000"/>
            <a:ext cx="1752600" cy="266700"/>
          </a:xfrm>
          <a:prstGeom prst="roundRect">
            <a:avLst>
              <a:gd name="adj" fmla="val 28571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横持ち（ワイド形式）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2286000"/>
            <a:ext cx="4953000" cy="3810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43700" y="228600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store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7200" y="228600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20200" y="228600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5月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63200" y="228600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6月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9400" y="2667000"/>
            <a:ext cx="4953000" cy="190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43700" y="268605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77200" y="26860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20200" y="26860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63200" y="268605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160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3067050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43700" y="3076575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77200" y="3076575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20200" y="3076575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63200" y="3076575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29400" y="3457575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629400" y="3810000"/>
            <a:ext cx="4953000" cy="12192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3962400"/>
            <a:ext cx="4495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行＝店舗（store）</a:t>
            </a:r>
          </a:p>
          <a:p>
            <a:pPr algn="l">
              <a:lnSpc>
                <a:spcPct val="170000"/>
              </a:lnSpc>
            </a:pPr>
            <a:r>
              <a:rPr sz="1275" b="0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列＝月（month）</a:t>
            </a:r>
          </a:p>
          <a:p>
            <a:pPr algn="l">
              <a:lnSpc>
                <a:spcPct val="170000"/>
              </a:lnSpc>
            </a:pPr>
            <a:r>
              <a:rPr sz="1275" b="0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交点＝売上の合計（SUM(amount)）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29400" y="5257800"/>
            <a:ext cx="4953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1店舗＝1行。月ごとの値を横に読み比べられる</a:t>
            </a:r>
          </a:p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帳票・グラフ・表計算への受け渡しに向く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02 ── 手順の全体像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変換は4つの手順で考える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SQLで縦持ちを横持ちへ ─ クロス集計の手順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04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905000"/>
            <a:ext cx="2457450" cy="31242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905000"/>
            <a:ext cx="2457450" cy="4572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200" y="1905000"/>
            <a:ext cx="20002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手順1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590800"/>
            <a:ext cx="2000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行キー・列キー・値を決める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429000"/>
            <a:ext cx="2000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何を行に、何を列に、何を交点に置くかを決める。列にする値は事前に列挙しておく。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4419600"/>
            <a:ext cx="215265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19600"/>
            <a:ext cx="20002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store, month, amount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3162300" y="3371850"/>
            <a:ext cx="190500" cy="19050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48050" y="1905000"/>
            <a:ext cx="2457450" cy="31242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48050" y="1905000"/>
            <a:ext cx="2457450" cy="4572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6650" y="1905000"/>
            <a:ext cx="20002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手順2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6650" y="2590800"/>
            <a:ext cx="2000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CASE式で列ごとに振り分ける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6650" y="3429000"/>
            <a:ext cx="2000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列にしたい値ごとにCASE式を1つ書き、条件に合う行の値だけを取り出す。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450" y="4419600"/>
            <a:ext cx="215265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52850" y="4419600"/>
            <a:ext cx="20002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…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6000750" y="3371850"/>
            <a:ext cx="190500" cy="19050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6500" y="1905000"/>
            <a:ext cx="2457450" cy="31242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6500" y="1905000"/>
            <a:ext cx="2457450" cy="4572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5100" y="1905000"/>
            <a:ext cx="20002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手順3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100" y="2590800"/>
            <a:ext cx="2000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GROUP BYで1行に畳む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5100" y="3429000"/>
            <a:ext cx="2000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行キーでグループ化し、SUMなどの集計関数で各列を1つの値にまとめる。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38900" y="4419600"/>
            <a:ext cx="215265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91300" y="4419600"/>
            <a:ext cx="20002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(…)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GROUP BY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8839200" y="3371850"/>
            <a:ext cx="190500" cy="19050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24950" y="1905000"/>
            <a:ext cx="2457450" cy="31242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24950" y="1905000"/>
            <a:ext cx="2457450" cy="4572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53550" y="1905000"/>
            <a:ext cx="20002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手順4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3550" y="2590800"/>
            <a:ext cx="2000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NULL・合計・並び順を整える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3550" y="3429000"/>
            <a:ext cx="2000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データのない交点の表示を決め、合計列や ORDER BY を加えて読みやすくする。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77350" y="4419600"/>
            <a:ext cx="215265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29750" y="4419600"/>
            <a:ext cx="20002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COALESCE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(…, 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5257800"/>
            <a:ext cx="10972800" cy="6858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2578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基本形：SELECT 行キー, SUM(CASE WHEN 列キー = '値' THEN 値 END) … GROUP BY 行キー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02 ── 手順1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手順1｜行キー・列キー・値を決める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縦持ちの列を、結果の「行」「列」「交点」のどれに使うかに割り当てる。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SQLで縦持ちを横持ちへ ─ クロス集計の手順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05 /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324100"/>
            <a:ext cx="5334000" cy="3810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2324100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8400" y="2324100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2900" y="23241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amount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705100"/>
            <a:ext cx="5334000" cy="190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900" y="2724150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8400" y="2724150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2900" y="272415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3105150"/>
            <a:ext cx="5334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3114675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38400" y="3114675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2900" y="3114675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3495675"/>
            <a:ext cx="5334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900" y="3505200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38400" y="3505200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5月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52900" y="35052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3886200"/>
            <a:ext cx="5334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900" y="3895725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8400" y="3895725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6月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2900" y="3895725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4276725"/>
            <a:ext cx="5334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900" y="4286250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400" y="4286250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52900" y="428625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4667250"/>
            <a:ext cx="5334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3900" y="4676775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38400" y="4676775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5月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52900" y="4676775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5057775"/>
            <a:ext cx="5334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47750" y="1943100"/>
            <a:ext cx="838200" cy="266700"/>
          </a:xfrm>
          <a:prstGeom prst="roundRect">
            <a:avLst>
              <a:gd name="adj" fmla="val 28571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行キー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700" y="2286000"/>
            <a:ext cx="1638300" cy="2819400"/>
          </a:xfrm>
          <a:prstGeom prst="rect">
            <a:avLst/>
          </a:prstGeom>
          <a:noFill/>
          <a:ln w="19050">
            <a:solidFill>
              <a:srgbClr val="001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0" y="1943100"/>
            <a:ext cx="838200" cy="266700"/>
          </a:xfrm>
          <a:prstGeom prst="roundRect">
            <a:avLst>
              <a:gd name="adj" fmla="val 28571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行キー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67600" y="1905000"/>
            <a:ext cx="4114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store（店舗）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67600" y="2247900"/>
            <a:ext cx="4114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結果の1行を決める列。GROUP BY に書く。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東京・大阪の2行になる。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62250" y="1943100"/>
            <a:ext cx="838200" cy="266700"/>
          </a:xfrm>
          <a:prstGeom prst="roundRect">
            <a:avLst>
              <a:gd name="adj" fmla="val 28571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列キー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62200" y="2286000"/>
            <a:ext cx="1638300" cy="2819400"/>
          </a:xfrm>
          <a:prstGeom prst="rect">
            <a:avLst/>
          </a:prstGeom>
          <a:noFill/>
          <a:ln w="19050">
            <a:solidFill>
              <a:srgbClr val="001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0" y="3086100"/>
            <a:ext cx="838200" cy="266700"/>
          </a:xfrm>
          <a:prstGeom prst="roundRect">
            <a:avLst>
              <a:gd name="adj" fmla="val 28571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列キー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67600" y="3048000"/>
            <a:ext cx="4114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month（月）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67600" y="3390900"/>
            <a:ext cx="4114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横に並べる値。4月・5月・6月がそれぞれ列になる。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0" y="1943100"/>
            <a:ext cx="838200" cy="266700"/>
          </a:xfrm>
          <a:prstGeom prst="roundRect">
            <a:avLst>
              <a:gd name="adj" fmla="val 28571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76700" y="2286000"/>
            <a:ext cx="1828800" cy="2819400"/>
          </a:xfrm>
          <a:prstGeom prst="rect">
            <a:avLst/>
          </a:prstGeom>
          <a:noFill/>
          <a:ln w="19050">
            <a:solidFill>
              <a:srgbClr val="001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00800" y="4229100"/>
            <a:ext cx="838200" cy="266700"/>
          </a:xfrm>
          <a:prstGeom prst="roundRect">
            <a:avLst>
              <a:gd name="adj" fmla="val 28571"/>
            </a:avLst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67600" y="4191000"/>
            <a:ext cx="4114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amount（売上）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67600" y="4533900"/>
            <a:ext cx="4114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交点に入れる数値。SUM などの集計関数でまとめる。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600" y="5410200"/>
            <a:ext cx="10972800" cy="6096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4102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列キーの値（4月・5月・6月）は、SQLを書く時点で決まっている必要がある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02 ── 手順2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手順2｜CASE式で値を列に振り分ける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月ごとにCASE式を1つ書く。条件に合う行だけ amount を取り出す。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SQLで縦持ちを横持ちへ ─ クロス集計の手順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06 /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905000"/>
            <a:ext cx="5715000" cy="2209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1905000"/>
            <a:ext cx="38100" cy="22098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700" y="2705100"/>
            <a:ext cx="5676900" cy="3048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700" y="2705100"/>
            <a:ext cx="38100" cy="304800"/>
          </a:xfrm>
          <a:prstGeom prst="rect">
            <a:avLst/>
          </a:prstGeom>
          <a:solidFill>
            <a:srgbClr val="497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700" y="3009900"/>
            <a:ext cx="5676900" cy="3048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" y="3009900"/>
            <a:ext cx="38100" cy="304800"/>
          </a:xfrm>
          <a:prstGeom prst="rect">
            <a:avLst/>
          </a:prstGeom>
          <a:solidFill>
            <a:srgbClr val="497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700" y="3314700"/>
            <a:ext cx="5676900" cy="3048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700" y="3314700"/>
            <a:ext cx="38100" cy="304800"/>
          </a:xfrm>
          <a:prstGeom prst="rect">
            <a:avLst/>
          </a:prstGeom>
          <a:solidFill>
            <a:srgbClr val="497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300" y="2095500"/>
            <a:ext cx="5295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SELECT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2400300"/>
            <a:ext cx="5295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 store,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2705100"/>
            <a:ext cx="5295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'4月'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THEN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amount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AS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"4月",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3009900"/>
            <a:ext cx="5295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'5月'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THEN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amount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AS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"5月",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3314700"/>
            <a:ext cx="5295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'6月'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THEN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amount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AS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"6月"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3619500"/>
            <a:ext cx="5295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FROM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sales;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1905000"/>
            <a:ext cx="4953000" cy="3810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3700" y="190500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1950" y="190500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0200" y="190500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5月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8450" y="190500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6月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2286000"/>
            <a:ext cx="4953000" cy="190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3700" y="230505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1950" y="230505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0200" y="230505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58450" y="230505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2686050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3700" y="2695575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81950" y="2695575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0200" y="2695575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8450" y="2695575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3076575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43700" y="308610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81950" y="308610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0200" y="308610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58450" y="308610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3467100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3700" y="3476625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81950" y="3476625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20200" y="3476625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58450" y="3476625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3857625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43700" y="386715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1950" y="386715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90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20200" y="386715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58450" y="3867150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29400" y="4248150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43700" y="4257675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81950" y="4257675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20200" y="4257675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58450" y="4257675"/>
            <a:ext cx="1009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29400" y="4638675"/>
            <a:ext cx="4953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9600" y="43434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条件に合う行は amount、合わない行は NULL（ELSE を省略した場合）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600" y="46672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行数は元のまま6行。まだ「横に広げただけ」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600" y="5410200"/>
            <a:ext cx="10972800" cy="6096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54102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同じ店舗の行が残っている。次の手順で1行にまとめる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2" grpId="0" animBg="1"/>
      <p:bldP spid="37" grpId="0" animBg="1"/>
      <p:bldP spid="42" grpId="0" animBg="1"/>
      <p:bldP spid="47" grpId="0" animBg="1"/>
      <p:bldP spid="52" grpId="0" animBg="1"/>
      <p:bldP spid="57" grpId="0" animBg="1"/>
      <p:bldP spid="61" grpId="0" animBg="1"/>
      <p:bldP spid="15" grpId="0" animBg="1"/>
      <p:bldP spid="16" grpId="0" animBg="1"/>
      <p:bldP spid="33" grpId="0" animBg="1"/>
      <p:bldP spid="38" grpId="0" animBg="1"/>
      <p:bldP spid="43" grpId="0" animBg="1"/>
      <p:bldP spid="48" grpId="0" animBg="1"/>
      <p:bldP spid="53" grpId="0" animBg="1"/>
      <p:bldP spid="58" grpId="0" animBg="1"/>
      <p:bldP spid="17" grpId="0" animBg="1"/>
      <p:bldP spid="18" grpId="0" animBg="1"/>
      <p:bldP spid="34" grpId="0" animBg="1"/>
      <p:bldP spid="39" grpId="0" animBg="1"/>
      <p:bldP spid="44" grpId="0" animBg="1"/>
      <p:bldP spid="49" grpId="0" animBg="1"/>
      <p:bldP spid="54" grpId="0" animBg="1"/>
      <p:bldP spid="59" grpId="0" animBg="1"/>
      <p:bldP spid="62" grpId="0" animBg="1"/>
      <p:bldP spid="63" grpId="0" animBg="1"/>
      <p:bldP spid="64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02 ── 手順3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手順3｜GROUP BY と SUM で1行にまとめる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CASE式を集計関数で包み、行キーでグループ化する。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SQLで縦持ちを横持ちへ ─ クロス集計の手順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07 /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905000"/>
            <a:ext cx="6477000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1905000"/>
            <a:ext cx="38100" cy="25146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700" y="2705100"/>
            <a:ext cx="6438900" cy="9144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700" y="2705100"/>
            <a:ext cx="38100" cy="914400"/>
          </a:xfrm>
          <a:prstGeom prst="rect">
            <a:avLst/>
          </a:prstGeom>
          <a:solidFill>
            <a:srgbClr val="497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700" y="3924300"/>
            <a:ext cx="6438900" cy="3048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" y="3924300"/>
            <a:ext cx="38100" cy="304800"/>
          </a:xfrm>
          <a:prstGeom prst="rect">
            <a:avLst/>
          </a:prstGeom>
          <a:solidFill>
            <a:srgbClr val="497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6300" y="2095500"/>
            <a:ext cx="6057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2400300"/>
            <a:ext cx="6057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 store,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2705100"/>
            <a:ext cx="6057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'4月'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THEN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amount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)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AS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"4月",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3009900"/>
            <a:ext cx="6057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'5月'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THEN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amount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)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AS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"5月",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3314700"/>
            <a:ext cx="6057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'6月'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THEN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amount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)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AS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"6月"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3619500"/>
            <a:ext cx="6057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FROM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3924300"/>
            <a:ext cx="60579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GROUP BY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store;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4648200"/>
            <a:ext cx="6477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SUM は NULL を無視して、同じグループの値を合計する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4953000"/>
            <a:ext cx="6477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GROUP BY store で、店舗ごとに1行へ畳まれる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1400" y="1905000"/>
            <a:ext cx="4191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実行結果（2行）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91400" y="2247900"/>
            <a:ext cx="4191000" cy="3810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05700" y="224790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3450" y="224790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24790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5月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48950" y="224790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6月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91400" y="2628900"/>
            <a:ext cx="4191000" cy="190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05700" y="264795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3450" y="264795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64795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48950" y="264795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160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91400" y="3028950"/>
            <a:ext cx="4191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05700" y="3038475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53450" y="3038475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3038475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48950" y="3038475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91400" y="3419475"/>
            <a:ext cx="4191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91400" y="3581400"/>
            <a:ext cx="4191000" cy="7620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00" y="3581400"/>
            <a:ext cx="37338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東京の4月は2行ある</a:t>
            </a:r>
          </a:p>
          <a:p>
            <a:pPr algn="l">
              <a:lnSpc>
                <a:spcPct val="170000"/>
              </a:lnSpc>
            </a:pPr>
            <a:r>
              <a:rPr sz="1275" b="0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→ 120 + 30 = 150 に合算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91400" y="4495800"/>
            <a:ext cx="4191000" cy="7620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20000" y="4495800"/>
            <a:ext cx="37338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大阪の6月は該当する行がない</a:t>
            </a:r>
          </a:p>
          <a:p>
            <a:pPr algn="l">
              <a:lnSpc>
                <a:spcPct val="170000"/>
              </a:lnSpc>
            </a:pPr>
            <a:r>
              <a:rPr sz="1275" b="0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→ NULL のまま（手順4で扱う）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5486400"/>
            <a:ext cx="10972800" cy="5334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486400"/>
            <a:ext cx="103632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6行が2行になり、横持ちの形になった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2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4" grpId="0" animBg="1"/>
      <p:bldP spid="15" grpId="0" animBg="1"/>
      <p:bldP spid="16" grpId="0" animBg="1"/>
      <p:bldP spid="25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02 ── 手順2〜3のまとめ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6行が2行になるまでを通しで見る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SQLで縦持ちを横持ちへ ─ クロス集計の手順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08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866900"/>
            <a:ext cx="3238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元データ（6行）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0" y="1866900"/>
            <a:ext cx="342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CASE式の結果（6行）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400" y="1866900"/>
            <a:ext cx="342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GROUP BY の結果（2行）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209800"/>
            <a:ext cx="3238500" cy="3810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22098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22098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8900" y="220980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amount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2590800"/>
            <a:ext cx="3238500" cy="190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900" y="260985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6400" y="260985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8900" y="260985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2990850"/>
            <a:ext cx="32385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900" y="3000375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3000375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8900" y="3000375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3381375"/>
            <a:ext cx="32385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33909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6400" y="33909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5月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8900" y="339090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3771900"/>
            <a:ext cx="32385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900" y="3781425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76400" y="3781425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6月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28900" y="3781425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600" y="4162425"/>
            <a:ext cx="32385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3900" y="417195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6400" y="417195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28900" y="417195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90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4552950"/>
            <a:ext cx="32385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900" y="4562475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76400" y="4562475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5月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28900" y="4562475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4943475"/>
            <a:ext cx="32385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 rot="5400000">
            <a:off x="3971925" y="3295650"/>
            <a:ext cx="190500" cy="19050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 rot="5400000">
            <a:off x="7839075" y="3295650"/>
            <a:ext cx="190500" cy="190500"/>
          </a:xfrm>
          <a:prstGeom prst="triangle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86250" y="2209800"/>
            <a:ext cx="3429000" cy="3810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00550" y="220980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store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220980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15050" y="220980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5月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72300" y="220980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6月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86250" y="2590800"/>
            <a:ext cx="3429000" cy="190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00550" y="260985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57800" y="260985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15050" y="260985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72300" y="260985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86250" y="2990850"/>
            <a:ext cx="3429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00550" y="300037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57800" y="300037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15050" y="300037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72300" y="300037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86250" y="3381375"/>
            <a:ext cx="3429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00550" y="339090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339090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15050" y="339090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140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72300" y="339090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86250" y="3771900"/>
            <a:ext cx="3429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00550" y="378142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57800" y="378142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15050" y="378142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72300" y="378142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160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86250" y="4162425"/>
            <a:ext cx="3429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00550" y="417195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57800" y="417195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90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15050" y="417195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72300" y="417195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86250" y="4552950"/>
            <a:ext cx="3429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00550" y="456247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57800" y="456247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15050" y="456247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72300" y="456247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86250" y="4943475"/>
            <a:ext cx="3429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305300" y="2628900"/>
            <a:ext cx="3390900" cy="1524000"/>
          </a:xfrm>
          <a:prstGeom prst="rect">
            <a:avLst/>
          </a:prstGeom>
          <a:noFill/>
          <a:ln w="19050">
            <a:solidFill>
              <a:srgbClr val="001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05300" y="4191000"/>
            <a:ext cx="3390900" cy="742950"/>
          </a:xfrm>
          <a:prstGeom prst="rect">
            <a:avLst/>
          </a:prstGeom>
          <a:noFill/>
          <a:ln w="19050">
            <a:solidFill>
              <a:srgbClr val="0017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53400" y="2209800"/>
            <a:ext cx="3429000" cy="3810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67700" y="220980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store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24950" y="220980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82200" y="220980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5月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839450" y="220980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6月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53400" y="2590800"/>
            <a:ext cx="3429000" cy="190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67700" y="260985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24950" y="260985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150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82200" y="260985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140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39450" y="2609850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160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153400" y="2990850"/>
            <a:ext cx="3429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67700" y="300037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24950" y="300037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90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982200" y="300037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39450" y="3000375"/>
            <a:ext cx="6286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153400" y="3381375"/>
            <a:ext cx="3429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53400" y="35433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東京：4行 → 1行（4月は 120 + 30）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53400" y="38481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0500" indent="-190500">
              <a:lnSpc>
                <a:spcPct val="170000"/>
              </a:lnSpc>
              <a:buFont typeface="Noto Sans JP"/>
              <a:buChar char="・"/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大阪：2行 → 1行（6月は NULL）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" y="5410200"/>
            <a:ext cx="10972800" cy="6096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4400" y="54102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CASE式で横に広げ、GROUP BY で縦に畳む ─ これがクロス集計の基本形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8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6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44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92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4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2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5" grpId="0" animBg="1"/>
      <p:bldP spid="66" grpId="0" animBg="1"/>
      <p:bldP spid="67" grpId="0" animBg="1"/>
      <p:bldP spid="68" grpId="0" animBg="1"/>
      <p:bldP spid="70" grpId="0" animBg="1"/>
      <p:bldP spid="71" grpId="0" animBg="1"/>
      <p:bldP spid="72" grpId="0" animBg="1"/>
      <p:bldP spid="73" grpId="0" animBg="1"/>
      <p:bldP spid="75" grpId="0" animBg="1"/>
      <p:bldP spid="76" grpId="0" animBg="1"/>
      <p:bldP spid="77" grpId="0" animBg="1"/>
      <p:bldP spid="78" grpId="0" animBg="1"/>
      <p:bldP spid="80" grpId="0" animBg="1"/>
      <p:bldP spid="81" grpId="0" animBg="1"/>
      <p:bldP spid="88" grpId="0" animBg="1"/>
      <p:bldP spid="89" grpId="0" animBg="1"/>
      <p:bldP spid="90" grpId="0" animBg="1"/>
      <p:bldP spid="91" grpId="0" animBg="1"/>
      <p:bldP spid="98" grpId="0" animBg="1"/>
      <p:bldP spid="93" grpId="0" animBg="1"/>
      <p:bldP spid="94" grpId="0" animBg="1"/>
      <p:bldP spid="95" grpId="0" animBg="1"/>
      <p:bldP spid="96" grpId="0" animBg="1"/>
      <p:bldP spid="99" grpId="0" animBg="1"/>
      <p:bldP spid="100" grpId="0" animBg="1"/>
      <p:bldP spid="101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02 ── 手順4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手順4｜NULL・合計・並び順を整える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SQLで縦持ちを横持ちへ ─ クロス集計の手順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638300"/>
            <a:ext cx="10972800" cy="27051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638300"/>
            <a:ext cx="38100" cy="270510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700" y="2324100"/>
            <a:ext cx="10934700" cy="8001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7700" y="2324100"/>
            <a:ext cx="38100" cy="800100"/>
          </a:xfrm>
          <a:prstGeom prst="rect">
            <a:avLst/>
          </a:prstGeom>
          <a:solidFill>
            <a:srgbClr val="497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700" y="3124200"/>
            <a:ext cx="10934700" cy="2667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7700" y="3124200"/>
            <a:ext cx="38100" cy="266700"/>
          </a:xfrm>
          <a:prstGeom prst="rect">
            <a:avLst/>
          </a:prstGeom>
          <a:solidFill>
            <a:srgbClr val="497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700" y="3924300"/>
            <a:ext cx="10934700" cy="2667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700" y="3924300"/>
            <a:ext cx="38100" cy="266700"/>
          </a:xfrm>
          <a:prstGeom prst="rect">
            <a:avLst/>
          </a:prstGeom>
          <a:solidFill>
            <a:srgbClr val="497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6300" y="1790700"/>
            <a:ext cx="105537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2057400"/>
            <a:ext cx="105537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 store,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2324100"/>
            <a:ext cx="105537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COALESCE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'4月'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THEN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amount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), 0)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AS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"4月",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2590800"/>
            <a:ext cx="105537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COALESCE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'5月'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THEN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amount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), 0)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AS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"5月",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2857500"/>
            <a:ext cx="105537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COALESCE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'6月'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THEN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amount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), 0)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AS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"6月",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3124200"/>
            <a:ext cx="105537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(amount)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AS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合計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3390900"/>
            <a:ext cx="105537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FROM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3657600"/>
            <a:ext cx="105537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GROUP BY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3924300"/>
            <a:ext cx="105537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ORDER BY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store;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4686300"/>
            <a:ext cx="381000" cy="381000"/>
          </a:xfrm>
          <a:prstGeom prst="ellips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6863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1400" y="4629150"/>
            <a:ext cx="419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COALESCE で NULL を 0 に置き換える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1400" y="4914900"/>
            <a:ext cx="419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大阪の6月が 0 になる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0" y="5219700"/>
            <a:ext cx="381000" cy="381000"/>
          </a:xfrm>
          <a:prstGeom prst="ellips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52197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1400" y="5162550"/>
            <a:ext cx="419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SUM(amount) で店舗ごとの合計列を足す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1400" y="5448300"/>
            <a:ext cx="419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CASE式を通さない全月の合計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0" y="5753100"/>
            <a:ext cx="381000" cy="381000"/>
          </a:xfrm>
          <a:prstGeom prst="ellips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57531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91400" y="5695950"/>
            <a:ext cx="419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ORDER BY で行の並び順を固定する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1400" y="5981700"/>
            <a:ext cx="419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GROUP BY だけでは順序は保証されない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4648200"/>
            <a:ext cx="5695950" cy="3810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900" y="464820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store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464820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4月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5150" y="464820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5月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52900" y="464820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6月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00650" y="4648200"/>
            <a:ext cx="990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合計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600" y="5029200"/>
            <a:ext cx="5695950" cy="190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3900" y="504825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大阪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504825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90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05150" y="504825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2900" y="5048250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00650" y="5048250"/>
            <a:ext cx="990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200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600" y="5429250"/>
            <a:ext cx="569595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3900" y="5438775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東京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5438775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5150" y="5438775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140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52900" y="5438775"/>
            <a:ext cx="8191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160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00650" y="5438775"/>
            <a:ext cx="990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450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9600" y="5819775"/>
            <a:ext cx="569595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7" grpId="0" animBg="1"/>
      <p:bldP spid="28" grpId="0" animBg="1"/>
      <p:bldP spid="29" grpId="0" animBg="1"/>
      <p:bldP spid="30" grpId="0" animBg="1"/>
      <p:bldP spid="14" grpId="0" animBg="1"/>
      <p:bldP spid="15" grpId="0" animBg="1"/>
      <p:bldP spid="31" grpId="0" animBg="1"/>
      <p:bldP spid="32" grpId="0" animBg="1"/>
      <p:bldP spid="33" grpId="0" animBg="1"/>
      <p:bldP spid="34" grpId="0" animBg="1"/>
      <p:bldP spid="16" grpId="0" animBg="1"/>
      <p:bldP spid="17" grpId="0" animBg="1"/>
      <p:bldP spid="35" grpId="0" animBg="1"/>
      <p:bldP spid="36" grpId="0" animBg="1"/>
      <p:bldP spid="37" grpId="0" animBg="1"/>
      <p:bldP spid="38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03 ── 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DBごとの専用構文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4478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専用構文は短く書けるが、DBをまたいで移植できない。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SQLで縦持ちを横持ちへ ─ クロス集計の手順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10 /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905000"/>
            <a:ext cx="10972800" cy="4191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1905000"/>
            <a:ext cx="19812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データベース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0" y="1905000"/>
            <a:ext cx="13716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書き方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1905000"/>
            <a:ext cx="67056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4月列の例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324100"/>
            <a:ext cx="10972800" cy="190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2343150"/>
            <a:ext cx="19812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標準SQL（全DB共通）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000" y="2343150"/>
            <a:ext cx="13716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CASE式＋集計関数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400" y="2457450"/>
            <a:ext cx="67056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'4月'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THEN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amount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291465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2924175"/>
            <a:ext cx="19812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PostgreSQL / 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8000" y="2924175"/>
            <a:ext cx="13716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FILTER句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4400" y="3038475"/>
            <a:ext cx="67056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(amount)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FILTER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WHERE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'4月')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3495675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3505200"/>
            <a:ext cx="19812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SQL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8000" y="3505200"/>
            <a:ext cx="13716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PIVOT演算子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4400" y="3619500"/>
            <a:ext cx="67056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PIVOT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(amount)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FOR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IN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([4月], [5月], [6月]))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0767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4086225"/>
            <a:ext cx="19812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Oracle 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8000" y="4086225"/>
            <a:ext cx="13716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PIVOT句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4400" y="4200525"/>
            <a:ext cx="67056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PIVOT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(amount)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FOR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IN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('4月'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AS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"4月", …))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4657725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0" y="4667250"/>
            <a:ext cx="19812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MySQL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48000" y="4667250"/>
            <a:ext cx="13716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専用構文なし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4400" y="4667250"/>
            <a:ext cx="67056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標準SQLのCASE式で書く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600" y="523875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600" y="5410200"/>
            <a:ext cx="10972800" cy="6096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102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迷ったら CASE式で書く。移植しやすく、条件も自由に書ける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6" grpId="0" animBg="1"/>
      <p:bldP spid="37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03 ── 注意点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つまずきやすいポイント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SQLで縦持ちを横持ちへ ─ クロス集計の手順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638300"/>
            <a:ext cx="54102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638300"/>
            <a:ext cx="57150" cy="2057400"/>
          </a:xfrm>
          <a:prstGeom prst="rect">
            <a:avLst/>
          </a:prstGeom>
          <a:solidFill>
            <a:srgbClr val="C7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866900"/>
            <a:ext cx="685800" cy="266700"/>
          </a:xfrm>
          <a:prstGeom prst="roundRect">
            <a:avLst>
              <a:gd name="adj" fmla="val 28571"/>
            </a:avLst>
          </a:prstGeom>
          <a:solidFill>
            <a:srgbClr val="C7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注意1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2600" y="1828800"/>
            <a:ext cx="4038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列は事前に固定される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860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列キーの値はSQLに直接書く。7月が増えたら1行足す。値が増え続けるなら動的SQLやBIツールで対応する。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09900"/>
            <a:ext cx="48768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3009900"/>
            <a:ext cx="4648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SUM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'7月'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THEN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amount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638300"/>
            <a:ext cx="54102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638300"/>
            <a:ext cx="57150" cy="2057400"/>
          </a:xfrm>
          <a:prstGeom prst="rect">
            <a:avLst/>
          </a:prstGeom>
          <a:solidFill>
            <a:srgbClr val="C7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77000" y="1866900"/>
            <a:ext cx="685800" cy="266700"/>
          </a:xfrm>
          <a:prstGeom prst="roundRect">
            <a:avLst>
              <a:gd name="adj" fmla="val 28571"/>
            </a:avLst>
          </a:prstGeom>
          <a:solidFill>
            <a:srgbClr val="C7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注意2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828800"/>
            <a:ext cx="4038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COUNT では ELSE 0 を書かない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22860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ELSE 0 だと 0 も1件と数え、全行数になる。ELSE を省いて NULL にする（または SUM で数える）。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7000" y="3009900"/>
            <a:ext cx="48768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009900"/>
            <a:ext cx="4648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COUNT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'4月'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THEN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1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3848100"/>
            <a:ext cx="54102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" y="3848100"/>
            <a:ext cx="57150" cy="2057400"/>
          </a:xfrm>
          <a:prstGeom prst="rect">
            <a:avLst/>
          </a:prstGeom>
          <a:solidFill>
            <a:srgbClr val="C7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4076700"/>
            <a:ext cx="685800" cy="266700"/>
          </a:xfrm>
          <a:prstGeom prst="roundRect">
            <a:avLst>
              <a:gd name="adj" fmla="val 28571"/>
            </a:avLst>
          </a:prstGeom>
          <a:solidFill>
            <a:srgbClr val="C7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注意3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2600" y="4038600"/>
            <a:ext cx="4038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NULL と 0 を区別する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958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「データなし」を0に置き換えてよいか確認する。AVG で平均を取る場合、0埋めすると結果が変わる。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219700"/>
            <a:ext cx="48768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6800" y="5219700"/>
            <a:ext cx="4648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AVG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CASE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WHEN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month = '6月'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THEN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amount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END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848100"/>
            <a:ext cx="54102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9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848100"/>
            <a:ext cx="57150" cy="2057400"/>
          </a:xfrm>
          <a:prstGeom prst="rect">
            <a:avLst/>
          </a:prstGeom>
          <a:solidFill>
            <a:srgbClr val="C7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77000" y="4076700"/>
            <a:ext cx="685800" cy="266700"/>
          </a:xfrm>
          <a:prstGeom prst="roundRect">
            <a:avLst>
              <a:gd name="adj" fmla="val 28571"/>
            </a:avLst>
          </a:prstGeom>
          <a:solidFill>
            <a:srgbClr val="C7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注意4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038600"/>
            <a:ext cx="4038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集計前に粒度をそろえる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0" y="4495800"/>
            <a:ext cx="4876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重複行や JOIN による行の増加があると合計が膨らむ。結合してから集計する場合は件数を確かめる。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7000" y="5219700"/>
            <a:ext cx="48768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5219700"/>
            <a:ext cx="4648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SELECT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COUNT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(*) </a:t>
            </a:r>
            <a:r>
              <a:rPr sz="13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FROM</a:t>
            </a:r>
            <a:r>
              <a:rPr sz="135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 sales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04 ── 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SQLで縦持ちを横持ちへ ─ クロス集計の手順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12 / 13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1752600"/>
            <a:ext cx="457200" cy="457200"/>
          </a:xfrm>
          <a:prstGeom prst="ellips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1752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1676400"/>
            <a:ext cx="495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行キー・列キー・値を決める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2038350"/>
            <a:ext cx="952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列にする値（4月・5月・6月）は事前に列挙する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5400" y="2438400"/>
            <a:ext cx="10287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9600" y="2628900"/>
            <a:ext cx="457200" cy="457200"/>
          </a:xfrm>
          <a:prstGeom prst="ellips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26289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2552700"/>
            <a:ext cx="495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CASE式で列ごとに振り分ける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2914650"/>
            <a:ext cx="952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条件に合う行だけ値を取り出し、合わない行は NULL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5400" y="3314700"/>
            <a:ext cx="10287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9600" y="3505200"/>
            <a:ext cx="457200" cy="457200"/>
          </a:xfrm>
          <a:prstGeom prst="ellips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3505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400" y="3429000"/>
            <a:ext cx="495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GROUP BY と SUM で1行に畳む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400" y="3790950"/>
            <a:ext cx="952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行キーごとに集計し、縦に並んだ行をまとめる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95400" y="4191000"/>
            <a:ext cx="102870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9600" y="4381500"/>
            <a:ext cx="457200" cy="457200"/>
          </a:xfrm>
          <a:prstGeom prst="ellipse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43815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5400" y="4305300"/>
            <a:ext cx="4953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NULL・合計・並び順を整える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5400" y="4667250"/>
            <a:ext cx="952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COALESCE・合計列・ORDER BY で読みやすく仕上げる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5334000"/>
            <a:ext cx="10972800" cy="685800"/>
          </a:xfrm>
          <a:prstGeom prst="rect">
            <a:avLst/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340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0118F"/>
                </a:solidFill>
                <a:latin typeface="Noto Sans JP"/>
                <a:ea typeface="Noto Sans JP"/>
                <a:cs typeface="Noto Sans JP"/>
              </a:rPr>
              <a:t>保存は縦持ち、見せるときに横持ち。変換はSQLの最後に行う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95300"/>
            <a:ext cx="57150" cy="247650"/>
          </a:xfrm>
          <a:prstGeom prst="rect">
            <a:avLst/>
          </a:prstGeom>
          <a:solidFill>
            <a:srgbClr val="0017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4953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001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本資料について（出典・注記）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286500"/>
            <a:ext cx="10972800" cy="9525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4008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SQLで縦持ちを横持ちへ ─ クロス集計の手順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400" y="6400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13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1771650"/>
            <a:ext cx="9906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デザイン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52600"/>
            <a:ext cx="975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デジタル庁デザインシステムβ版の基本デザインを参考に構成しています。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2343150"/>
            <a:ext cx="9906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データ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324100"/>
            <a:ext cx="975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サンプルの sales テーブルと数値は説明用の架空のものです。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2914650"/>
            <a:ext cx="9906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895600"/>
            <a:ext cx="975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構文は代表的な書き方です。対応状況はDBのバージョンで異なるため、各DBの公式ドキュメントで確認してください。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3486150"/>
            <a:ext cx="9906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動き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467100"/>
            <a:ext cx="975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アニメーションはフェードのみ・クリック進行です。動きがなくても内容が伝わる構成にしています。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4057650"/>
            <a:ext cx="990600" cy="266700"/>
          </a:xfrm>
          <a:prstGeom prst="roundRect">
            <a:avLst>
              <a:gd name="adj" fmla="val 28571"/>
            </a:avLst>
          </a:prstGeom>
          <a:solidFill>
            <a:srgbClr val="E8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17C1"/>
                </a:solidFill>
                <a:latin typeface="Noto Sans JP"/>
                <a:ea typeface="Noto Sans JP"/>
                <a:cs typeface="Noto Sans JP"/>
              </a:rPr>
              <a:t>書体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038600"/>
            <a:ext cx="975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Noto Sans JP"/>
                <a:ea typeface="Noto Sans JP"/>
                <a:cs typeface="Noto Sans JP"/>
              </a:rPr>
              <a:t>Noto Sans JP（SIL Open Font License 1.1）。SQLコードも同じ書体で組んでいます。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4914900"/>
            <a:ext cx="10972800" cy="19050"/>
          </a:xfrm>
          <a:prstGeom prst="rect">
            <a:avLst/>
          </a:prstGeom>
          <a:solidFill>
            <a:srgbClr val="94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5143500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4D4D4D"/>
                </a:solidFill>
                <a:latin typeface="Noto Sans JP"/>
                <a:ea typeface="Noto Sans JP"/>
                <a:cs typeface="Noto Sans JP"/>
              </a:rPr>
              <a:t>出典：デジタル庁デザインシステムウェブサイト https://design.digital.go.jp/dads/ のコンテンツを加工して作成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4864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767676"/>
                </a:solidFill>
                <a:latin typeface="Noto Sans JP"/>
                <a:ea typeface="Noto Sans JP"/>
                <a:cs typeface="Noto Sans JP"/>
              </a:rPr>
              <a:t>本資料はデジタル庁が作成・監修したものではありません。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SQLで縦持ちを横持ちへ ─ クロス集計の手順</dc:title>
  <dc:subject>CASE式とGROUP BYによるクロス集計（アニメーション付き）</dc:subject>
  <dc:creator/>
  <cp:keywords>SQL, クロス集計, ピボット, 縦持ち, 横持ち, DADS</cp:keywords>
  <dc:description>DADSの基本デザインをPowerPointへ写像。公式の監修資料ではありません。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